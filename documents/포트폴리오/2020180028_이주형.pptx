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7" r:id="rId2"/>
    <p:sldId id="259" r:id="rId3"/>
    <p:sldId id="260" r:id="rId4"/>
    <p:sldId id="278" r:id="rId5"/>
    <p:sldId id="279" r:id="rId6"/>
    <p:sldId id="288" r:id="rId7"/>
    <p:sldId id="280" r:id="rId8"/>
    <p:sldId id="287" r:id="rId9"/>
    <p:sldId id="263" r:id="rId10"/>
    <p:sldId id="273" r:id="rId11"/>
    <p:sldId id="283" r:id="rId12"/>
    <p:sldId id="272" r:id="rId13"/>
    <p:sldId id="269" r:id="rId14"/>
    <p:sldId id="274" r:id="rId15"/>
    <p:sldId id="268" r:id="rId16"/>
    <p:sldId id="289" r:id="rId17"/>
    <p:sldId id="290" r:id="rId18"/>
    <p:sldId id="282" r:id="rId19"/>
    <p:sldId id="291" r:id="rId20"/>
    <p:sldId id="294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3C6B08-5A15-45B9-88ED-9D405D0D1249}" type="datetimeFigureOut">
              <a:rPr lang="ko-KR" altLang="en-US" smtClean="0"/>
              <a:t>2025-11-04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43A49E-E363-41B2-B4CD-1BF813D2205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0654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3A49E-E363-41B2-B4CD-1BF813D2205C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0083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441836-2B9B-C472-196F-121150BD9A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0D310BD-6EE4-4BD4-118C-A7D96A3F4D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33659F-C3F6-C609-04C3-705F3FCE8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2025-11-04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80F881-0330-DD05-9595-E485165C5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C8318F-3A0E-56D3-516B-14350CADB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965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65A27F-22D7-2F6B-D071-1D7300BC1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12EE78-1F25-ED93-93AF-E7E3FA1E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541A17-C271-7F67-4D30-CD98C817D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2025-11-04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3CACAC-2D4F-4890-450B-867B3CAE0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741B29-68F2-85B6-A9F0-87B17ECBC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7632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6F130-2A78-0348-FD79-A0BC1B68E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6E9EECE-BD40-F6F6-6FEB-BF0914D1DE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EA7CF6-31C2-3975-0097-1E2817846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2025-11-04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F32A68-3E49-8350-6E00-24F18CE70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5155E5-198B-4BE7-53BE-F5BAC139D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4231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689E5F-5A86-6BA6-9CD6-6ACADB916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9E01B3-1437-A112-239B-C1D41006A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A10E8DC-A92D-E1BE-A045-0A8B7A679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86B956-A2ED-667F-6EEC-1B808DC04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2025-11-04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CA681CD-21BB-63D7-F2ED-0461B4307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DADA39-90F5-18EA-8A53-82DE56B8F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821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25BCA-CDE4-50C6-98A5-72E472514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746868-446F-057A-26F2-68687D1C5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B315D1A-2AC3-79C5-56EB-9803ECDD75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31FA7CF-CB7F-8EB7-2F66-6FD1A2992A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C05F9E0-AD31-88B8-38B8-6CB52187D1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97DA856-2CC6-5C2D-7507-DB7573FC2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2025-11-04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EF84AA-10E3-52D4-D214-461D9B803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F5247F-77D4-698A-C7D5-A6E332911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8594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C6E46B-76EC-ED3C-82EF-40AC32BB3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F4295FD-BAFB-2372-6DD1-06BE965B0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2025-11-04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4A20C28-54BB-F89D-FB1E-8BC52FD1E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96BB52C-3863-483F-8F2B-E1E85E24A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26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F279A0F-2232-0A25-E825-5EFEB9AEC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2025-11-04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3A40F85-290B-3187-4DD1-D91A5CBE1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2FAF5-4CBE-40D9-08E3-FD7997460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01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E0F7C5-3FA8-A20C-DCCB-E6C7158F3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F0DE14-4FF5-FA4B-3C53-B5DE73DD27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EFC2F8-0B48-217C-28EB-7FE5BA6E71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42CFD4E-CE41-AE01-1267-B03010BC9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2025-11-04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B62FF4-FC9B-51B0-3A4D-88BD6C90E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55DFF5-CCA7-F64F-F51A-F5DF7F3D4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52930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C5F8B8-A6C8-71C8-6A17-2743E5CC5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589A751-270C-EBAF-D42A-75415BD654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37C0F3-AFDE-9EE4-E785-160BCE55A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82131-EC60-7884-A395-895862B0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2025-11-04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C6DDE9-2E78-FC9E-E517-A47CF9750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CDD95D-3707-CAA0-B9BF-DDFEA2EB9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951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3C8C4D-F815-8D56-2B45-1024748B8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4765C94-70DB-F8E0-56CB-D01A643E1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9C901-2212-8616-CADA-38434C317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2025-11-04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36C056-C2E4-57C4-3400-3683CD613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35940A-85E4-80C5-AB32-3A8C57F7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2424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453596-F1CE-1613-4F59-9E7E8B34D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4951AB2-94A0-8760-61C1-49AA22F27F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C2638A-A776-5827-0C98-56452A3B1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2025-11-04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1C39A8-3B98-BB04-55E1-7758B9373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E0F3D5-F9C1-2A48-7DE7-0DDB0903D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98286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FE2D0F6-EA33-9711-A291-41E9135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8EAF2A8-EB84-1DE3-3176-1CC4D6170F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A4A772-1A6C-4092-F594-DF19A0DF23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AE3007-875A-4881-99C8-3250DAD1C440}" type="datetimeFigureOut">
              <a:rPr lang="ko-KR" altLang="en-US" smtClean="0"/>
              <a:t>2025-11-04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150699-624C-FDC2-CC09-5A4660086B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ACBAF3-8AE5-6AC5-36E9-658E3C5634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4927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1drv.ms/f/c/572b16d98f19c0c1/Eg2_P1cADVVHvbAp4IcqZVkBNOv45xTU-Sxudn2yM7QH8A?e=wVDaZj" TargetMode="External"/><Relationship Id="rId2" Type="http://schemas.openxmlformats.org/officeDocument/2006/relationships/hyperlink" Target="https://github.com/HK416/capstone_project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https://youtu.be/64DGuo1Z5No?si=rdXAVJfscwa7vh28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Jirung-E/GameServer_fina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rung-E/CG_Final_Minecraft" TargetMode="External"/><Relationship Id="rId7" Type="http://schemas.openxmlformats.org/officeDocument/2006/relationships/image" Target="../media/image21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hyperlink" Target="https://youtu.be/WAE3OXs7kCI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rung-E/WP_Agar.git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Jirung-E/NetGame_Agar.git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l6DrIlFSPkk?si=D6RDnMKLZt_h4oT5&amp;t=37" TargetMode="External"/><Relationship Id="rId2" Type="http://schemas.openxmlformats.org/officeDocument/2006/relationships/hyperlink" Target="https://github.com/Jirung-E/Rugby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hyperlink" Target="https://github.com/Jirung-E/DoodleJump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사람, 인간의 얼굴, 목, 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175A3E-C6A7-52F2-E4FD-1C5B8A0FB0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60" t="19061" r="22010" b="23842"/>
          <a:stretch>
            <a:fillRect/>
          </a:stretch>
        </p:blipFill>
        <p:spPr>
          <a:xfrm>
            <a:off x="838201" y="1540816"/>
            <a:ext cx="1894450" cy="25433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0B03FFC-6CAE-B31C-863D-9D3499F66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/>
          <a:lstStyle/>
          <a:p>
            <a:r>
              <a:rPr lang="en-US" altLang="ko-KR" dirty="0"/>
              <a:t>Intro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A8434E-20ED-6206-40FA-A304007A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1218" y="1300612"/>
            <a:ext cx="7892581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600" b="1" dirty="0"/>
              <a:t>인적사항</a:t>
            </a:r>
            <a:endParaRPr lang="en-US" altLang="ko-KR" sz="1600" b="1" dirty="0"/>
          </a:p>
          <a:p>
            <a:r>
              <a:rPr lang="ko-KR" altLang="en-US" sz="1400" dirty="0"/>
              <a:t>생년월일</a:t>
            </a:r>
            <a:r>
              <a:rPr lang="en-US" altLang="ko-KR" sz="1400" dirty="0"/>
              <a:t>:</a:t>
            </a:r>
            <a:r>
              <a:rPr lang="ko-KR" altLang="en-US" sz="1400" dirty="0"/>
              <a:t> </a:t>
            </a:r>
            <a:r>
              <a:rPr lang="en-US" altLang="ko-KR" sz="1400" dirty="0"/>
              <a:t>2001.09.26</a:t>
            </a:r>
          </a:p>
          <a:p>
            <a:r>
              <a:rPr lang="ko-KR" altLang="en-US" sz="1400" dirty="0"/>
              <a:t>주소지</a:t>
            </a:r>
            <a:r>
              <a:rPr lang="en-US" altLang="ko-KR" sz="1400" dirty="0"/>
              <a:t>:</a:t>
            </a:r>
            <a:r>
              <a:rPr lang="ko-KR" altLang="en-US" sz="1400" dirty="0"/>
              <a:t> 경기도 용인시</a:t>
            </a:r>
            <a:endParaRPr lang="en-US" altLang="ko-KR" sz="1400" dirty="0"/>
          </a:p>
          <a:p>
            <a:r>
              <a:rPr lang="ko-KR" altLang="en-US" sz="1400" dirty="0"/>
              <a:t>연락처</a:t>
            </a:r>
            <a:r>
              <a:rPr lang="en-US" altLang="ko-KR" sz="1400" dirty="0"/>
              <a:t>: 010-8853-2807</a:t>
            </a:r>
            <a:r>
              <a:rPr lang="ko-KR" altLang="en-US" sz="1400" dirty="0"/>
              <a:t> </a:t>
            </a:r>
            <a:r>
              <a:rPr lang="en-US" altLang="ko-KR" sz="1400" dirty="0"/>
              <a:t>/</a:t>
            </a:r>
            <a:r>
              <a:rPr lang="ko-KR" altLang="en-US" sz="1400" dirty="0"/>
              <a:t> </a:t>
            </a:r>
            <a:r>
              <a:rPr lang="en-US" altLang="ko-KR" sz="1400" dirty="0"/>
              <a:t>jh10590326@gmail.com</a:t>
            </a:r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최종 학력</a:t>
            </a:r>
            <a:endParaRPr lang="en-US" altLang="ko-KR" sz="1600" b="1" dirty="0"/>
          </a:p>
          <a:p>
            <a:r>
              <a:rPr lang="en-US" altLang="ko-KR" sz="1400" dirty="0"/>
              <a:t>2020.02</a:t>
            </a:r>
            <a:r>
              <a:rPr lang="ko-KR" altLang="en-US" sz="1400" dirty="0"/>
              <a:t> 홍천고등학교 졸업</a:t>
            </a:r>
            <a:endParaRPr lang="en-US" altLang="ko-KR" sz="1400" dirty="0"/>
          </a:p>
          <a:p>
            <a:r>
              <a:rPr lang="en-US" altLang="ko-KR" sz="1400" dirty="0"/>
              <a:t>2026.02 </a:t>
            </a:r>
            <a:r>
              <a:rPr lang="ko-KR" altLang="en-US" sz="1400" dirty="0"/>
              <a:t>한국공학대학교</a:t>
            </a:r>
            <a:r>
              <a:rPr lang="en-US" altLang="ko-KR" sz="1400" dirty="0"/>
              <a:t>(</a:t>
            </a:r>
            <a:r>
              <a:rPr lang="ko-KR" altLang="en-US" sz="1400" dirty="0"/>
              <a:t>구 한국산업기술대학교</a:t>
            </a:r>
            <a:r>
              <a:rPr lang="en-US" altLang="ko-KR" sz="1400" dirty="0"/>
              <a:t>) </a:t>
            </a:r>
            <a:r>
              <a:rPr lang="ko-KR" altLang="en-US" sz="1400" dirty="0"/>
              <a:t>졸업 예정</a:t>
            </a:r>
            <a:endParaRPr lang="en-US" altLang="ko-KR" sz="1400" dirty="0"/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기술</a:t>
            </a:r>
            <a:endParaRPr lang="en-US" altLang="ko-KR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B16730-23CB-993D-6B96-8FCDEF515A4F}"/>
              </a:ext>
            </a:extLst>
          </p:cNvPr>
          <p:cNvSpPr txBox="1"/>
          <p:nvPr/>
        </p:nvSpPr>
        <p:spPr>
          <a:xfrm>
            <a:off x="3688146" y="4576635"/>
            <a:ext cx="1282754" cy="1881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언어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/>
              <a:t>C/C++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/>
              <a:t>Rust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Python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Lua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Java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76CED6-13BD-050E-9EAB-BDA86017E97E}"/>
              </a:ext>
            </a:extLst>
          </p:cNvPr>
          <p:cNvSpPr txBox="1"/>
          <p:nvPr/>
        </p:nvSpPr>
        <p:spPr>
          <a:xfrm>
            <a:off x="4970900" y="4576635"/>
            <a:ext cx="2508322" cy="1558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서버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/>
              <a:t>IOCP/</a:t>
            </a:r>
            <a:r>
              <a:rPr lang="ko-KR" altLang="en-US" sz="1400" b="1" dirty="0"/>
              <a:t>비동기 프로그래밍</a:t>
            </a:r>
            <a:endParaRPr lang="en-US" altLang="ko-KR" sz="14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Multithread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MSSQL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Redis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87E6A8-E2D7-E60E-4C93-C4F120B656CD}"/>
              </a:ext>
            </a:extLst>
          </p:cNvPr>
          <p:cNvSpPr txBox="1"/>
          <p:nvPr/>
        </p:nvSpPr>
        <p:spPr>
          <a:xfrm>
            <a:off x="7479284" y="4576635"/>
            <a:ext cx="1695402" cy="912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클라이언트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Windows API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OpenGL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01AF81-0084-978B-BF84-4B24E487FB6B}"/>
              </a:ext>
            </a:extLst>
          </p:cNvPr>
          <p:cNvSpPr txBox="1"/>
          <p:nvPr/>
        </p:nvSpPr>
        <p:spPr>
          <a:xfrm>
            <a:off x="9174686" y="4576636"/>
            <a:ext cx="1546303" cy="589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기타</a:t>
            </a:r>
            <a:endParaRPr lang="en-US" altLang="ko-KR" sz="14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Git/Github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F1C098-84CB-5D5D-5AD2-E1B9ADB33F00}"/>
              </a:ext>
            </a:extLst>
          </p:cNvPr>
          <p:cNvSpPr txBox="1"/>
          <p:nvPr/>
        </p:nvSpPr>
        <p:spPr>
          <a:xfrm>
            <a:off x="838201" y="4324396"/>
            <a:ext cx="18944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 dirty="0"/>
              <a:t>이주형</a:t>
            </a:r>
            <a:endParaRPr lang="en-US" altLang="ko-KR" sz="2800" b="1" dirty="0"/>
          </a:p>
          <a:p>
            <a:pPr algn="ctr"/>
            <a:r>
              <a:rPr lang="en-US" altLang="ko-KR" sz="1400" dirty="0"/>
              <a:t>Lee Ju Hyung</a:t>
            </a:r>
          </a:p>
        </p:txBody>
      </p:sp>
    </p:spTree>
    <p:extLst>
      <p:ext uri="{BB962C8B-B14F-4D97-AF65-F5344CB8AC3E}">
        <p14:creationId xmlns:p14="http://schemas.microsoft.com/office/powerpoint/2010/main" val="453321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08FB8-2A5A-0803-1C9D-0DCFD346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00EE3-0574-7F4C-90A4-18E2364FB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작업물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1EA4D2-ABC8-A455-2C0F-DB3CFC92E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609106"/>
            <a:ext cx="11036300" cy="50012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600" b="1" dirty="0"/>
              <a:t>졸업작품 </a:t>
            </a:r>
            <a:r>
              <a:rPr lang="en-US" altLang="ko-KR" sz="1600" b="1" dirty="0"/>
              <a:t>– Hello2Halo</a:t>
            </a:r>
          </a:p>
          <a:p>
            <a:r>
              <a:rPr lang="en-US" altLang="ko-KR" sz="1400" dirty="0"/>
              <a:t>Rust</a:t>
            </a:r>
            <a:r>
              <a:rPr lang="ko-KR" altLang="en-US" sz="1400" dirty="0"/>
              <a:t>로 제작한 </a:t>
            </a:r>
            <a:r>
              <a:rPr lang="en-US" altLang="ko-KR" sz="1400" dirty="0"/>
              <a:t>5 vs 5 </a:t>
            </a:r>
            <a:r>
              <a:rPr lang="ko-KR" altLang="en-US" sz="1400" dirty="0"/>
              <a:t>멀티플레이 </a:t>
            </a:r>
            <a:r>
              <a:rPr lang="en-US" altLang="ko-KR" sz="1400" dirty="0"/>
              <a:t>TPS </a:t>
            </a:r>
            <a:r>
              <a:rPr lang="ko-KR" altLang="en-US" sz="1400" dirty="0"/>
              <a:t>게임</a:t>
            </a:r>
            <a:endParaRPr lang="en-US" altLang="ko-KR" sz="1400" dirty="0"/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미니 </a:t>
            </a:r>
            <a:r>
              <a:rPr lang="en-US" altLang="ko-KR" sz="1600" b="1" dirty="0"/>
              <a:t>MMORPG </a:t>
            </a:r>
            <a:r>
              <a:rPr lang="ko-KR" altLang="en-US" sz="1600" b="1" dirty="0"/>
              <a:t>서버</a:t>
            </a:r>
            <a:endParaRPr lang="en-US" altLang="ko-KR" sz="1600" b="1" dirty="0"/>
          </a:p>
          <a:p>
            <a:r>
              <a:rPr lang="en-US" altLang="ko-KR" sz="1400" dirty="0"/>
              <a:t>IOCP</a:t>
            </a:r>
            <a:r>
              <a:rPr lang="ko-KR" altLang="en-US" sz="1400" dirty="0"/>
              <a:t>를 이용한 </a:t>
            </a:r>
            <a:r>
              <a:rPr lang="en-US" altLang="ko-KR" sz="1400" dirty="0"/>
              <a:t>MMORPG</a:t>
            </a:r>
            <a:r>
              <a:rPr lang="ko-KR" altLang="en-US" sz="1400" dirty="0"/>
              <a:t>서버 제작 실습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기타</a:t>
            </a:r>
            <a:endParaRPr lang="en-US" altLang="ko-KR" sz="1600" b="1" dirty="0"/>
          </a:p>
          <a:p>
            <a:r>
              <a:rPr lang="en-US" altLang="ko-KR" sz="1400" dirty="0"/>
              <a:t>2D/3D </a:t>
            </a:r>
            <a:r>
              <a:rPr lang="ko-KR" altLang="en-US" sz="1400" dirty="0"/>
              <a:t>클라이언트 작업</a:t>
            </a:r>
            <a:endParaRPr lang="en-US" altLang="ko-KR" sz="1400" dirty="0"/>
          </a:p>
          <a:p>
            <a:r>
              <a:rPr lang="ko-KR" altLang="en-US" sz="1400" dirty="0"/>
              <a:t>프로젝트 관리 실습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4126650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398ED-C0D1-9A9A-C8DB-E63FE96F6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E07629-B752-B148-4A62-2F32180FD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80D4F8-CEDC-5AFE-3ABC-3FFC9B742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4513384"/>
            <a:ext cx="5107206" cy="146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24C1BBB-053A-CC0E-C999-19EE088E6E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5147429"/>
              </p:ext>
            </p:extLst>
          </p:nvPr>
        </p:nvGraphicFramePr>
        <p:xfrm>
          <a:off x="5835650" y="1385262"/>
          <a:ext cx="5778500" cy="47300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4869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043631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Hello2Halo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3117459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5 vs 5 </a:t>
                      </a:r>
                      <a:r>
                        <a:rPr lang="ko-KR" altLang="en-US" sz="1100" dirty="0"/>
                        <a:t>멀티플레이 </a:t>
                      </a:r>
                      <a:r>
                        <a:rPr lang="en-US" altLang="ko-KR" sz="1100" dirty="0"/>
                        <a:t>TPS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167846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블루아카이브의 리소스를 활용하여 제작하였으며 제한시간 안에 맵 중앙의 거점을 적 팀보다 빠르게 차지하는 팀이 승리하는 게임이다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3</a:t>
                      </a:r>
                      <a:r>
                        <a:rPr lang="ko-KR" altLang="en-US" sz="1100" dirty="0"/>
                        <a:t>명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클라이언트 </a:t>
                      </a:r>
                      <a:r>
                        <a:rPr lang="en-US" altLang="ko-KR" sz="1100" dirty="0"/>
                        <a:t>1, </a:t>
                      </a:r>
                      <a:r>
                        <a:rPr lang="ko-KR" altLang="en-US" sz="1100" dirty="0"/>
                        <a:t>서버 </a:t>
                      </a:r>
                      <a:r>
                        <a:rPr lang="en-US" altLang="ko-KR" sz="1100" dirty="0"/>
                        <a:t>2)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담당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서버 개발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오브젝트의 이동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회전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 클라이언트 동기화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충돌검사 및 처리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랜덤매칭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전투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거점 점령 시스템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 게임 컨텐츠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Redis </a:t>
                      </a:r>
                      <a:r>
                        <a:rPr lang="ko-KR" altLang="en-US" sz="1100" dirty="0"/>
                        <a:t>연결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플레이어 정보 및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전투 결과 저장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스트레스 테스트 코드 작성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91133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1" dirty="0"/>
                        <a:t>Rust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b="1" dirty="0"/>
                        <a:t>비동기 프로그래밍</a:t>
                      </a:r>
                      <a:r>
                        <a:rPr lang="en-US" altLang="ko-KR" sz="1100" dirty="0"/>
                        <a:t>, Redis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플랫폼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: Windows, macOS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서버</a:t>
                      </a:r>
                      <a:r>
                        <a:rPr lang="en-US" altLang="ko-KR" sz="1100" dirty="0"/>
                        <a:t>: Windows, macOS, Linux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86939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2024.07 ~ 2025.07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hlinkClick r:id="rId2"/>
                        </a:rPr>
                        <a:t>https://github.com/HK416/capstone_project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805246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r>
                        <a:rPr lang="ko-KR" altLang="en-US" sz="1100" dirty="0"/>
                        <a:t>비공개일시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hlinkClick r:id="rId3"/>
                        </a:rPr>
                        <a:t>https://1drv.ms/f/c/572b16d98f19c0c1/Eg2_P1cADVVHvbAp4IcqZVkBNOv45xTU-Sxudn2yM7QH8A?e=wVDaZj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6194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시연 영상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hlinkClick r:id="rId4"/>
                        </a:rPr>
                        <a:t>https://youtu.be/64DGuo1Z5No?si=rdXAVJfscwa7vh28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6838716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C62CAC90-0449-9E58-1A7A-9048450818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" y="1640581"/>
            <a:ext cx="4920425" cy="276773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59501B-4572-6E48-EEC9-FF6EE3876C6E}"/>
              </a:ext>
            </a:extLst>
          </p:cNvPr>
          <p:cNvSpPr txBox="1"/>
          <p:nvPr/>
        </p:nvSpPr>
        <p:spPr>
          <a:xfrm>
            <a:off x="577850" y="4681788"/>
            <a:ext cx="5051054" cy="127727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1100" b="1" dirty="0"/>
              <a:t>Rust</a:t>
            </a:r>
            <a:r>
              <a:rPr lang="ko-KR" altLang="en-US" sz="1100" b="1" dirty="0"/>
              <a:t>를 선택한 이유</a:t>
            </a:r>
            <a:endParaRPr lang="en-US" altLang="ko-KR" sz="1100" b="1" dirty="0"/>
          </a:p>
          <a:p>
            <a:r>
              <a:rPr lang="en-US" altLang="ko-KR" sz="1100" dirty="0"/>
              <a:t>Rust</a:t>
            </a:r>
            <a:r>
              <a:rPr lang="ko-KR" altLang="en-US" sz="1100" dirty="0"/>
              <a:t>는 자원의 소유권을 검사하는 방식으로 메모리문제</a:t>
            </a:r>
            <a:r>
              <a:rPr lang="en-US" altLang="ko-KR" sz="1100" dirty="0"/>
              <a:t>(use-after-free </a:t>
            </a:r>
            <a:r>
              <a:rPr lang="ko-KR" altLang="en-US" sz="1100" dirty="0"/>
              <a:t>등</a:t>
            </a:r>
            <a:r>
              <a:rPr lang="en-US" altLang="ko-KR" sz="1100" dirty="0"/>
              <a:t>)</a:t>
            </a:r>
            <a:r>
              <a:rPr lang="ko-KR" altLang="en-US" sz="1100" dirty="0"/>
              <a:t>나 공유자원문제</a:t>
            </a:r>
            <a:r>
              <a:rPr lang="en-US" altLang="ko-KR" sz="1100" dirty="0"/>
              <a:t>(data race </a:t>
            </a:r>
            <a:r>
              <a:rPr lang="ko-KR" altLang="en-US" sz="1100" dirty="0"/>
              <a:t>등</a:t>
            </a:r>
            <a:r>
              <a:rPr lang="en-US" altLang="ko-KR" sz="1100" dirty="0"/>
              <a:t>)</a:t>
            </a:r>
            <a:r>
              <a:rPr lang="ko-KR" altLang="en-US" sz="1100" dirty="0"/>
              <a:t>를 컴파일 타임에 체크하고</a:t>
            </a:r>
            <a:r>
              <a:rPr lang="en-US" altLang="ko-KR" sz="1100" dirty="0"/>
              <a:t>, </a:t>
            </a:r>
            <a:r>
              <a:rPr lang="ko-KR" altLang="en-US" sz="1100" dirty="0"/>
              <a:t>타입 시스템을 통해 쓰레드간 자원 이동</a:t>
            </a:r>
            <a:r>
              <a:rPr lang="en-US" altLang="ko-KR" sz="1100" dirty="0"/>
              <a:t>/</a:t>
            </a:r>
            <a:r>
              <a:rPr lang="ko-KR" altLang="en-US" sz="1100" dirty="0"/>
              <a:t>공유를 제한할 수 있기 때문에 </a:t>
            </a:r>
            <a:r>
              <a:rPr lang="en-US" altLang="ko-KR" sz="1100" dirty="0"/>
              <a:t>C/C++</a:t>
            </a:r>
            <a:r>
              <a:rPr lang="ko-KR" altLang="en-US" sz="1100" dirty="0"/>
              <a:t>과 비슷한 수준의 성능을 보이면서도 더 안전하다</a:t>
            </a:r>
            <a:r>
              <a:rPr lang="en-US" altLang="ko-KR" sz="1100" dirty="0"/>
              <a:t>. </a:t>
            </a:r>
          </a:p>
          <a:p>
            <a:r>
              <a:rPr lang="ko-KR" altLang="en-US" sz="1100" dirty="0"/>
              <a:t>이러한 특성이 게임 개발에 적합하다고 생각되어 </a:t>
            </a:r>
            <a:r>
              <a:rPr lang="en-US" altLang="ko-KR" sz="1100" dirty="0"/>
              <a:t>Rust</a:t>
            </a:r>
            <a:r>
              <a:rPr lang="ko-KR" altLang="en-US" sz="1100" dirty="0"/>
              <a:t>로 프로젝트를 진행하게 되었다</a:t>
            </a:r>
            <a:r>
              <a:rPr lang="en-US" altLang="ko-KR" sz="1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55625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96853-0B3E-0651-746F-4C52B001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9BB7CB-5165-40AC-AD69-16D4E3B6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A894F-B105-19F9-D4F2-1E57FEC44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9074" y="1355521"/>
            <a:ext cx="6183748" cy="14841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비동기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프로그래밍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en-US" altLang="ko-KR" sz="1000" dirty="0"/>
              <a:t>tokio</a:t>
            </a:r>
            <a:r>
              <a:rPr lang="ko-KR" altLang="en-US" sz="1000" dirty="0"/>
              <a:t>라이브러리를 이용한 비동기 </a:t>
            </a:r>
            <a:r>
              <a:rPr lang="en-US" altLang="ko-KR" sz="1000" dirty="0"/>
              <a:t>I/O: Session thread</a:t>
            </a:r>
            <a:r>
              <a:rPr lang="ko-KR" altLang="en-US" sz="1000" dirty="0"/>
              <a:t>에서 상태 업데이트 등의 작업이 주기적으로 </a:t>
            </a:r>
            <a:br>
              <a:rPr lang="en-US" altLang="ko-KR" sz="1000" dirty="0"/>
            </a:br>
            <a:r>
              <a:rPr lang="ko-KR" altLang="en-US" sz="1000" dirty="0"/>
              <a:t>일어나는 것과 상관 없이 </a:t>
            </a:r>
            <a:r>
              <a:rPr lang="en-US" altLang="ko-KR" sz="1000" dirty="0"/>
              <a:t>read/write </a:t>
            </a:r>
            <a:r>
              <a:rPr lang="ko-KR" altLang="en-US" sz="1000" dirty="0"/>
              <a:t>할 수 있도록 별도 </a:t>
            </a:r>
            <a:r>
              <a:rPr lang="en-US" altLang="ko-KR" sz="1000" dirty="0"/>
              <a:t>task(user-level thread)</a:t>
            </a:r>
            <a:r>
              <a:rPr lang="ko-KR" altLang="en-US" sz="1000" dirty="0"/>
              <a:t>로 분리하여 처리한다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b="1" dirty="0"/>
              <a:t>Lock-Free Queue</a:t>
            </a:r>
            <a:r>
              <a:rPr lang="ko-KR" altLang="en-US" sz="1000" dirty="0"/>
              <a:t>를 통해 쓰레드 사이 데이터</a:t>
            </a:r>
            <a:r>
              <a:rPr lang="en-US" altLang="ko-KR" sz="1000" dirty="0"/>
              <a:t>/</a:t>
            </a:r>
            <a:r>
              <a:rPr lang="ko-KR" altLang="en-US" sz="1000" dirty="0"/>
              <a:t>메시지 전달</a:t>
            </a:r>
            <a:r>
              <a:rPr lang="en-US" altLang="ko-KR" sz="1000" dirty="0"/>
              <a:t>: World</a:t>
            </a:r>
            <a:r>
              <a:rPr lang="ko-KR" altLang="en-US" sz="1000" dirty="0"/>
              <a:t> </a:t>
            </a:r>
            <a:r>
              <a:rPr lang="en-US" altLang="ko-KR" sz="1000" dirty="0"/>
              <a:t>thread</a:t>
            </a:r>
            <a:r>
              <a:rPr lang="ko-KR" altLang="en-US" sz="1000" dirty="0"/>
              <a:t>에서 </a:t>
            </a:r>
            <a:r>
              <a:rPr lang="en-US" altLang="ko-KR" sz="1000" dirty="0"/>
              <a:t>Session thread</a:t>
            </a:r>
            <a:r>
              <a:rPr lang="ko-KR" altLang="en-US" sz="1000" dirty="0"/>
              <a:t>로 상태 업데이트 메시지를 전달하거나 </a:t>
            </a:r>
            <a:r>
              <a:rPr lang="en-US" altLang="ko-KR" sz="1000" dirty="0"/>
              <a:t>Session thread</a:t>
            </a:r>
            <a:r>
              <a:rPr lang="ko-KR" altLang="en-US" sz="1000" dirty="0"/>
              <a:t>에서 </a:t>
            </a:r>
            <a:r>
              <a:rPr lang="en-US" altLang="ko-KR" sz="1000" dirty="0"/>
              <a:t>World thread</a:t>
            </a:r>
            <a:r>
              <a:rPr lang="ko-KR" altLang="en-US" sz="1000" dirty="0"/>
              <a:t>로 이벤트를 전달하는데 사용한다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273EF5-13CB-D68E-50D0-D23CAFBF7797}"/>
              </a:ext>
            </a:extLst>
          </p:cNvPr>
          <p:cNvSpPr txBox="1"/>
          <p:nvPr/>
        </p:nvSpPr>
        <p:spPr>
          <a:xfrm>
            <a:off x="577851" y="2014463"/>
            <a:ext cx="4688856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listener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accept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udp_sender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udp_sender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tokio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spawn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udp_sender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regist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session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unregist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unwrap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F51B67-258A-FE23-743C-4B87B902B21C}"/>
              </a:ext>
            </a:extLst>
          </p:cNvPr>
          <p:cNvSpPr txBox="1"/>
          <p:nvPr/>
        </p:nvSpPr>
        <p:spPr>
          <a:xfrm>
            <a:off x="577850" y="178363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accept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E30F1D-4BDE-DD72-01EF-74DCED4A390C}"/>
              </a:ext>
            </a:extLst>
          </p:cNvPr>
          <p:cNvSpPr txBox="1"/>
          <p:nvPr/>
        </p:nvSpPr>
        <p:spPr>
          <a:xfrm>
            <a:off x="577850" y="4507452"/>
            <a:ext cx="5140119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TcpStream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tcp_reader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tcp_writer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into_split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tokio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spawn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tcp_read_loop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tcp_reader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tokio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spawn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tcp_write_loop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tcp_writer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session_state_loop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BD411E-9A8B-AB6B-4960-04E1487893C5}"/>
              </a:ext>
            </a:extLst>
          </p:cNvPr>
          <p:cNvSpPr txBox="1"/>
          <p:nvPr/>
        </p:nvSpPr>
        <p:spPr>
          <a:xfrm>
            <a:off x="6313631" y="3113008"/>
            <a:ext cx="4766045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session_state_loop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A9EE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    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is_running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received_packets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       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         state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handle_packets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        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flows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   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handle_session_state_flow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states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        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AA524A-D6F3-C87C-EC9E-AAAB295C9E76}"/>
              </a:ext>
            </a:extLst>
          </p:cNvPr>
          <p:cNvSpPr txBox="1"/>
          <p:nvPr/>
        </p:nvSpPr>
        <p:spPr>
          <a:xfrm>
            <a:off x="577850" y="4276620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read/write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9174B9-908D-0BBE-3B7A-312190E6C8A4}"/>
              </a:ext>
            </a:extLst>
          </p:cNvPr>
          <p:cNvSpPr txBox="1"/>
          <p:nvPr/>
        </p:nvSpPr>
        <p:spPr>
          <a:xfrm>
            <a:off x="6313631" y="2882176"/>
            <a:ext cx="2236601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패킷 처리</a:t>
            </a:r>
            <a:r>
              <a:rPr lang="en-US" altLang="ko-KR" sz="900" dirty="0">
                <a:solidFill>
                  <a:schemeClr val="bg1"/>
                </a:solidFill>
              </a:rPr>
              <a:t>, Session </a:t>
            </a:r>
            <a:r>
              <a:rPr lang="ko-KR" altLang="en-US" sz="900" dirty="0">
                <a:solidFill>
                  <a:schemeClr val="bg1"/>
                </a:solidFill>
              </a:rPr>
              <a:t>상태 전환 요청 처리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A2114C-E53E-85CA-F09D-FE51DEDBBA82}"/>
              </a:ext>
            </a:extLst>
          </p:cNvPr>
          <p:cNvSpPr txBox="1"/>
          <p:nvPr/>
        </p:nvSpPr>
        <p:spPr>
          <a:xfrm>
            <a:off x="6313631" y="5449493"/>
            <a:ext cx="3847731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state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SessionQueuedState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add_flow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SessionStateFlow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9DE91D-C2DD-8B26-71B2-3C33DD699BBD}"/>
              </a:ext>
            </a:extLst>
          </p:cNvPr>
          <p:cNvSpPr txBox="1"/>
          <p:nvPr/>
        </p:nvSpPr>
        <p:spPr>
          <a:xfrm>
            <a:off x="6313631" y="5218661"/>
            <a:ext cx="2131746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World</a:t>
            </a:r>
            <a:r>
              <a:rPr lang="ko-KR" altLang="en-US" sz="900" dirty="0">
                <a:solidFill>
                  <a:schemeClr val="bg1"/>
                </a:solidFill>
              </a:rPr>
              <a:t>에서</a:t>
            </a:r>
            <a:r>
              <a:rPr lang="en-US" altLang="ko-KR" sz="900" dirty="0">
                <a:solidFill>
                  <a:schemeClr val="bg1"/>
                </a:solidFill>
              </a:rPr>
              <a:t> Session</a:t>
            </a:r>
            <a:r>
              <a:rPr lang="ko-KR" altLang="en-US" sz="900" dirty="0">
                <a:solidFill>
                  <a:schemeClr val="bg1"/>
                </a:solidFill>
              </a:rPr>
              <a:t>의</a:t>
            </a:r>
            <a:r>
              <a:rPr lang="en-US" altLang="ko-KR" sz="900" dirty="0">
                <a:solidFill>
                  <a:schemeClr val="bg1"/>
                </a:solidFill>
              </a:rPr>
              <a:t> </a:t>
            </a:r>
            <a:r>
              <a:rPr lang="ko-KR" altLang="en-US" sz="900" dirty="0">
                <a:solidFill>
                  <a:schemeClr val="bg1"/>
                </a:solidFill>
              </a:rPr>
              <a:t>상태 전환 요청</a:t>
            </a:r>
          </a:p>
        </p:txBody>
      </p:sp>
    </p:spTree>
    <p:extLst>
      <p:ext uri="{BB962C8B-B14F-4D97-AF65-F5344CB8AC3E}">
        <p14:creationId xmlns:p14="http://schemas.microsoft.com/office/powerpoint/2010/main" val="173653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7D88B-4AF2-239D-2165-02B469C69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D74E18-D04C-FA0E-3889-226D4DD38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51FDB9-5D05-EC79-FD47-A40624BDE5C1}"/>
              </a:ext>
            </a:extLst>
          </p:cNvPr>
          <p:cNvSpPr txBox="1"/>
          <p:nvPr/>
        </p:nvSpPr>
        <p:spPr>
          <a:xfrm>
            <a:off x="577848" y="1869890"/>
            <a:ext cx="4255409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MatchMaker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add_to_queue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매칭이 완료된 계정들로 게임을 생성합니다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MatchMaker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pop_matched_accounts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랜덤매칭 게임을 가져옵니다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result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GameWorldPool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create_normal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result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reason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MatchRequestRejectedReason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CreationLimited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packet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MatchRequestRejectedPacket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reason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tcp_write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as_raw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FC33E6-C76E-69CB-3C5B-D3E1A89FCF92}"/>
              </a:ext>
            </a:extLst>
          </p:cNvPr>
          <p:cNvSpPr txBox="1"/>
          <p:nvPr/>
        </p:nvSpPr>
        <p:spPr>
          <a:xfrm>
            <a:off x="577848" y="1639058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랜덤 매칭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3550E2-01E2-CCAC-60D0-70C0611D7378}"/>
              </a:ext>
            </a:extLst>
          </p:cNvPr>
          <p:cNvSpPr txBox="1"/>
          <p:nvPr/>
        </p:nvSpPr>
        <p:spPr>
          <a:xfrm>
            <a:off x="577848" y="4314918"/>
            <a:ext cx="4714503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pop_matched_accounts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queue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MATCH_QUEUE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unwrap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연결이 끊긴 계정은 대기열에서 제거합니다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retain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_account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is_running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MAX_IN_GAME_PLAYERS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drain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..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MAX_IN_GAME_PLAYERS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EBCE79-81E1-906C-75DC-0693AD1D72D4}"/>
              </a:ext>
            </a:extLst>
          </p:cNvPr>
          <p:cNvSpPr txBox="1"/>
          <p:nvPr/>
        </p:nvSpPr>
        <p:spPr>
          <a:xfrm>
            <a:off x="577848" y="3854151"/>
            <a:ext cx="4197927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MATCH_QUEUE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RwLock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VecDeque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    RwLock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VecDeque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BA945E5C-9F39-52B2-DFBE-5A169F9AB59B}"/>
              </a:ext>
            </a:extLst>
          </p:cNvPr>
          <p:cNvSpPr txBox="1">
            <a:spLocks/>
          </p:cNvSpPr>
          <p:nvPr/>
        </p:nvSpPr>
        <p:spPr>
          <a:xfrm>
            <a:off x="5549074" y="1355521"/>
            <a:ext cx="6308438" cy="1484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200" b="1" dirty="0"/>
              <a:t>컨텐츠 구현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ko-KR" altLang="en-US" sz="1000" b="1" dirty="0"/>
              <a:t>랜덤 매칭</a:t>
            </a:r>
            <a:r>
              <a:rPr lang="en-US" altLang="ko-KR" sz="1000" dirty="0"/>
              <a:t>: </a:t>
            </a:r>
            <a:r>
              <a:rPr lang="ko-KR" altLang="en-US" sz="1000" dirty="0"/>
              <a:t>새로운 플레이어가 대기열에 들어오면 </a:t>
            </a:r>
            <a:r>
              <a:rPr lang="en-US" altLang="ko-KR" sz="1000" dirty="0"/>
              <a:t>MatchMaker</a:t>
            </a:r>
            <a:r>
              <a:rPr lang="ko-KR" altLang="en-US" sz="1000" dirty="0"/>
              <a:t>에서 </a:t>
            </a:r>
            <a:r>
              <a:rPr lang="en-US" altLang="ko-KR" sz="1000" dirty="0"/>
              <a:t>pop</a:t>
            </a:r>
            <a:r>
              <a:rPr lang="ko-KR" altLang="en-US" sz="1000" dirty="0"/>
              <a:t>을</a:t>
            </a:r>
            <a:r>
              <a:rPr lang="en-US" altLang="ko-KR" sz="1000" dirty="0"/>
              <a:t> </a:t>
            </a:r>
            <a:r>
              <a:rPr lang="ko-KR" altLang="en-US" sz="1000" dirty="0"/>
              <a:t>시도하고</a:t>
            </a:r>
            <a:r>
              <a:rPr lang="en-US" altLang="ko-KR" sz="1000" dirty="0"/>
              <a:t>, </a:t>
            </a:r>
            <a:r>
              <a:rPr lang="ko-KR" altLang="en-US" sz="1000" dirty="0"/>
              <a:t>인원이 모여서 </a:t>
            </a:r>
            <a:r>
              <a:rPr lang="en-US" altLang="ko-KR" sz="1000" dirty="0"/>
              <a:t>pop</a:t>
            </a:r>
            <a:r>
              <a:rPr lang="ko-KR" altLang="en-US" sz="1000" dirty="0"/>
              <a:t>에 성공하면 월드를 할당하여 게임을 시작한다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b="1" dirty="0"/>
              <a:t>거점 점령 시스템</a:t>
            </a:r>
            <a:r>
              <a:rPr lang="en-US" altLang="ko-KR" sz="1000" dirty="0"/>
              <a:t>: </a:t>
            </a:r>
            <a:r>
              <a:rPr lang="ko-KR" altLang="en-US" sz="1000" dirty="0"/>
              <a:t>점령은 두 단계로 진행된다</a:t>
            </a:r>
            <a:r>
              <a:rPr lang="en-US" altLang="ko-KR" sz="1000" dirty="0"/>
              <a:t>. </a:t>
            </a:r>
            <a:r>
              <a:rPr lang="ko-KR" altLang="en-US" sz="1000" dirty="0"/>
              <a:t>거점 안에 한 팀만 있으면 상대팀의 점령도를 떨어뜨리고 거점 안에 있는 팀의 점령도가 올라가며</a:t>
            </a:r>
            <a:r>
              <a:rPr lang="en-US" altLang="ko-KR" sz="1000" dirty="0"/>
              <a:t>, </a:t>
            </a:r>
            <a:r>
              <a:rPr lang="ko-KR" altLang="en-US" sz="1000" dirty="0"/>
              <a:t>점령도가 </a:t>
            </a:r>
            <a:r>
              <a:rPr lang="en-US" altLang="ko-KR" sz="1000" dirty="0"/>
              <a:t>100%</a:t>
            </a:r>
            <a:r>
              <a:rPr lang="ko-KR" altLang="en-US" sz="1000" dirty="0"/>
              <a:t>가 되면 점령점수가 올라가기 시작한다</a:t>
            </a:r>
            <a:r>
              <a:rPr lang="en-US" altLang="ko-KR" sz="1000" dirty="0"/>
              <a:t>.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925640-2E6F-7484-5639-AB97E5DD61A4}"/>
              </a:ext>
            </a:extLst>
          </p:cNvPr>
          <p:cNvSpPr txBox="1"/>
          <p:nvPr/>
        </p:nvSpPr>
        <p:spPr>
          <a:xfrm>
            <a:off x="5549074" y="2839673"/>
            <a:ext cx="4595834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player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players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player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action_state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ActionState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Retreat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check_point_collision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translation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player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Blue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num_blue_players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num_red_players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레드 팀만 점령지 안에 존재하는 경우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num_red_players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num_blue_players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capture_point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set_capture_team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블루 팀만 점령지 안에 존재하는 경우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num_blue_players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num_red_players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capture_point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set_capture_team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Blue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점령지 안에 두 팀 모두 존재하거나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또는 아무도 존재하지 않은 경우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capture_point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set_capture_team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74C6A5-3520-884F-325A-ABFE76FFABC6}"/>
              </a:ext>
            </a:extLst>
          </p:cNvPr>
          <p:cNvSpPr txBox="1"/>
          <p:nvPr/>
        </p:nvSpPr>
        <p:spPr>
          <a:xfrm>
            <a:off x="6510773" y="3769827"/>
            <a:ext cx="2177056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CapturePointObject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capture_point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CapturePoint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096C3F-CA40-F5BB-FDB0-082A473187DA}"/>
              </a:ext>
            </a:extLst>
          </p:cNvPr>
          <p:cNvSpPr txBox="1"/>
          <p:nvPr/>
        </p:nvSpPr>
        <p:spPr>
          <a:xfrm>
            <a:off x="8687829" y="3769827"/>
            <a:ext cx="1787771" cy="7848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CapturePoint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i16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u16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81076D3-E049-38E6-8695-608827070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6749" y="4608560"/>
            <a:ext cx="1960759" cy="184067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BF20EC0-1662-0332-37C9-5309FDC6740C}"/>
              </a:ext>
            </a:extLst>
          </p:cNvPr>
          <p:cNvSpPr txBox="1"/>
          <p:nvPr/>
        </p:nvSpPr>
        <p:spPr>
          <a:xfrm>
            <a:off x="5549074" y="260884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거점 점령 시스템</a:t>
            </a:r>
          </a:p>
        </p:txBody>
      </p:sp>
    </p:spTree>
    <p:extLst>
      <p:ext uri="{BB962C8B-B14F-4D97-AF65-F5344CB8AC3E}">
        <p14:creationId xmlns:p14="http://schemas.microsoft.com/office/powerpoint/2010/main" val="2770864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12B2F-4DD5-DB53-7070-5BC9A5355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FDD6A6-A771-4595-5076-53467A22D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4FC249-A186-B885-370F-23A01500BA19}"/>
              </a:ext>
            </a:extLst>
          </p:cNvPr>
          <p:cNvSpPr txBox="1"/>
          <p:nvPr/>
        </p:nvSpPr>
        <p:spPr>
          <a:xfrm>
            <a:off x="577850" y="1771346"/>
            <a:ext cx="5235121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총알의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시작지점과 도착지점을 포함하는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AABB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생성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swept_aabb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BoundingBox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from_start_end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// 1. broad phase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검사 </a:t>
            </a: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- AABB KD-Tree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충돌 검사</a:t>
            </a:r>
            <a:endParaRPr lang="ko-KR" altLang="en-US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collisions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stage_attributes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i="1" dirty="0">
                <a:solidFill>
                  <a:srgbClr val="8CAAEE"/>
                </a:solidFill>
                <a:latin typeface="Consolas" panose="020B0609020204030204" pitchFamily="49" charset="0"/>
              </a:rPr>
              <a:t>search_aabb_collision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swept_aabb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);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collider </a:t>
            </a: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in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collisions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    // 2. narrow phase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검사 </a:t>
            </a: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-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총알과 충돌체의 충돌 검사</a:t>
            </a:r>
            <a:endParaRPr lang="ko-KR" altLang="en-US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details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match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collider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::</a:t>
            </a:r>
            <a:r>
              <a:rPr lang="en-US" altLang="ko-KR" sz="900" i="1" dirty="0">
                <a:solidFill>
                  <a:srgbClr val="81C8BE"/>
                </a:solidFill>
                <a:latin typeface="Consolas" panose="020B0609020204030204" pitchFamily="49" charset="0"/>
              </a:rPr>
              <a:t>Aabb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bullet_collider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i="1" dirty="0">
                <a:solidFill>
                  <a:srgbClr val="8CAAEE"/>
                </a:solidFill>
                <a:latin typeface="Consolas" panose="020B0609020204030204" pitchFamily="49" charset="0"/>
              </a:rPr>
              <a:t>check_dynamic_collision_details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&amp;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velocity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8CAAEE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::</a:t>
            </a:r>
            <a:r>
              <a:rPr lang="en-US" altLang="ko-KR" sz="900" i="1" dirty="0">
                <a:solidFill>
                  <a:srgbClr val="81C8BE"/>
                </a:solidFill>
                <a:latin typeface="Consolas" panose="020B0609020204030204" pitchFamily="49" charset="0"/>
              </a:rPr>
              <a:t>Obb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bullet_collider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i="1" dirty="0">
                <a:solidFill>
                  <a:srgbClr val="8CAAEE"/>
                </a:solidFill>
                <a:latin typeface="Consolas" panose="020B0609020204030204" pitchFamily="49" charset="0"/>
              </a:rPr>
              <a:t>check_dynamic_collision_details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&amp;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velocity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8CAAEE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::</a:t>
            </a:r>
            <a:r>
              <a:rPr lang="en-US" altLang="ko-KR" sz="900" i="1" dirty="0">
                <a:solidFill>
                  <a:srgbClr val="81C8BE"/>
                </a:solidFill>
                <a:latin typeface="Consolas" panose="020B0609020204030204" pitchFamily="49" charset="0"/>
              </a:rPr>
              <a:t>Capsule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bullet_collider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i="1" dirty="0">
                <a:solidFill>
                  <a:srgbClr val="8CAAEE"/>
                </a:solidFill>
                <a:latin typeface="Consolas" panose="020B0609020204030204" pitchFamily="49" charset="0"/>
              </a:rPr>
              <a:t>check_dynamic_collision_details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&amp;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velocity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8CAAEE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...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60E0C9-3CFE-7103-4575-34B8E46B090D}"/>
              </a:ext>
            </a:extLst>
          </p:cNvPr>
          <p:cNvSpPr txBox="1"/>
          <p:nvPr/>
        </p:nvSpPr>
        <p:spPr>
          <a:xfrm>
            <a:off x="577850" y="1540513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오브젝트 충돌검사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350810-397C-31F7-5718-1360C66EDA5A}"/>
              </a:ext>
            </a:extLst>
          </p:cNvPr>
          <p:cNvSpPr txBox="1"/>
          <p:nvPr/>
        </p:nvSpPr>
        <p:spPr>
          <a:xfrm>
            <a:off x="577492" y="5227385"/>
            <a:ext cx="5145146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indices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f32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f32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filter_map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as_ref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filter_map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height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dirty="0">
              <a:solidFill>
                <a:srgbClr val="949CB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index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pz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width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px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area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translation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5BC3F-8B16-9810-C33A-72D11C94CC3A}"/>
              </a:ext>
            </a:extLst>
          </p:cNvPr>
          <p:cNvSpPr txBox="1"/>
          <p:nvPr/>
        </p:nvSpPr>
        <p:spPr>
          <a:xfrm>
            <a:off x="577492" y="4996555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지형 충돌검사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D026D3D-AD62-2E43-1AB4-1A9E680CD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640" y="4222966"/>
            <a:ext cx="2177384" cy="11219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503B62E-A0B9-C1EA-F972-EA04D7F72A96}"/>
              </a:ext>
            </a:extLst>
          </p:cNvPr>
          <p:cNvSpPr txBox="1"/>
          <p:nvPr/>
        </p:nvSpPr>
        <p:spPr>
          <a:xfrm>
            <a:off x="3650612" y="4872599"/>
            <a:ext cx="409699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area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4" name="액자 23">
            <a:extLst>
              <a:ext uri="{FF2B5EF4-FFF2-40B4-BE49-F238E27FC236}">
                <a16:creationId xmlns:a16="http://schemas.microsoft.com/office/drawing/2014/main" id="{BFFC9E6E-8422-C1FC-A866-A8FF2D25973E}"/>
              </a:ext>
            </a:extLst>
          </p:cNvPr>
          <p:cNvSpPr/>
          <p:nvPr/>
        </p:nvSpPr>
        <p:spPr>
          <a:xfrm>
            <a:off x="3372593" y="4660621"/>
            <a:ext cx="965739" cy="653586"/>
          </a:xfrm>
          <a:prstGeom prst="frame">
            <a:avLst>
              <a:gd name="adj1" fmla="val 2434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7677E18-12FD-FA8C-E624-C24605320180}"/>
              </a:ext>
            </a:extLst>
          </p:cNvPr>
          <p:cNvSpPr txBox="1">
            <a:spLocks/>
          </p:cNvSpPr>
          <p:nvPr/>
        </p:nvSpPr>
        <p:spPr>
          <a:xfrm>
            <a:off x="6013824" y="1355521"/>
            <a:ext cx="5718998" cy="11314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200" b="1" dirty="0"/>
              <a:t>지형</a:t>
            </a:r>
            <a:r>
              <a:rPr lang="en-US" altLang="ko-KR" sz="1200" b="1" dirty="0"/>
              <a:t>/</a:t>
            </a:r>
            <a:r>
              <a:rPr lang="ko-KR" altLang="en-US" sz="1200" b="1" dirty="0"/>
              <a:t>오브젝트 충돌검사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ko-KR" altLang="en-US" sz="1000" dirty="0"/>
              <a:t>지형 충돌검사</a:t>
            </a:r>
            <a:r>
              <a:rPr lang="en-US" altLang="ko-KR" sz="1000" dirty="0"/>
              <a:t>: </a:t>
            </a:r>
            <a:r>
              <a:rPr lang="ko-KR" altLang="en-US" sz="1000" dirty="0"/>
              <a:t>주어진 위치가 속해 있는 영역의 </a:t>
            </a:r>
            <a:r>
              <a:rPr lang="en-US" altLang="ko-KR" sz="1000" dirty="0"/>
              <a:t>Height map</a:t>
            </a:r>
            <a:r>
              <a:rPr lang="ko-KR" altLang="en-US" sz="1000" dirty="0"/>
              <a:t>을 이용해서 높이를 계산한다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오브젝트 충돌검사</a:t>
            </a:r>
            <a:r>
              <a:rPr lang="en-US" altLang="ko-KR" sz="1000" dirty="0"/>
              <a:t>: 1</a:t>
            </a:r>
            <a:r>
              <a:rPr lang="ko-KR" altLang="en-US" sz="1000" dirty="0"/>
              <a:t>차로 </a:t>
            </a:r>
            <a:r>
              <a:rPr lang="en-US" altLang="ko-KR" sz="1000" b="1" dirty="0"/>
              <a:t>KD-Tree</a:t>
            </a:r>
            <a:r>
              <a:rPr lang="ko-KR" altLang="en-US" sz="1000" dirty="0"/>
              <a:t>로 바운딩박스</a:t>
            </a:r>
            <a:r>
              <a:rPr lang="en-US" altLang="ko-KR" sz="1000" dirty="0"/>
              <a:t>(AABB)</a:t>
            </a:r>
            <a:r>
              <a:rPr lang="ko-KR" altLang="en-US" sz="1000" dirty="0"/>
              <a:t>끼리 충돌중인지 확인하고</a:t>
            </a:r>
            <a:r>
              <a:rPr lang="en-US" altLang="ko-KR" sz="1000" dirty="0"/>
              <a:t>, </a:t>
            </a:r>
            <a:r>
              <a:rPr lang="ko-KR" altLang="en-US" sz="1000" dirty="0"/>
              <a:t>충돌중인 물체들에 대해서만 원본 충돌체들끼리의 충돌정보를 계산한다</a:t>
            </a:r>
            <a:r>
              <a:rPr lang="en-US" altLang="ko-KR" sz="100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31CA7A-80A7-3159-6FB0-C09A35EBC1A3}"/>
              </a:ext>
            </a:extLst>
          </p:cNvPr>
          <p:cNvSpPr txBox="1"/>
          <p:nvPr/>
        </p:nvSpPr>
        <p:spPr>
          <a:xfrm>
            <a:off x="6178178" y="2717759"/>
            <a:ext cx="5435972" cy="3416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search_aabb_collision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BoundingBox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stack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check_static_collision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bound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result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axis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dim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left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left_bound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children_bound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left_max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center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extents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bound_min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left_max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stack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right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right_bound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children_bound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right_min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center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extents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bound_max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right_min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stack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result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8B2E52-AB79-A93C-882F-6FCE30BD2BB6}"/>
              </a:ext>
            </a:extLst>
          </p:cNvPr>
          <p:cNvSpPr txBox="1"/>
          <p:nvPr/>
        </p:nvSpPr>
        <p:spPr>
          <a:xfrm>
            <a:off x="6178178" y="248692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KD-Tree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8855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B6524-FB6D-B4F6-0E07-9EDC3A614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E48C98-1ADC-863E-516B-EC274E824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0CCEA3-43FA-1372-0C64-EE9A43FF0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8608" y="1300613"/>
            <a:ext cx="5385542" cy="10922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b="1" dirty="0"/>
              <a:t>Redis </a:t>
            </a:r>
            <a:r>
              <a:rPr lang="ko-KR" altLang="en-US" sz="1200" b="1" dirty="0"/>
              <a:t>연결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ko-KR" altLang="en-US" sz="1000" dirty="0"/>
              <a:t>예상치 못한 종료로 데이터가 손실되는 것을 방지하기 위해 </a:t>
            </a:r>
            <a:r>
              <a:rPr lang="en-US" altLang="ko-KR" sz="1000" dirty="0"/>
              <a:t>append only</a:t>
            </a:r>
            <a:r>
              <a:rPr lang="ko-KR" altLang="en-US" sz="1000" dirty="0"/>
              <a:t>로</a:t>
            </a:r>
            <a:r>
              <a:rPr lang="en-US" altLang="ko-KR" sz="1000" dirty="0"/>
              <a:t> </a:t>
            </a:r>
            <a:r>
              <a:rPr lang="ko-KR" altLang="en-US" sz="1000" dirty="0"/>
              <a:t>설정한다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비동기 연결을 가져와서 필요한 기능만 정의한 구조체로 캡슐화 하여 사용한다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유저 정보</a:t>
            </a:r>
            <a:r>
              <a:rPr lang="en-US" altLang="ko-KR" sz="1000" dirty="0"/>
              <a:t>, </a:t>
            </a:r>
            <a:r>
              <a:rPr lang="ko-KR" altLang="en-US" sz="1000" dirty="0"/>
              <a:t>게임 결과 등을 저장한다</a:t>
            </a:r>
            <a:r>
              <a:rPr lang="en-US" altLang="ko-KR" sz="1000" dirty="0"/>
              <a:t>.</a:t>
            </a:r>
            <a:endParaRPr lang="en-US" altLang="ko-KR" sz="1400" dirty="0"/>
          </a:p>
          <a:p>
            <a:pPr>
              <a:buFontTx/>
              <a:buChar char="-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5A6CE5-DFA2-1BEE-0225-54611D59DE5B}"/>
              </a:ext>
            </a:extLst>
          </p:cNvPr>
          <p:cNvSpPr txBox="1"/>
          <p:nvPr/>
        </p:nvSpPr>
        <p:spPr>
          <a:xfrm>
            <a:off x="347024" y="1416028"/>
            <a:ext cx="5488626" cy="521681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impl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get_next_uid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 </a:t>
            </a:r>
          </a:p>
          <a:p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set_user_info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user_info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 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get_user_info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RedisResult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UserInfo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"user_info: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user_info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UserInfo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hgetall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user_info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is_empty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user_info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save_game_result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play_time_ms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u32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winner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result_data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InGamePlayerResultData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RedisResult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next_match_id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u32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incr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"next_match_id"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"match: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next_match_id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"play_time_s"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play_time_ms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"winner"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winner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map_or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u8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result_data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:user_info: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"kills"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kill_count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"deaths"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retreat_count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player_key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"user_info: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:matches"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player_key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next_match_id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9DA35-DCCF-9E50-4786-23E924EF13F8}"/>
              </a:ext>
            </a:extLst>
          </p:cNvPr>
          <p:cNvSpPr txBox="1"/>
          <p:nvPr/>
        </p:nvSpPr>
        <p:spPr>
          <a:xfrm>
            <a:off x="5958943" y="2939522"/>
            <a:ext cx="5886034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pub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struct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DbConnection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manager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redis::aio::ConnectionManager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b="0" dirty="0">
              <a:solidFill>
                <a:srgbClr val="CA9EE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impl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DbConnection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A9EE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    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info!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"Database connection initialized."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"redis://127.0.0.1/"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create Redis client"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redis appendonly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설정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"CONFIG"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"SET"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"appendonly"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"yes"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set Redis appendonly configuration"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    // redis RDB + AOF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설정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"CONFIG"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"SET"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"aof-use-rdb-preamble"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"yes"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set Redis aof-use-rdb-preamble configuration"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manager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block_on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ConnectionManager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create Redis connection manager"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manager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7C9738-ED04-DE5F-5D98-663A1CFE3BF4}"/>
              </a:ext>
            </a:extLst>
          </p:cNvPr>
          <p:cNvSpPr txBox="1"/>
          <p:nvPr/>
        </p:nvSpPr>
        <p:spPr>
          <a:xfrm>
            <a:off x="347024" y="1185196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데이터 저장</a:t>
            </a:r>
            <a:r>
              <a:rPr lang="en-US" altLang="ko-KR" sz="900" dirty="0">
                <a:solidFill>
                  <a:schemeClr val="bg1"/>
                </a:solidFill>
              </a:rPr>
              <a:t>/</a:t>
            </a:r>
            <a:r>
              <a:rPr lang="ko-KR" altLang="en-US" sz="900" dirty="0">
                <a:solidFill>
                  <a:schemeClr val="bg1"/>
                </a:solidFill>
              </a:rPr>
              <a:t>불러오기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599863-CF09-E973-9869-D1C0AF73BBA0}"/>
              </a:ext>
            </a:extLst>
          </p:cNvPr>
          <p:cNvSpPr txBox="1"/>
          <p:nvPr/>
        </p:nvSpPr>
        <p:spPr>
          <a:xfrm>
            <a:off x="5958942" y="2708689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연결 및 초기 설정</a:t>
            </a:r>
          </a:p>
        </p:txBody>
      </p:sp>
    </p:spTree>
    <p:extLst>
      <p:ext uri="{BB962C8B-B14F-4D97-AF65-F5344CB8AC3E}">
        <p14:creationId xmlns:p14="http://schemas.microsoft.com/office/powerpoint/2010/main" val="59229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D9808-9484-8597-FCF7-601B8DD1F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771760-76DD-24C6-A78B-A9C08330D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E1A298-A554-D383-5AAA-91DD1C7D7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35" y="1300614"/>
            <a:ext cx="5116141" cy="1469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성능분석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en-US" altLang="ko-KR" sz="1000" dirty="0"/>
              <a:t>cargo-flamegraph</a:t>
            </a:r>
            <a:r>
              <a:rPr lang="ko-KR" altLang="en-US" sz="1000" dirty="0"/>
              <a:t>로 오래 걸리는 작업을 찾아 개선하고</a:t>
            </a:r>
            <a:r>
              <a:rPr lang="en-US" altLang="ko-KR" sz="1000" dirty="0"/>
              <a:t>, stress test </a:t>
            </a:r>
            <a:r>
              <a:rPr lang="ko-KR" altLang="en-US" sz="1000" dirty="0"/>
              <a:t>프로그램으로 실제 동시접속자 증가를 확인한다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ko-KR" altLang="en-US" sz="1200" b="1" dirty="0"/>
              <a:t>스트레스 테스트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000" dirty="0"/>
              <a:t>‘</a:t>
            </a:r>
            <a:r>
              <a:rPr lang="ko-KR" altLang="en-US" sz="1000" dirty="0"/>
              <a:t>서버 접속 </a:t>
            </a:r>
            <a:r>
              <a:rPr lang="en-US" altLang="ko-KR" sz="1000" dirty="0"/>
              <a:t>-&gt; </a:t>
            </a:r>
            <a:r>
              <a:rPr lang="ko-KR" altLang="en-US" sz="1000" dirty="0"/>
              <a:t>로그인 </a:t>
            </a:r>
            <a:r>
              <a:rPr lang="en-US" altLang="ko-KR" sz="1000" dirty="0"/>
              <a:t>-&gt; </a:t>
            </a:r>
            <a:r>
              <a:rPr lang="ko-KR" altLang="en-US" sz="1000" dirty="0"/>
              <a:t>게임참가 </a:t>
            </a:r>
            <a:r>
              <a:rPr lang="en-US" altLang="ko-KR" sz="1000" dirty="0"/>
              <a:t>-&gt; </a:t>
            </a:r>
            <a:r>
              <a:rPr lang="ko-KR" altLang="en-US" sz="1000" dirty="0"/>
              <a:t>게임플레이</a:t>
            </a:r>
            <a:r>
              <a:rPr lang="en-US" altLang="ko-KR" sz="1000" dirty="0"/>
              <a:t>’</a:t>
            </a:r>
            <a:r>
              <a:rPr lang="ko-KR" altLang="en-US" sz="1000" dirty="0"/>
              <a:t> 의 과정을 자동으로 수행하는 </a:t>
            </a:r>
            <a:br>
              <a:rPr lang="en-US" altLang="ko-KR" sz="1000" dirty="0"/>
            </a:br>
            <a:r>
              <a:rPr lang="ko-KR" altLang="en-US" sz="1000" dirty="0"/>
              <a:t>더미 클라이언트를 접속시켜 최대 동시접속자 수를 측정한다</a:t>
            </a:r>
            <a:r>
              <a:rPr lang="en-US" altLang="ko-KR" sz="1000" dirty="0"/>
              <a:t>.</a:t>
            </a:r>
          </a:p>
        </p:txBody>
      </p:sp>
      <p:pic>
        <p:nvPicPr>
          <p:cNvPr id="9" name="그림 8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2AC025-4EBA-9CF2-EAF3-6B23B0A7B0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71" b="18286"/>
          <a:stretch>
            <a:fillRect/>
          </a:stretch>
        </p:blipFill>
        <p:spPr>
          <a:xfrm>
            <a:off x="9658819" y="3375560"/>
            <a:ext cx="2074857" cy="160562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B9F3B5-0901-5324-1871-38492A6C2A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91" b="18332"/>
          <a:stretch>
            <a:fillRect/>
          </a:stretch>
        </p:blipFill>
        <p:spPr>
          <a:xfrm>
            <a:off x="9654845" y="931811"/>
            <a:ext cx="2078831" cy="160562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74291F07-1DF2-E710-C9D5-3B33A7F470FC}"/>
              </a:ext>
            </a:extLst>
          </p:cNvPr>
          <p:cNvSpPr/>
          <p:nvPr/>
        </p:nvSpPr>
        <p:spPr>
          <a:xfrm rot="5400000">
            <a:off x="8653584" y="2986087"/>
            <a:ext cx="545092" cy="309622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23" name="그림 22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B2208F-0563-73D3-8600-E0093A13B9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6359" y="960587"/>
            <a:ext cx="3798487" cy="157684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5" name="그림 24" descr="선박, 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25FA45-E7A0-55E6-09DE-71B9889D6E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6359" y="3599915"/>
            <a:ext cx="3798486" cy="13812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77CE7115-603F-D610-9D17-E41400253107}"/>
              </a:ext>
            </a:extLst>
          </p:cNvPr>
          <p:cNvSpPr txBox="1"/>
          <p:nvPr/>
        </p:nvSpPr>
        <p:spPr>
          <a:xfrm>
            <a:off x="5852385" y="2581832"/>
            <a:ext cx="2751452" cy="4001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비정상적으로 많은</a:t>
            </a:r>
            <a:r>
              <a:rPr lang="en-US" altLang="ko-KR" sz="1000" dirty="0"/>
              <a:t> </a:t>
            </a:r>
            <a:r>
              <a:rPr lang="ko-KR" altLang="en-US" sz="1000" dirty="0"/>
              <a:t>충돌검사 확인</a:t>
            </a:r>
            <a:r>
              <a:rPr lang="en-US" altLang="ko-KR" sz="1000" dirty="0"/>
              <a:t>(OBB </a:t>
            </a:r>
            <a:r>
              <a:rPr lang="ko-KR" altLang="en-US" sz="1000" dirty="0"/>
              <a:t>충돌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-&gt; </a:t>
            </a:r>
            <a:r>
              <a:rPr lang="ko-KR" altLang="en-US" sz="1000" dirty="0"/>
              <a:t>전체 연산의 약 </a:t>
            </a:r>
            <a:r>
              <a:rPr lang="en-US" altLang="ko-KR" sz="1000" dirty="0"/>
              <a:t>90% </a:t>
            </a:r>
            <a:r>
              <a:rPr lang="ko-KR" altLang="en-US" sz="1000" dirty="0"/>
              <a:t>차지</a:t>
            </a:r>
            <a:r>
              <a:rPr lang="en-US" altLang="ko-KR" sz="1000" dirty="0"/>
              <a:t>, </a:t>
            </a:r>
            <a:r>
              <a:rPr lang="ko-KR" altLang="en-US" sz="1000" dirty="0"/>
              <a:t>동접 </a:t>
            </a:r>
            <a:r>
              <a:rPr lang="en-US" altLang="ko-KR" sz="1000" dirty="0"/>
              <a:t>180</a:t>
            </a:r>
            <a:endParaRPr lang="ko-KR" alt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AEF20B-43B5-8C9A-F346-F5242B9A4952}"/>
              </a:ext>
            </a:extLst>
          </p:cNvPr>
          <p:cNvSpPr txBox="1"/>
          <p:nvPr/>
        </p:nvSpPr>
        <p:spPr>
          <a:xfrm>
            <a:off x="5856359" y="5039188"/>
            <a:ext cx="3069771" cy="4001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broad phase</a:t>
            </a:r>
            <a:r>
              <a:rPr lang="ko-KR" altLang="en-US" sz="1000" dirty="0"/>
              <a:t>에서 </a:t>
            </a:r>
            <a:r>
              <a:rPr lang="en-US" altLang="ko-KR" sz="1000" dirty="0"/>
              <a:t>AABB</a:t>
            </a:r>
            <a:r>
              <a:rPr lang="ko-KR" altLang="en-US" sz="1000" dirty="0"/>
              <a:t>로 충돌검사를 하도록 수정</a:t>
            </a:r>
            <a:endParaRPr lang="en-US" altLang="ko-KR" sz="1000" dirty="0"/>
          </a:p>
          <a:p>
            <a:r>
              <a:rPr lang="en-US" altLang="ko-KR" sz="1000" dirty="0"/>
              <a:t>-&gt; </a:t>
            </a:r>
            <a:r>
              <a:rPr lang="ko-KR" altLang="en-US" sz="1000" dirty="0"/>
              <a:t>전체</a:t>
            </a:r>
            <a:r>
              <a:rPr lang="en-US" altLang="ko-KR" sz="1000" dirty="0"/>
              <a:t> </a:t>
            </a:r>
            <a:r>
              <a:rPr lang="ko-KR" altLang="en-US" sz="1000" dirty="0"/>
              <a:t>연산의 약 </a:t>
            </a:r>
            <a:r>
              <a:rPr lang="en-US" altLang="ko-KR" sz="1000" dirty="0"/>
              <a:t>30% </a:t>
            </a:r>
            <a:r>
              <a:rPr lang="ko-KR" altLang="en-US" sz="1000" dirty="0"/>
              <a:t>차지</a:t>
            </a:r>
            <a:r>
              <a:rPr lang="en-US" altLang="ko-KR" sz="1000" dirty="0"/>
              <a:t>, </a:t>
            </a:r>
            <a:r>
              <a:rPr lang="ko-KR" altLang="en-US" sz="1000" dirty="0"/>
              <a:t>동접 </a:t>
            </a:r>
            <a:r>
              <a:rPr lang="en-US" altLang="ko-KR" sz="1000" dirty="0"/>
              <a:t>600</a:t>
            </a:r>
            <a:endParaRPr lang="ko-KR" altLang="en-US" sz="1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67AFB-735B-0164-7259-F383A177C865}"/>
              </a:ext>
            </a:extLst>
          </p:cNvPr>
          <p:cNvSpPr txBox="1"/>
          <p:nvPr/>
        </p:nvSpPr>
        <p:spPr>
          <a:xfrm>
            <a:off x="6453800" y="1138540"/>
            <a:ext cx="1004829" cy="246221"/>
          </a:xfrm>
          <a:prstGeom prst="rect">
            <a:avLst/>
          </a:prstGeom>
          <a:noFill/>
          <a:ln w="19050">
            <a:solidFill>
              <a:srgbClr val="FF00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충돌검사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175D063-883F-A65A-C8AD-0DB6EA2A8021}"/>
              </a:ext>
            </a:extLst>
          </p:cNvPr>
          <p:cNvCxnSpPr>
            <a:cxnSpLocks/>
            <a:stCxn id="30" idx="2"/>
          </p:cNvCxnSpPr>
          <p:nvPr/>
        </p:nvCxnSpPr>
        <p:spPr>
          <a:xfrm flipH="1">
            <a:off x="6650182" y="1384761"/>
            <a:ext cx="306033" cy="854045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0A924FF8-69B2-C61A-52A0-C4B461D98C8F}"/>
              </a:ext>
            </a:extLst>
          </p:cNvPr>
          <p:cNvCxnSpPr>
            <a:cxnSpLocks/>
          </p:cNvCxnSpPr>
          <p:nvPr/>
        </p:nvCxnSpPr>
        <p:spPr>
          <a:xfrm flipH="1">
            <a:off x="8121949" y="4357470"/>
            <a:ext cx="83900" cy="34360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액자 3">
            <a:extLst>
              <a:ext uri="{FF2B5EF4-FFF2-40B4-BE49-F238E27FC236}">
                <a16:creationId xmlns:a16="http://schemas.microsoft.com/office/drawing/2014/main" id="{B07348BF-BD1A-DCAE-B11F-47826498C6B8}"/>
              </a:ext>
            </a:extLst>
          </p:cNvPr>
          <p:cNvSpPr/>
          <p:nvPr/>
        </p:nvSpPr>
        <p:spPr>
          <a:xfrm>
            <a:off x="6096000" y="958538"/>
            <a:ext cx="3558844" cy="1578895"/>
          </a:xfrm>
          <a:prstGeom prst="frame">
            <a:avLst>
              <a:gd name="adj1" fmla="val 387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액자 5">
            <a:extLst>
              <a:ext uri="{FF2B5EF4-FFF2-40B4-BE49-F238E27FC236}">
                <a16:creationId xmlns:a16="http://schemas.microsoft.com/office/drawing/2014/main" id="{AAEB336B-12DD-E0F3-1332-65C35F44F661}"/>
              </a:ext>
            </a:extLst>
          </p:cNvPr>
          <p:cNvSpPr/>
          <p:nvPr/>
        </p:nvSpPr>
        <p:spPr>
          <a:xfrm>
            <a:off x="7269480" y="3599915"/>
            <a:ext cx="1280160" cy="1381268"/>
          </a:xfrm>
          <a:prstGeom prst="frame">
            <a:avLst>
              <a:gd name="adj1" fmla="val 50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액자 9">
            <a:extLst>
              <a:ext uri="{FF2B5EF4-FFF2-40B4-BE49-F238E27FC236}">
                <a16:creationId xmlns:a16="http://schemas.microsoft.com/office/drawing/2014/main" id="{E52FA339-3DF1-01D6-7BD2-21719DB057F2}"/>
              </a:ext>
            </a:extLst>
          </p:cNvPr>
          <p:cNvSpPr/>
          <p:nvPr/>
        </p:nvSpPr>
        <p:spPr>
          <a:xfrm>
            <a:off x="5852385" y="3599915"/>
            <a:ext cx="1415108" cy="1381268"/>
          </a:xfrm>
          <a:prstGeom prst="frame">
            <a:avLst>
              <a:gd name="adj1" fmla="val 505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액자 10">
            <a:extLst>
              <a:ext uri="{FF2B5EF4-FFF2-40B4-BE49-F238E27FC236}">
                <a16:creationId xmlns:a16="http://schemas.microsoft.com/office/drawing/2014/main" id="{F95A3F8E-BC37-8292-04C6-E9D5CFA2872F}"/>
              </a:ext>
            </a:extLst>
          </p:cNvPr>
          <p:cNvSpPr/>
          <p:nvPr/>
        </p:nvSpPr>
        <p:spPr>
          <a:xfrm>
            <a:off x="8549640" y="3599915"/>
            <a:ext cx="1107192" cy="1381268"/>
          </a:xfrm>
          <a:prstGeom prst="frame">
            <a:avLst>
              <a:gd name="adj1" fmla="val 505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액자 11">
            <a:extLst>
              <a:ext uri="{FF2B5EF4-FFF2-40B4-BE49-F238E27FC236}">
                <a16:creationId xmlns:a16="http://schemas.microsoft.com/office/drawing/2014/main" id="{1762C9FC-3998-32AF-0111-54D54A2301A8}"/>
              </a:ext>
            </a:extLst>
          </p:cNvPr>
          <p:cNvSpPr/>
          <p:nvPr/>
        </p:nvSpPr>
        <p:spPr>
          <a:xfrm>
            <a:off x="5852385" y="958538"/>
            <a:ext cx="243614" cy="1580944"/>
          </a:xfrm>
          <a:prstGeom prst="frame">
            <a:avLst>
              <a:gd name="adj1" fmla="val 29688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8B6604-50AA-9EF4-AF59-7247C00A8158}"/>
              </a:ext>
            </a:extLst>
          </p:cNvPr>
          <p:cNvSpPr txBox="1"/>
          <p:nvPr/>
        </p:nvSpPr>
        <p:spPr>
          <a:xfrm>
            <a:off x="581761" y="3009480"/>
            <a:ext cx="3906814" cy="35548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stream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TcpStream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connect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unwrap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NUM_CLIENTS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fetch_add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Ordering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Relaxed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게임 준비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ready_client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ReadyClient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ready_client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connected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Ordering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게임 시작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InGameClient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token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reader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writer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packet_parser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connected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Ordering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C39FF90-314A-531E-35B3-54767F3303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813" y="5897413"/>
            <a:ext cx="3629973" cy="49176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D43AF69-DA87-ED46-E400-3DF07A77E299}"/>
              </a:ext>
            </a:extLst>
          </p:cNvPr>
          <p:cNvSpPr txBox="1"/>
          <p:nvPr/>
        </p:nvSpPr>
        <p:spPr>
          <a:xfrm>
            <a:off x="581761" y="2778648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스트레스 테스트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E94A59C-6987-B869-1171-26F9303505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04448"/>
              </p:ext>
            </p:extLst>
          </p:nvPr>
        </p:nvGraphicFramePr>
        <p:xfrm>
          <a:off x="8419024" y="5703374"/>
          <a:ext cx="2817834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1688">
                  <a:extLst>
                    <a:ext uri="{9D8B030D-6E8A-4147-A177-3AD203B41FA5}">
                      <a16:colId xmlns:a16="http://schemas.microsoft.com/office/drawing/2014/main" val="656588349"/>
                    </a:ext>
                  </a:extLst>
                </a:gridCol>
                <a:gridCol w="2026146">
                  <a:extLst>
                    <a:ext uri="{9D8B030D-6E8A-4147-A177-3AD203B41FA5}">
                      <a16:colId xmlns:a16="http://schemas.microsoft.com/office/drawing/2014/main" val="3703535132"/>
                    </a:ext>
                  </a:extLst>
                </a:gridCol>
              </a:tblGrid>
              <a:tr h="2194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CPU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Intel Core i5-12400F (4000MHz)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1312894"/>
                  </a:ext>
                </a:extLst>
              </a:tr>
              <a:tr h="2194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Memory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32GB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(DDR4-3200MHz)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949460"/>
                  </a:ext>
                </a:extLst>
              </a:tr>
              <a:tr h="21946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최대 동접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약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600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71297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11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A2362-FCE1-0373-4BDF-2C2CB4F4C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B51167-B426-C889-3C39-0EEFD9DF5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4EEBD-3AAC-2442-92C0-E396D624E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4812323"/>
            <a:ext cx="5655208" cy="1798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9F7D884-F6C2-EB58-B8A3-5F1E06EAD2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197743"/>
              </p:ext>
            </p:extLst>
          </p:nvPr>
        </p:nvGraphicFramePr>
        <p:xfrm>
          <a:off x="5797062" y="1586362"/>
          <a:ext cx="5594114" cy="32420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9702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034412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IOCP</a:t>
                      </a:r>
                      <a:r>
                        <a:rPr lang="ko-KR" altLang="en-US" sz="1100" dirty="0"/>
                        <a:t>를 이용한 </a:t>
                      </a:r>
                      <a:r>
                        <a:rPr lang="en-US" altLang="ko-KR" sz="1100" dirty="0"/>
                        <a:t>MMORPG</a:t>
                      </a:r>
                      <a:r>
                        <a:rPr lang="ko-KR" altLang="en-US" sz="1100" dirty="0"/>
                        <a:t>서버 제작 실습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IOCP</a:t>
                      </a:r>
                      <a:r>
                        <a:rPr lang="ko-KR" altLang="en-US" sz="1100" dirty="0"/>
                        <a:t> 학습</a:t>
                      </a:r>
                      <a:r>
                        <a:rPr lang="en-US" altLang="ko-KR" sz="1100" dirty="0"/>
                        <a:t>, DB</a:t>
                      </a:r>
                      <a:r>
                        <a:rPr lang="ko-KR" altLang="en-US" sz="1100" dirty="0"/>
                        <a:t>연동 및 </a:t>
                      </a:r>
                      <a:r>
                        <a:rPr lang="en-US" altLang="ko-KR" sz="1100" dirty="0"/>
                        <a:t>Lua</a:t>
                      </a:r>
                      <a:r>
                        <a:rPr lang="ko-KR" altLang="en-US" sz="1100" dirty="0"/>
                        <a:t>연동 학습</a:t>
                      </a:r>
                      <a:r>
                        <a:rPr lang="en-US" altLang="ko-KR" sz="1100" dirty="0"/>
                        <a:t>, MMORPG</a:t>
                      </a:r>
                      <a:r>
                        <a:rPr lang="ko-KR" altLang="en-US" sz="1100" dirty="0"/>
                        <a:t>서버의 </a:t>
                      </a:r>
                      <a:br>
                        <a:rPr lang="en-US" altLang="ko-KR" sz="1100" dirty="0"/>
                      </a:br>
                      <a:r>
                        <a:rPr lang="ko-KR" altLang="en-US" sz="1100" dirty="0"/>
                        <a:t>최적화 기법 학습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Multithread IOCP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Lua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Script</a:t>
                      </a:r>
                      <a:r>
                        <a:rPr lang="ko-KR" altLang="en-US" sz="1100" dirty="0"/>
                        <a:t>로 몬스터 </a:t>
                      </a:r>
                      <a:r>
                        <a:rPr lang="en-US" altLang="ko-KR" sz="1100" dirty="0"/>
                        <a:t>AI </a:t>
                      </a:r>
                      <a:r>
                        <a:rPr lang="ko-KR" altLang="en-US" sz="1100" dirty="0"/>
                        <a:t>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MSSQL</a:t>
                      </a:r>
                      <a:r>
                        <a:rPr lang="ko-KR" altLang="en-US" sz="1100" dirty="0"/>
                        <a:t> 연결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플레이어 데이터 저장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Sector</a:t>
                      </a:r>
                      <a:r>
                        <a:rPr lang="ko-KR" altLang="en-US" sz="1100" dirty="0"/>
                        <a:t> 최적화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시야처리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Python</a:t>
                      </a:r>
                      <a:r>
                        <a:rPr lang="ko-KR" altLang="en-US" sz="1100" dirty="0"/>
                        <a:t>을 활용하여 지형 제작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2000x2000 </a:t>
                      </a:r>
                      <a:r>
                        <a:rPr lang="ko-KR" altLang="en-US" sz="1100" dirty="0"/>
                        <a:t>크기의 월드에 </a:t>
                      </a:r>
                      <a:r>
                        <a:rPr lang="en-US" altLang="ko-KR" sz="1100" dirty="0"/>
                        <a:t>20</a:t>
                      </a:r>
                      <a:r>
                        <a:rPr lang="ko-KR" altLang="en-US" sz="1100" dirty="0"/>
                        <a:t>만 마리의 몬스터가 존재할 때 최대 </a:t>
                      </a:r>
                      <a:r>
                        <a:rPr lang="en-US" altLang="ko-KR" sz="1100" dirty="0"/>
                        <a:t>5000</a:t>
                      </a:r>
                      <a:r>
                        <a:rPr lang="ko-KR" altLang="en-US" sz="1100" dirty="0"/>
                        <a:t>명의 플레이어가 접속할 수 있도록 하는 것을 목표로 개발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808111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C++20, </a:t>
                      </a:r>
                      <a:r>
                        <a:rPr lang="en-US" altLang="ko-KR" sz="1100" b="1" dirty="0"/>
                        <a:t>Multithread</a:t>
                      </a:r>
                      <a:r>
                        <a:rPr lang="en-US" altLang="ko-KR" sz="1100" dirty="0"/>
                        <a:t>, </a:t>
                      </a:r>
                      <a:r>
                        <a:rPr lang="en-US" altLang="ko-KR" sz="1100" b="1" dirty="0"/>
                        <a:t>IOCP</a:t>
                      </a:r>
                      <a:r>
                        <a:rPr lang="en-US" altLang="ko-KR" sz="1100" dirty="0"/>
                        <a:t>, Lua Script, </a:t>
                      </a:r>
                    </a:p>
                    <a:p>
                      <a:pPr latinLnBrk="1"/>
                      <a:r>
                        <a:rPr lang="en-US" altLang="ko-KR" sz="1100" dirty="0"/>
                        <a:t>MSSQL, Stored Procedure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2025.05 ~ 2025.06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2"/>
                        </a:rPr>
                        <a:t>https://github.com/Jirung-E/GameServer_final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43F88216-A4BB-3FD2-5AA8-605777C28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0" y="1586362"/>
            <a:ext cx="4196002" cy="41927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4579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D7C49-3416-0B3B-7F82-8FAF2B06F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9722D91-CDAB-25E5-F295-6167DE455D86}"/>
              </a:ext>
            </a:extLst>
          </p:cNvPr>
          <p:cNvSpPr txBox="1"/>
          <p:nvPr/>
        </p:nvSpPr>
        <p:spPr>
          <a:xfrm>
            <a:off x="6096000" y="708716"/>
            <a:ext cx="5751698" cy="27238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GetQueuedCompletionStatus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h_iocp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num_bytes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INFINITE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OverlappedEx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ex_over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reinterpret_cast&lt;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OverlappedEx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ex_over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io_op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Accept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LoginOk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LoginFail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NewPlayer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NpcMove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405365-B964-EF46-A835-B7C7FDAB5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164F46-A50E-7188-C5F4-3C75EC3B6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49" y="1300614"/>
            <a:ext cx="5357749" cy="24519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서버 구조</a:t>
            </a:r>
            <a:endParaRPr lang="en-US" altLang="ko-KR" sz="1100" dirty="0"/>
          </a:p>
          <a:p>
            <a:pPr marL="0" indent="0">
              <a:buNone/>
            </a:pPr>
            <a:r>
              <a:rPr lang="en-US" altLang="ko-KR" sz="1000" b="1" dirty="0"/>
              <a:t>Worker Thread</a:t>
            </a:r>
            <a:r>
              <a:rPr lang="en-US" altLang="ko-KR" sz="1000" dirty="0"/>
              <a:t>, </a:t>
            </a:r>
            <a:r>
              <a:rPr lang="en-US" altLang="ko-KR" sz="1000" b="1" dirty="0"/>
              <a:t>DB Thread</a:t>
            </a:r>
            <a:r>
              <a:rPr lang="en-US" altLang="ko-KR" sz="1000" dirty="0"/>
              <a:t>, </a:t>
            </a:r>
            <a:r>
              <a:rPr lang="en-US" altLang="ko-KR" sz="1000" b="1" dirty="0"/>
              <a:t>AI Thread</a:t>
            </a:r>
            <a:r>
              <a:rPr lang="ko-KR" altLang="en-US" sz="1000" dirty="0"/>
              <a:t>로 구성되어 있으며</a:t>
            </a:r>
            <a:r>
              <a:rPr lang="en-US" altLang="ko-KR" sz="1000" dirty="0"/>
              <a:t>, </a:t>
            </a:r>
            <a:r>
              <a:rPr lang="ko-KR" altLang="en-US" sz="1000" dirty="0"/>
              <a:t>각 쓰레드는 </a:t>
            </a:r>
            <a:r>
              <a:rPr lang="en-US" altLang="ko-KR" sz="1000" dirty="0"/>
              <a:t>concurrenct_queue</a:t>
            </a:r>
            <a:r>
              <a:rPr lang="ko-KR" altLang="en-US" sz="1000" dirty="0"/>
              <a:t>와 </a:t>
            </a:r>
            <a:r>
              <a:rPr lang="en-US" altLang="ko-KR" sz="1000" dirty="0"/>
              <a:t>PostQueuedCompletionStatus</a:t>
            </a:r>
            <a:r>
              <a:rPr lang="ko-KR" altLang="en-US" sz="1000" dirty="0"/>
              <a:t>등을 이용하여 통신한다</a:t>
            </a:r>
            <a:r>
              <a:rPr lang="en-US" altLang="ko-KR" sz="1000" dirty="0"/>
              <a:t>. </a:t>
            </a:r>
            <a:br>
              <a:rPr lang="en-US" altLang="ko-KR" sz="1000" dirty="0"/>
            </a:br>
            <a:r>
              <a:rPr lang="en-US" altLang="ko-KR" sz="1000" dirty="0"/>
              <a:t>DB Thread</a:t>
            </a:r>
            <a:r>
              <a:rPr lang="ko-KR" altLang="en-US" sz="1000" dirty="0"/>
              <a:t>와 </a:t>
            </a:r>
            <a:r>
              <a:rPr lang="en-US" altLang="ko-KR" sz="1000" dirty="0"/>
              <a:t>AI Thread</a:t>
            </a:r>
            <a:r>
              <a:rPr lang="ko-KR" altLang="en-US" sz="1000" dirty="0"/>
              <a:t>는 </a:t>
            </a:r>
            <a:r>
              <a:rPr lang="en-US" altLang="ko-KR" sz="1000" dirty="0"/>
              <a:t>1</a:t>
            </a:r>
            <a:r>
              <a:rPr lang="ko-KR" altLang="en-US" sz="1000" dirty="0"/>
              <a:t>개씩 생성하고</a:t>
            </a:r>
            <a:r>
              <a:rPr lang="en-US" altLang="ko-KR" sz="1000" dirty="0"/>
              <a:t>, Worker Thread</a:t>
            </a:r>
            <a:r>
              <a:rPr lang="ko-KR" altLang="en-US" sz="1000" dirty="0"/>
              <a:t>는 코어 수 </a:t>
            </a:r>
            <a:r>
              <a:rPr lang="en-US" altLang="ko-KR" sz="1000" dirty="0"/>
              <a:t>- 2</a:t>
            </a:r>
            <a:r>
              <a:rPr lang="ko-KR" altLang="en-US" sz="1000" dirty="0"/>
              <a:t>개 만큼 생성한다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b="1" dirty="0"/>
              <a:t>Worker Thread</a:t>
            </a:r>
            <a:r>
              <a:rPr lang="ko-KR" altLang="en-US" sz="1000" dirty="0"/>
              <a:t>는 서버의 메인 로직을 수행한다</a:t>
            </a:r>
            <a:r>
              <a:rPr lang="en-US" altLang="ko-KR" sz="1000" dirty="0"/>
              <a:t>. Send/Recv </a:t>
            </a:r>
            <a:r>
              <a:rPr lang="ko-KR" altLang="en-US" sz="1000" dirty="0"/>
              <a:t>뿐 아니라 </a:t>
            </a:r>
            <a:br>
              <a:rPr lang="en-US" altLang="ko-KR" sz="1000" dirty="0"/>
            </a:br>
            <a:r>
              <a:rPr lang="ko-KR" altLang="en-US" sz="1000" dirty="0"/>
              <a:t>다른 쓰레드에서 </a:t>
            </a:r>
            <a:r>
              <a:rPr lang="en-US" altLang="ko-KR" sz="1000" dirty="0"/>
              <a:t>PostQueuedCompletionStatus</a:t>
            </a:r>
            <a:r>
              <a:rPr lang="ko-KR" altLang="en-US" sz="1000" dirty="0"/>
              <a:t>로 요청한 작업도 처리한다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b="1" dirty="0"/>
              <a:t>DB Thread</a:t>
            </a:r>
            <a:r>
              <a:rPr lang="ko-KR" altLang="en-US" sz="1000" dirty="0"/>
              <a:t>는 </a:t>
            </a:r>
            <a:r>
              <a:rPr lang="en-US" altLang="ko-KR" sz="1000" dirty="0"/>
              <a:t>concurrent_queue</a:t>
            </a:r>
            <a:r>
              <a:rPr lang="ko-KR" altLang="en-US" sz="1000" dirty="0"/>
              <a:t>를 통해 다른 쓰레드로부터 </a:t>
            </a:r>
            <a:r>
              <a:rPr lang="en-US" altLang="ko-KR" sz="1000" dirty="0"/>
              <a:t>DB </a:t>
            </a:r>
            <a:r>
              <a:rPr lang="ko-KR" altLang="en-US" sz="1000" dirty="0"/>
              <a:t>요청을 수신하고 </a:t>
            </a:r>
            <a:br>
              <a:rPr lang="en-US" altLang="ko-KR" sz="1000" dirty="0"/>
            </a:br>
            <a:r>
              <a:rPr lang="ko-KR" altLang="en-US" sz="1000" dirty="0"/>
              <a:t>처리한다</a:t>
            </a:r>
            <a:r>
              <a:rPr lang="en-US" altLang="ko-KR" sz="1000" dirty="0"/>
              <a:t>. </a:t>
            </a:r>
            <a:r>
              <a:rPr lang="ko-KR" altLang="en-US" sz="1000" dirty="0"/>
              <a:t>필요한 경우 </a:t>
            </a:r>
            <a:r>
              <a:rPr lang="en-US" altLang="ko-KR" sz="1000" dirty="0"/>
              <a:t>PostQueuedCompletionStatus</a:t>
            </a:r>
            <a:r>
              <a:rPr lang="ko-KR" altLang="en-US" sz="1000" dirty="0"/>
              <a:t>를 호출하여 </a:t>
            </a:r>
            <a:r>
              <a:rPr lang="en-US" altLang="ko-KR" sz="1000" dirty="0"/>
              <a:t>Worker Thread</a:t>
            </a:r>
            <a:r>
              <a:rPr lang="ko-KR" altLang="en-US" sz="1000" dirty="0"/>
              <a:t>로 </a:t>
            </a:r>
            <a:br>
              <a:rPr lang="en-US" altLang="ko-KR" sz="1000" dirty="0"/>
            </a:br>
            <a:r>
              <a:rPr lang="ko-KR" altLang="en-US" sz="1000" dirty="0"/>
              <a:t>결과를 전송한다</a:t>
            </a:r>
            <a:r>
              <a:rPr lang="en-US" altLang="ko-KR" sz="1000" dirty="0"/>
              <a:t>. </a:t>
            </a:r>
          </a:p>
          <a:p>
            <a:pPr>
              <a:buFontTx/>
              <a:buChar char="-"/>
            </a:pPr>
            <a:r>
              <a:rPr lang="en-US" altLang="ko-KR" sz="1000" b="1" dirty="0"/>
              <a:t>AI Thread</a:t>
            </a:r>
            <a:r>
              <a:rPr lang="ko-KR" altLang="en-US" sz="1000" dirty="0"/>
              <a:t>는 </a:t>
            </a:r>
            <a:r>
              <a:rPr lang="en-US" altLang="ko-KR" sz="1000" dirty="0"/>
              <a:t>concurrent_priority_queue</a:t>
            </a:r>
            <a:r>
              <a:rPr lang="ko-KR" altLang="en-US" sz="1000" dirty="0"/>
              <a:t>를 통해 다른 쓰레드로부터 </a:t>
            </a:r>
            <a:r>
              <a:rPr lang="en-US" altLang="ko-KR" sz="1000" dirty="0"/>
              <a:t>AI </a:t>
            </a:r>
            <a:r>
              <a:rPr lang="ko-KR" altLang="en-US" sz="1000" dirty="0"/>
              <a:t>업데이트 요청을 수신하고</a:t>
            </a:r>
            <a:r>
              <a:rPr lang="en-US" altLang="ko-KR" sz="1000" dirty="0"/>
              <a:t>, </a:t>
            </a:r>
            <a:r>
              <a:rPr lang="ko-KR" altLang="en-US" sz="1000" dirty="0"/>
              <a:t>시간에 맞춰 </a:t>
            </a:r>
            <a:r>
              <a:rPr lang="en-US" altLang="ko-KR" sz="1000" dirty="0"/>
              <a:t>Worker Thread</a:t>
            </a:r>
            <a:r>
              <a:rPr lang="ko-KR" altLang="en-US" sz="1000" dirty="0"/>
              <a:t>로 전송한다</a:t>
            </a:r>
            <a:r>
              <a:rPr lang="en-US" altLang="ko-KR" sz="10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177CA4-70BA-0793-F1C1-24D77B5292EB}"/>
              </a:ext>
            </a:extLst>
          </p:cNvPr>
          <p:cNvSpPr txBox="1"/>
          <p:nvPr/>
        </p:nvSpPr>
        <p:spPr>
          <a:xfrm>
            <a:off x="3564495" y="3816852"/>
            <a:ext cx="5136161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npcAiLoop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h_iocp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ai_event_queue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try_pop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wakeup_time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ai_event_queue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RunAI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10ms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A5FA3E-0C7D-589F-55FC-7834E420424F}"/>
              </a:ext>
            </a:extLst>
          </p:cNvPr>
          <p:cNvSpPr txBox="1"/>
          <p:nvPr/>
        </p:nvSpPr>
        <p:spPr>
          <a:xfrm>
            <a:off x="9363684" y="1492350"/>
            <a:ext cx="2323612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OverlappedEx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WSAOVERLAPPED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overlapped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io_op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accept_socket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WSABUF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wsabuf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buffer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BUF_SIZE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753E7-2359-DCD6-AF82-BBBD7901DA42}"/>
              </a:ext>
            </a:extLst>
          </p:cNvPr>
          <p:cNvSpPr txBox="1"/>
          <p:nvPr/>
        </p:nvSpPr>
        <p:spPr>
          <a:xfrm>
            <a:off x="308673" y="4496523"/>
            <a:ext cx="3111336" cy="161582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try_pop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request_type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AA7E7-8205-B94D-FF9A-4D35C3050C4A}"/>
              </a:ext>
            </a:extLst>
          </p:cNvPr>
          <p:cNvSpPr txBox="1"/>
          <p:nvPr/>
        </p:nvSpPr>
        <p:spPr>
          <a:xfrm>
            <a:off x="6096000" y="47589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Worker Thread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B7548A-AE50-011E-2E0B-373A21611A8B}"/>
              </a:ext>
            </a:extLst>
          </p:cNvPr>
          <p:cNvSpPr txBox="1"/>
          <p:nvPr/>
        </p:nvSpPr>
        <p:spPr>
          <a:xfrm>
            <a:off x="3564494" y="3586020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AI Thread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9BDA69-4FA8-6BD6-E21B-F4309F96770B}"/>
              </a:ext>
            </a:extLst>
          </p:cNvPr>
          <p:cNvSpPr txBox="1"/>
          <p:nvPr/>
        </p:nvSpPr>
        <p:spPr>
          <a:xfrm>
            <a:off x="308673" y="426569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DB Thread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9FFBA7-95D5-02B8-36A0-A4142657C99F}"/>
              </a:ext>
            </a:extLst>
          </p:cNvPr>
          <p:cNvSpPr txBox="1"/>
          <p:nvPr/>
        </p:nvSpPr>
        <p:spPr>
          <a:xfrm>
            <a:off x="7139051" y="4992276"/>
            <a:ext cx="4602681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obj_id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time_point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wakeup_time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event_id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target_id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AiEventParameters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wakeup_time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other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wakeup_time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4644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74550-D06B-DE99-8FC5-23336BA92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18C3565-8857-3216-CE09-B9680597A071}"/>
              </a:ext>
            </a:extLst>
          </p:cNvPr>
          <p:cNvSpPr txBox="1"/>
          <p:nvPr/>
        </p:nvSpPr>
        <p:spPr>
          <a:xfrm>
            <a:off x="577851" y="3049069"/>
            <a:ext cx="5069055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알파벳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숫자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언더바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(_)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만 허용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isalnum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'_'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sc_packet_login_fail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lfp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doSend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lfp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dirty="0">
              <a:solidFill>
                <a:srgbClr val="949CB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endParaRPr lang="en-US" altLang="ko-KR" sz="900" dirty="0">
              <a:solidFill>
                <a:srgbClr val="949CB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req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db_connection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81FB145-626E-4862-9783-5F301B78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D18CCF-B757-90E6-0984-83AE200DC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300614"/>
            <a:ext cx="11036300" cy="11079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b="1" dirty="0"/>
              <a:t>DB</a:t>
            </a:r>
          </a:p>
          <a:p>
            <a:pPr>
              <a:buFontTx/>
              <a:buChar char="-"/>
            </a:pPr>
            <a:r>
              <a:rPr lang="en-US" altLang="ko-KR" sz="1000" b="1" dirty="0"/>
              <a:t>SQL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Injection</a:t>
            </a:r>
            <a:r>
              <a:rPr lang="ko-KR" altLang="en-US" sz="1000" dirty="0"/>
              <a:t>을 방지하기 위해 클라이언트로 부터 받는 아이디에서 특수문자를 필터링한다</a:t>
            </a:r>
            <a:r>
              <a:rPr lang="en-US" altLang="ko-KR" sz="1000" dirty="0"/>
              <a:t>. </a:t>
            </a:r>
            <a:r>
              <a:rPr lang="ko-KR" altLang="en-US" sz="1000" dirty="0"/>
              <a:t>적합한 </a:t>
            </a:r>
            <a:r>
              <a:rPr lang="en-US" altLang="ko-KR" sz="1000" dirty="0"/>
              <a:t>ID</a:t>
            </a:r>
            <a:r>
              <a:rPr lang="ko-KR" altLang="en-US" sz="1000" dirty="0"/>
              <a:t>라면 </a:t>
            </a:r>
            <a:r>
              <a:rPr lang="en-US" altLang="ko-KR" sz="1000" dirty="0"/>
              <a:t>DB</a:t>
            </a:r>
            <a:r>
              <a:rPr lang="ko-KR" altLang="en-US" sz="1000" dirty="0"/>
              <a:t>에 유저 정보를 요청한다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dirty="0"/>
              <a:t>MSSQL</a:t>
            </a:r>
            <a:r>
              <a:rPr lang="ko-KR" altLang="en-US" sz="1000" dirty="0"/>
              <a:t>의 </a:t>
            </a:r>
            <a:r>
              <a:rPr lang="en-US" altLang="ko-KR" sz="1000" b="1" dirty="0"/>
              <a:t>Stored Procedure</a:t>
            </a:r>
            <a:r>
              <a:rPr lang="ko-KR" altLang="en-US" sz="1000" dirty="0"/>
              <a:t>를 이용하여 플레이어 데이터 로드</a:t>
            </a:r>
            <a:r>
              <a:rPr lang="en-US" altLang="ko-KR" sz="1000" dirty="0"/>
              <a:t>, </a:t>
            </a:r>
            <a:r>
              <a:rPr lang="ko-KR" altLang="en-US" sz="1000" dirty="0"/>
              <a:t>저장</a:t>
            </a:r>
            <a:r>
              <a:rPr lang="en-US" altLang="ko-KR" sz="1000" dirty="0"/>
              <a:t>, </a:t>
            </a:r>
            <a:r>
              <a:rPr lang="ko-KR" altLang="en-US" sz="1000" dirty="0"/>
              <a:t>새로운 플레이어 추가 작업을 수행한다</a:t>
            </a:r>
            <a:r>
              <a:rPr lang="en-US" altLang="ko-KR" sz="1000" dirty="0"/>
              <a:t>.</a:t>
            </a:r>
            <a:endParaRPr lang="en-US" altLang="ko-KR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25D1B9-7F38-3FA4-AAC9-CB30CF574B57}"/>
              </a:ext>
            </a:extLst>
          </p:cNvPr>
          <p:cNvSpPr txBox="1"/>
          <p:nvPr/>
        </p:nvSpPr>
        <p:spPr>
          <a:xfrm>
            <a:off x="4050488" y="3225832"/>
            <a:ext cx="1995808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request_type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obj_id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2BD995-75A8-6630-DB08-AAEB1C97AAF6}"/>
              </a:ext>
            </a:extLst>
          </p:cNvPr>
          <p:cNvSpPr txBox="1"/>
          <p:nvPr/>
        </p:nvSpPr>
        <p:spPr>
          <a:xfrm>
            <a:off x="6295695" y="3049069"/>
            <a:ext cx="5069055" cy="27238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name_len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wstring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name_wstr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name_len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wstring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query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L"EXEC store_data </a:t>
            </a:r>
            <a:r>
              <a:rPr lang="en-US" altLang="ko-KR" sz="900" b="0" dirty="0">
                <a:solidFill>
                  <a:srgbClr val="F4B8E4"/>
                </a:solidFill>
                <a:effectLst/>
                <a:latin typeface="Consolas" panose="020B0609020204030204" pitchFamily="49" charset="0"/>
              </a:rPr>
              <a:t>\'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{:{}}</a:t>
            </a:r>
            <a:r>
              <a:rPr lang="en-US" altLang="ko-KR" sz="900" b="0" dirty="0">
                <a:solidFill>
                  <a:srgbClr val="F4B8E4"/>
                </a:solidFill>
                <a:effectLst/>
                <a:latin typeface="Consolas" panose="020B0609020204030204" pitchFamily="49" charset="0"/>
              </a:rPr>
              <a:t>\'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, {}, {}, {}, {}, {}"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name_wstr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static_cast&lt;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MAX_ID_LENGTH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level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exp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retcode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SQLExecDirect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hstmt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query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retcode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SQL_SUCCESS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retcode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SQL_SUCCESS_WITH_INFO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HandleDiagnosticRecord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hstmt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SQL_HANDLE_STMT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retcode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632DF-0C70-51D6-1323-952A9A1BCAA4}"/>
              </a:ext>
            </a:extLst>
          </p:cNvPr>
          <p:cNvSpPr txBox="1"/>
          <p:nvPr/>
        </p:nvSpPr>
        <p:spPr>
          <a:xfrm>
            <a:off x="6295695" y="281823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Stored Procedure </a:t>
            </a:r>
            <a:r>
              <a:rPr lang="ko-KR" altLang="en-US" sz="900" dirty="0">
                <a:solidFill>
                  <a:schemeClr val="bg1"/>
                </a:solidFill>
              </a:rPr>
              <a:t>호출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F265A9-392A-C99E-7646-72B9A4435164}"/>
              </a:ext>
            </a:extLst>
          </p:cNvPr>
          <p:cNvSpPr txBox="1"/>
          <p:nvPr/>
        </p:nvSpPr>
        <p:spPr>
          <a:xfrm>
            <a:off x="577850" y="281823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특수문자 필터링</a:t>
            </a:r>
          </a:p>
        </p:txBody>
      </p:sp>
    </p:spTree>
    <p:extLst>
      <p:ext uri="{BB962C8B-B14F-4D97-AF65-F5344CB8AC3E}">
        <p14:creationId xmlns:p14="http://schemas.microsoft.com/office/powerpoint/2010/main" val="2264760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F22CB-B41A-7ACB-1FD1-71E123122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F330FF-C803-CD40-F4DF-E26649EF2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65BA3A-96DA-506C-1AB9-355143E08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0785" y="1300613"/>
            <a:ext cx="5783364" cy="2641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b="1" dirty="0"/>
              <a:t>AI</a:t>
            </a:r>
          </a:p>
          <a:p>
            <a:pPr>
              <a:buFontTx/>
              <a:buChar char="-"/>
            </a:pPr>
            <a:r>
              <a:rPr lang="en-US" altLang="ko-KR" sz="1000" dirty="0"/>
              <a:t>AI</a:t>
            </a:r>
            <a:r>
              <a:rPr lang="ko-KR" altLang="en-US" sz="1000" dirty="0"/>
              <a:t>는 활성화되면 </a:t>
            </a:r>
            <a:r>
              <a:rPr lang="en-US" altLang="ko-KR" sz="1000" b="1" dirty="0"/>
              <a:t>Lua Script</a:t>
            </a:r>
            <a:r>
              <a:rPr lang="ko-KR" altLang="en-US" sz="1000" dirty="0"/>
              <a:t>로 정의된 동작을 수행하고 </a:t>
            </a:r>
            <a:r>
              <a:rPr lang="en-US" altLang="ko-KR" sz="1000" dirty="0"/>
              <a:t>concurrent_priority_queue</a:t>
            </a:r>
            <a:r>
              <a:rPr lang="ko-KR" altLang="en-US" sz="1000" dirty="0"/>
              <a:t>를 통해 </a:t>
            </a:r>
            <a:br>
              <a:rPr lang="en-US" altLang="ko-KR" sz="1000" dirty="0"/>
            </a:br>
            <a:r>
              <a:rPr lang="en-US" altLang="ko-KR" sz="1000" dirty="0"/>
              <a:t>NPC Thread</a:t>
            </a:r>
            <a:r>
              <a:rPr lang="ko-KR" altLang="en-US" sz="1000" dirty="0"/>
              <a:t>에 </a:t>
            </a:r>
            <a:r>
              <a:rPr lang="en-US" altLang="ko-KR" sz="1000" dirty="0"/>
              <a:t>1</a:t>
            </a:r>
            <a:r>
              <a:rPr lang="ko-KR" altLang="en-US" sz="1000" dirty="0"/>
              <a:t>초 후에 다시 </a:t>
            </a:r>
            <a:r>
              <a:rPr lang="en-US" altLang="ko-KR" sz="1000" dirty="0"/>
              <a:t>runAI</a:t>
            </a:r>
            <a:r>
              <a:rPr lang="ko-KR" altLang="en-US" sz="1000" dirty="0"/>
              <a:t>를 호출해줄 것을 요청한다</a:t>
            </a:r>
            <a:r>
              <a:rPr lang="en-US" altLang="ko-KR" sz="1000" dirty="0"/>
              <a:t>. </a:t>
            </a:r>
          </a:p>
          <a:p>
            <a:pPr>
              <a:buFontTx/>
              <a:buChar char="-"/>
            </a:pPr>
            <a:r>
              <a:rPr lang="en-US" altLang="ko-KR" sz="1000" dirty="0"/>
              <a:t>Lua Script</a:t>
            </a:r>
            <a:r>
              <a:rPr lang="ko-KR" altLang="en-US" sz="1000" dirty="0"/>
              <a:t>에서 성능이 필요한 작업이나 </a:t>
            </a:r>
            <a:r>
              <a:rPr lang="en-US" altLang="ko-KR" sz="1000" dirty="0"/>
              <a:t>IO</a:t>
            </a:r>
            <a:r>
              <a:rPr lang="ko-KR" altLang="en-US" sz="1000" dirty="0"/>
              <a:t>작업은 사전에 등록한 </a:t>
            </a:r>
            <a:r>
              <a:rPr lang="en-US" altLang="ko-KR" sz="1000" dirty="0"/>
              <a:t>C </a:t>
            </a:r>
            <a:r>
              <a:rPr lang="ko-KR" altLang="en-US" sz="1000" dirty="0"/>
              <a:t>함수를 통해 호출한다</a:t>
            </a:r>
            <a:r>
              <a:rPr lang="en-US" altLang="ko-KR" sz="1000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DDCEE7-F892-D581-E36A-28A9346A2DE8}"/>
              </a:ext>
            </a:extLst>
          </p:cNvPr>
          <p:cNvSpPr txBox="1"/>
          <p:nvPr/>
        </p:nvSpPr>
        <p:spPr>
          <a:xfrm>
            <a:off x="577850" y="1642613"/>
            <a:ext cx="5037364" cy="480131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    // lua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스크립트 실행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lua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duration_cast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milliseconds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&gt;(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time_since_epoch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lua_getglobal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"aiUpdate"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lua_newtable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p_id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near_players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lua_rawseti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static_cast&lt;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lua_Number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lua_pcall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LUA_OK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fprintf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stderr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"Lua error: %s</a:t>
            </a:r>
            <a:r>
              <a:rPr lang="en-US" altLang="ko-KR" sz="900" b="0" dirty="0">
                <a:solidFill>
                  <a:srgbClr val="F4B8E4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lua_tostring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 // pop error message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is_active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        // 1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초 뒤 다시 </a:t>
            </a: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runAI()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호출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postMsg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RunAI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51C518-0980-DE15-F7AD-1BB15CA1E30A}"/>
              </a:ext>
            </a:extLst>
          </p:cNvPr>
          <p:cNvSpPr txBox="1"/>
          <p:nvPr/>
        </p:nvSpPr>
        <p:spPr>
          <a:xfrm>
            <a:off x="577850" y="141178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Lua </a:t>
            </a:r>
            <a:r>
              <a:rPr lang="ko-KR" altLang="en-US" sz="900" dirty="0">
                <a:solidFill>
                  <a:schemeClr val="bg1"/>
                </a:solidFill>
              </a:rPr>
              <a:t>스크립트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09084-F3C6-8A0D-AF03-B2DE0615F927}"/>
              </a:ext>
            </a:extLst>
          </p:cNvPr>
          <p:cNvSpPr txBox="1"/>
          <p:nvPr/>
        </p:nvSpPr>
        <p:spPr>
          <a:xfrm>
            <a:off x="3094553" y="4958787"/>
            <a:ext cx="4386201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ChronoDuration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postMsg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delay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target_id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ai_event_queue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AiEventParameters {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delay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target_id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}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D7FC33-3B36-92CA-8894-B43125D9A403}"/>
              </a:ext>
            </a:extLst>
          </p:cNvPr>
          <p:cNvSpPr txBox="1"/>
          <p:nvPr/>
        </p:nvSpPr>
        <p:spPr>
          <a:xfrm>
            <a:off x="7847609" y="4404789"/>
            <a:ext cx="3356758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aiUpdate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near_players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(target_id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nil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then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move_dir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getRandomDirection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API_move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(myid, move_dir.x, move_dir.y);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API_moveTo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(myid, target_x, target_y);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API_sendMessage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(myid, target_id,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"CHASE"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00C4FE-3FBA-79B5-CEF1-625F757CC9B2}"/>
              </a:ext>
            </a:extLst>
          </p:cNvPr>
          <p:cNvSpPr txBox="1"/>
          <p:nvPr/>
        </p:nvSpPr>
        <p:spPr>
          <a:xfrm>
            <a:off x="7847608" y="417395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Lua</a:t>
            </a:r>
            <a:r>
              <a:rPr lang="ko-KR" altLang="en-US" sz="900" dirty="0">
                <a:solidFill>
                  <a:schemeClr val="bg1"/>
                </a:solidFill>
              </a:rPr>
              <a:t>에서 </a:t>
            </a:r>
            <a:r>
              <a:rPr lang="en-US" altLang="ko-KR" sz="900" dirty="0">
                <a:solidFill>
                  <a:schemeClr val="bg1"/>
                </a:solidFill>
              </a:rPr>
              <a:t>C</a:t>
            </a:r>
            <a:r>
              <a:rPr lang="ko-KR" altLang="en-US" sz="900" dirty="0">
                <a:solidFill>
                  <a:schemeClr val="bg1"/>
                </a:solidFill>
              </a:rPr>
              <a:t>함수 호출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3DAE23-514F-98FD-281A-A310D5E1B454}"/>
              </a:ext>
            </a:extLst>
          </p:cNvPr>
          <p:cNvSpPr txBox="1"/>
          <p:nvPr/>
        </p:nvSpPr>
        <p:spPr>
          <a:xfrm>
            <a:off x="6286005" y="2649689"/>
            <a:ext cx="3588328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"API_getX"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lua_getX);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"API_getY"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lua_getY);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"API_move"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lua_move);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"API_moveTo"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lua_moveTo);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"API_attack"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lua_attack);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"API_getHp"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lua_getHp);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"API_reset"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lua_reset);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"API_setPosition"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lua_setPosition);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"API_sendMessage"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lua_sendMessage);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135642-8925-5AA8-0FF3-989CA03981E5}"/>
              </a:ext>
            </a:extLst>
          </p:cNvPr>
          <p:cNvSpPr txBox="1"/>
          <p:nvPr/>
        </p:nvSpPr>
        <p:spPr>
          <a:xfrm>
            <a:off x="6286004" y="241885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사전에 등록한 </a:t>
            </a:r>
            <a:r>
              <a:rPr lang="en-US" altLang="ko-KR" sz="900" dirty="0">
                <a:solidFill>
                  <a:schemeClr val="bg1"/>
                </a:solidFill>
              </a:rPr>
              <a:t>C </a:t>
            </a:r>
            <a:r>
              <a:rPr lang="ko-KR" altLang="en-US" sz="900" dirty="0">
                <a:solidFill>
                  <a:schemeClr val="bg1"/>
                </a:solidFill>
              </a:rPr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34371773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D62C-5DE5-D1A1-256A-79D999F3A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1C3A7-01F0-A677-9494-4222D6734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33776E-15C3-7A9E-168A-07EAFF889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306816"/>
            <a:ext cx="6140450" cy="17425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최적화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000" b="1" dirty="0"/>
              <a:t>시야처리</a:t>
            </a:r>
            <a:r>
              <a:rPr lang="en-US" altLang="ko-KR" sz="1000" dirty="0"/>
              <a:t>: </a:t>
            </a:r>
            <a:r>
              <a:rPr lang="ko-KR" altLang="en-US" sz="1000" dirty="0"/>
              <a:t>플레이어가 이동 했을 때 시야에서 벗어나는 플레이어는 시야 리스트에서 제거하고</a:t>
            </a:r>
            <a:r>
              <a:rPr lang="en-US" altLang="ko-KR" sz="1000" dirty="0"/>
              <a:t>, </a:t>
            </a:r>
            <a:r>
              <a:rPr lang="ko-KR" altLang="en-US" sz="1000" dirty="0"/>
              <a:t>시야에 들어오는 플레이어는 시야 리스트에 추가한다</a:t>
            </a:r>
            <a:r>
              <a:rPr lang="en-US" altLang="ko-KR" sz="1000" dirty="0"/>
              <a:t>. </a:t>
            </a:r>
            <a:r>
              <a:rPr lang="ko-KR" altLang="en-US" sz="1000" dirty="0"/>
              <a:t>시야 리스트에 있는 플레이어들에게만 자신의 상태 업데이트 패킷을 전송한다</a:t>
            </a:r>
            <a:r>
              <a:rPr lang="en-US" altLang="ko-KR" sz="1000" dirty="0"/>
              <a:t>. </a:t>
            </a:r>
            <a:br>
              <a:rPr lang="en-US" altLang="ko-KR" sz="1000" dirty="0"/>
            </a:br>
            <a:r>
              <a:rPr lang="en-US" altLang="ko-KR" sz="1000" dirty="0"/>
              <a:t>AI</a:t>
            </a:r>
            <a:r>
              <a:rPr lang="ko-KR" altLang="en-US" sz="1000" dirty="0"/>
              <a:t>에 대해서는 시야에 들어오면 활성화하고</a:t>
            </a:r>
            <a:r>
              <a:rPr lang="en-US" altLang="ko-KR" sz="1000" dirty="0"/>
              <a:t>, </a:t>
            </a:r>
            <a:r>
              <a:rPr lang="ko-KR" altLang="en-US" sz="1000" dirty="0"/>
              <a:t>시야에서 벗어날 시 해당 </a:t>
            </a:r>
            <a:r>
              <a:rPr lang="en-US" altLang="ko-KR" sz="1000" dirty="0"/>
              <a:t>AI</a:t>
            </a:r>
            <a:r>
              <a:rPr lang="ko-KR" altLang="en-US" sz="1000" dirty="0"/>
              <a:t>의 시야에 다른 플레이어가 없다면 </a:t>
            </a:r>
            <a:r>
              <a:rPr lang="en-US" altLang="ko-KR" sz="1000" dirty="0"/>
              <a:t>AI</a:t>
            </a:r>
            <a:r>
              <a:rPr lang="ko-KR" altLang="en-US" sz="1000" dirty="0"/>
              <a:t>를 비활성화한다</a:t>
            </a:r>
            <a:r>
              <a:rPr lang="en-US" altLang="ko-KR" sz="1000" dirty="0"/>
              <a:t>. </a:t>
            </a:r>
          </a:p>
          <a:p>
            <a:pPr>
              <a:buFontTx/>
              <a:buChar char="-"/>
            </a:pPr>
            <a:r>
              <a:rPr lang="en-US" altLang="ko-KR" sz="1000" b="1" dirty="0"/>
              <a:t>Sector </a:t>
            </a:r>
            <a:r>
              <a:rPr lang="ko-KR" altLang="en-US" sz="1000" b="1" dirty="0"/>
              <a:t>최적화</a:t>
            </a:r>
            <a:r>
              <a:rPr lang="en-US" altLang="ko-KR" sz="1000" dirty="0"/>
              <a:t>: </a:t>
            </a:r>
            <a:r>
              <a:rPr lang="ko-KR" altLang="en-US" sz="1000" dirty="0"/>
              <a:t>시야 안에 들어오는지 확인하기위한 거리비교시 근처 구역에 있는 플레이어</a:t>
            </a:r>
            <a:r>
              <a:rPr lang="en-US" altLang="ko-KR" sz="1000" dirty="0"/>
              <a:t>/</a:t>
            </a:r>
            <a:r>
              <a:rPr lang="ko-KR" altLang="en-US" sz="1000" dirty="0"/>
              <a:t>몬스터만 비교하기 위해 월드의 구역을 나누고 각 구역에 위치하는 플레이어</a:t>
            </a:r>
            <a:r>
              <a:rPr lang="en-US" altLang="ko-KR" sz="1000" dirty="0"/>
              <a:t>/</a:t>
            </a:r>
            <a:r>
              <a:rPr lang="ko-KR" altLang="en-US" sz="1000" dirty="0"/>
              <a:t>몬스터를 저장한다</a:t>
            </a:r>
            <a:r>
              <a:rPr lang="en-US" altLang="ko-KR" sz="1000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DDCEE7-F892-D581-E36A-28A9346A2DE8}"/>
              </a:ext>
            </a:extLst>
          </p:cNvPr>
          <p:cNvSpPr txBox="1"/>
          <p:nvPr/>
        </p:nvSpPr>
        <p:spPr>
          <a:xfrm>
            <a:off x="202764" y="3338733"/>
            <a:ext cx="4155480" cy="32778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cs_packet_move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reinterpret_cast&lt;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cs_packet_move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last_move_time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move_time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prev_idx_x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prev_idx_y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direction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MAP_HEIGHT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MAP_WIDTH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isValidPosition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prev_idx_x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prev_idx_y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prev_idx_y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prev_idx_x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erase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curr_idx_y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curr_idx_x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51C518-0980-DE15-F7AD-1BB15CA1E30A}"/>
              </a:ext>
            </a:extLst>
          </p:cNvPr>
          <p:cNvSpPr txBox="1"/>
          <p:nvPr/>
        </p:nvSpPr>
        <p:spPr>
          <a:xfrm>
            <a:off x="202764" y="3101698"/>
            <a:ext cx="1887293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플레이어가 속한 </a:t>
            </a:r>
            <a:r>
              <a:rPr lang="en-US" altLang="ko-KR" sz="900" dirty="0">
                <a:solidFill>
                  <a:schemeClr val="bg1"/>
                </a:solidFill>
              </a:rPr>
              <a:t>Sector </a:t>
            </a:r>
            <a:r>
              <a:rPr lang="ko-KR" altLang="en-US" sz="900" dirty="0">
                <a:solidFill>
                  <a:schemeClr val="bg1"/>
                </a:solidFill>
              </a:rPr>
              <a:t>업데이트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4B7A05-AFA6-5F87-554A-EEAC5BA97EB3}"/>
              </a:ext>
            </a:extLst>
          </p:cNvPr>
          <p:cNvSpPr txBox="1"/>
          <p:nvPr/>
        </p:nvSpPr>
        <p:spPr>
          <a:xfrm>
            <a:off x="6775968" y="58846"/>
            <a:ext cx="5344780" cy="674030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PlayerSession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movePostProcess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client_vl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old_vlist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client_vl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client_vl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&gt;&gt;::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reserve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NUM_SECTOR_X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NUM_SECTOR_Y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sector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state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SessionState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InGame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자기 자신은 제외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canSee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sendMovePacket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old_vlist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old_vlist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sendAddPlayerPacket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old_vlist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sendRemovePlayerPacket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isPc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pc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reinterpret_cast&lt;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PlayerSession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pc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sendRemovePlayerPacket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E2C7A8-6BBB-8C82-3E3D-3A6E1949D8B1}"/>
              </a:ext>
            </a:extLst>
          </p:cNvPr>
          <p:cNvSpPr txBox="1"/>
          <p:nvPr/>
        </p:nvSpPr>
        <p:spPr>
          <a:xfrm>
            <a:off x="6096000" y="58846"/>
            <a:ext cx="679968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시야처리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7B05C0-0729-A2DF-EFDA-6EE83B36D6D0}"/>
              </a:ext>
            </a:extLst>
          </p:cNvPr>
          <p:cNvSpPr txBox="1"/>
          <p:nvPr/>
        </p:nvSpPr>
        <p:spPr>
          <a:xfrm>
            <a:off x="4165846" y="3571637"/>
            <a:ext cx="2802520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mtx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guard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guard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mtx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5DF57-8F26-15DD-D374-692A23292C9E}"/>
              </a:ext>
            </a:extLst>
          </p:cNvPr>
          <p:cNvSpPr txBox="1"/>
          <p:nvPr/>
        </p:nvSpPr>
        <p:spPr>
          <a:xfrm>
            <a:off x="2747023" y="2917032"/>
            <a:ext cx="331431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array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array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dirty="0">
                <a:solidFill>
                  <a:srgbClr val="E5C890"/>
                </a:solidFill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NUM_SECTOR_X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NUM_SECTOR_Y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9434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C4754-E307-B71A-86BF-185BE8426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F0344-98DF-3651-D5C9-CAAA68BF4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280C68-189D-4779-E159-79B1EF6AC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3700" y="1288736"/>
            <a:ext cx="6140450" cy="17392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성능측정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000" dirty="0"/>
              <a:t>스트레스 테스트 프로그램을 통해 최대 동시접속자 수를 측정한다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dirty="0"/>
              <a:t>Concurrency Visualizer</a:t>
            </a:r>
            <a:r>
              <a:rPr lang="ko-KR" altLang="en-US" sz="1000" dirty="0"/>
              <a:t>를 이용하여 병목이 되는 부분을 찾는다</a:t>
            </a:r>
            <a:r>
              <a:rPr lang="en-US" altLang="ko-KR" sz="1000" dirty="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5AD996D-260C-4123-CA3C-1C42AA969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0925"/>
            <a:ext cx="3698262" cy="414943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87DB6AA-8805-1A2A-F059-52CE5AD2E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9704" y="3027941"/>
            <a:ext cx="7325843" cy="321989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A2BD2FC-332D-C0A4-811A-FC6D78BE00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1534" y="2381288"/>
            <a:ext cx="3322615" cy="185932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5E4EB69-E930-7A6C-2F50-C07624D719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763322"/>
              </p:ext>
            </p:extLst>
          </p:nvPr>
        </p:nvGraphicFramePr>
        <p:xfrm>
          <a:off x="4577211" y="2224760"/>
          <a:ext cx="2817834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1688">
                  <a:extLst>
                    <a:ext uri="{9D8B030D-6E8A-4147-A177-3AD203B41FA5}">
                      <a16:colId xmlns:a16="http://schemas.microsoft.com/office/drawing/2014/main" val="656588349"/>
                    </a:ext>
                  </a:extLst>
                </a:gridCol>
                <a:gridCol w="2026146">
                  <a:extLst>
                    <a:ext uri="{9D8B030D-6E8A-4147-A177-3AD203B41FA5}">
                      <a16:colId xmlns:a16="http://schemas.microsoft.com/office/drawing/2014/main" val="3703535132"/>
                    </a:ext>
                  </a:extLst>
                </a:gridCol>
              </a:tblGrid>
              <a:tr h="2194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CPU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Intel Core i5-12400F (4000MHz)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1312894"/>
                  </a:ext>
                </a:extLst>
              </a:tr>
              <a:tr h="2194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Memory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32GB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(DDR4-3200MHz)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949460"/>
                  </a:ext>
                </a:extLst>
              </a:tr>
              <a:tr h="21946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최대 동접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약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6200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7129737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C749C43-9AF4-E2ED-9037-146481973D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1229759"/>
              </p:ext>
            </p:extLst>
          </p:nvPr>
        </p:nvGraphicFramePr>
        <p:xfrm>
          <a:off x="8801618" y="4274585"/>
          <a:ext cx="2812531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932">
                  <a:extLst>
                    <a:ext uri="{9D8B030D-6E8A-4147-A177-3AD203B41FA5}">
                      <a16:colId xmlns:a16="http://schemas.microsoft.com/office/drawing/2014/main" val="656588349"/>
                    </a:ext>
                  </a:extLst>
                </a:gridCol>
                <a:gridCol w="608599">
                  <a:extLst>
                    <a:ext uri="{9D8B030D-6E8A-4147-A177-3AD203B41FA5}">
                      <a16:colId xmlns:a16="http://schemas.microsoft.com/office/drawing/2014/main" val="1604362498"/>
                    </a:ext>
                  </a:extLst>
                </a:gridCol>
              </a:tblGrid>
              <a:tr h="16342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패킷 전송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(PlayerSession::sendMovePacket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등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47.06%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1312894"/>
                  </a:ext>
                </a:extLst>
              </a:tr>
              <a:tr h="1634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lua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스크립트 실행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(lua_pcallk)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14.43%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0843901"/>
                  </a:ext>
                </a:extLst>
              </a:tr>
              <a:tr h="3268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주변 캐릭터 탐색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(Session::getNearCharacterIds)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14.16%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7129737"/>
                  </a:ext>
                </a:extLst>
              </a:tr>
              <a:tr h="3268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DB</a:t>
                      </a:r>
                    </a:p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(DbConnection::run)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8.02%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6109606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A08477B5-0D1E-36EF-FDD4-C74B32FA65E7}"/>
              </a:ext>
            </a:extLst>
          </p:cNvPr>
          <p:cNvSpPr txBox="1"/>
          <p:nvPr/>
        </p:nvSpPr>
        <p:spPr>
          <a:xfrm>
            <a:off x="10783867" y="2150457"/>
            <a:ext cx="830283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900" dirty="0"/>
              <a:t>CPU </a:t>
            </a:r>
            <a:r>
              <a:rPr lang="ko-KR" altLang="en-US" sz="900" dirty="0"/>
              <a:t>사용률</a:t>
            </a:r>
          </a:p>
        </p:txBody>
      </p:sp>
    </p:spTree>
    <p:extLst>
      <p:ext uri="{BB962C8B-B14F-4D97-AF65-F5344CB8AC3E}">
        <p14:creationId xmlns:p14="http://schemas.microsoft.com/office/powerpoint/2010/main" val="34858931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BC873-9997-2D60-E998-EADE50907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DD15B-99B7-77E2-BC2D-A0EC6920D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1170B-8D88-8DE1-B91F-2A30B899C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49" y="1300613"/>
            <a:ext cx="6134662" cy="12941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b="1" dirty="0"/>
              <a:t>맵 로드 </a:t>
            </a:r>
            <a:endParaRPr lang="en-US" altLang="ko-KR" sz="1400" dirty="0"/>
          </a:p>
          <a:p>
            <a:pPr>
              <a:buFontTx/>
              <a:buChar char="-"/>
            </a:pPr>
            <a:r>
              <a:rPr lang="en-US" altLang="ko-KR" sz="1000" b="1" dirty="0"/>
              <a:t>Python</a:t>
            </a:r>
            <a:r>
              <a:rPr lang="ko-KR" altLang="en-US" sz="1000" dirty="0"/>
              <a:t>으로 </a:t>
            </a:r>
            <a:r>
              <a:rPr lang="en-US" altLang="ko-KR" sz="1000" dirty="0"/>
              <a:t>PNG</a:t>
            </a:r>
            <a:r>
              <a:rPr lang="ko-KR" altLang="en-US" sz="1000" dirty="0"/>
              <a:t>파일을 읽어서 랜덤하게 장애물을 배치하고 문자열로 변환하여 저장한 맵 데이터를 </a:t>
            </a:r>
            <a:r>
              <a:rPr lang="en-US" altLang="ko-KR" sz="1000" dirty="0"/>
              <a:t>C++</a:t>
            </a:r>
            <a:r>
              <a:rPr lang="ko-KR" altLang="en-US" sz="1000" dirty="0"/>
              <a:t>에서 불러와서 맵으로 사용한다</a:t>
            </a:r>
            <a:r>
              <a:rPr lang="en-US" altLang="ko-KR" sz="100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7B1DCBD-568E-07E2-107F-3D0AF5F36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8875" y="1360311"/>
            <a:ext cx="1848927" cy="185456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8C6F1E-80E0-AEA5-0C3C-E94254C0D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286" y="4049244"/>
            <a:ext cx="2150516" cy="215051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59DC9B42-DC5B-EA44-1DBC-BE4D6C1CD0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38" r="51908" b="4365"/>
          <a:stretch>
            <a:fillRect/>
          </a:stretch>
        </p:blipFill>
        <p:spPr>
          <a:xfrm>
            <a:off x="9624622" y="4138247"/>
            <a:ext cx="1946865" cy="197251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5FA215D-0FC5-BBBD-EB62-209418155E04}"/>
              </a:ext>
            </a:extLst>
          </p:cNvPr>
          <p:cNvSpPr txBox="1"/>
          <p:nvPr/>
        </p:nvSpPr>
        <p:spPr>
          <a:xfrm>
            <a:off x="744102" y="4104833"/>
            <a:ext cx="3192568" cy="21698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줄 별로 문자열로 저장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pixels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'#'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돌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빈 공간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'W'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Water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'S'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Spawn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'#'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돌로 취급</a:t>
            </a:r>
            <a:b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map_contents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content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CC84E53F-0EE5-800A-5AE3-E237800CC9B5}"/>
              </a:ext>
            </a:extLst>
          </p:cNvPr>
          <p:cNvSpPr/>
          <p:nvPr/>
        </p:nvSpPr>
        <p:spPr>
          <a:xfrm>
            <a:off x="8934166" y="2120539"/>
            <a:ext cx="504093" cy="334108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363BFA18-71EC-A13C-CBC9-EBBABABD3FE5}"/>
              </a:ext>
            </a:extLst>
          </p:cNvPr>
          <p:cNvSpPr/>
          <p:nvPr/>
        </p:nvSpPr>
        <p:spPr>
          <a:xfrm rot="5400000">
            <a:off x="10285148" y="3451955"/>
            <a:ext cx="625811" cy="449212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950CB1D0-1679-1535-DAF9-3370DD8FBD88}"/>
              </a:ext>
            </a:extLst>
          </p:cNvPr>
          <p:cNvSpPr/>
          <p:nvPr/>
        </p:nvSpPr>
        <p:spPr>
          <a:xfrm rot="10800000">
            <a:off x="8909102" y="4928009"/>
            <a:ext cx="554219" cy="392986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32C35D4A-1B00-B0BD-F182-347AFD2C57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4623" y="1360311"/>
            <a:ext cx="1946865" cy="185456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43C00F6-4FFE-8EFD-D6F7-A19066C2FEED}"/>
              </a:ext>
            </a:extLst>
          </p:cNvPr>
          <p:cNvSpPr txBox="1"/>
          <p:nvPr/>
        </p:nvSpPr>
        <p:spPr>
          <a:xfrm>
            <a:off x="2867285" y="2287593"/>
            <a:ext cx="3307336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input_path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img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convert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"RGBA"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png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width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size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pixels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pixels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하얀부분을 랜덤하게 검은색으로 변경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0.1%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확률로 장애물 설치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0.001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pixels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save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output_path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"PNG"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DC5623-6CE3-5B13-8722-8811FA759270}"/>
              </a:ext>
            </a:extLst>
          </p:cNvPr>
          <p:cNvSpPr txBox="1"/>
          <p:nvPr/>
        </p:nvSpPr>
        <p:spPr>
          <a:xfrm>
            <a:off x="2867284" y="205676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장애물 배치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1AEA4D-E79C-D7DA-F8D9-8F05CE07320F}"/>
              </a:ext>
            </a:extLst>
          </p:cNvPr>
          <p:cNvSpPr txBox="1"/>
          <p:nvPr/>
        </p:nvSpPr>
        <p:spPr>
          <a:xfrm>
            <a:off x="744102" y="387400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문자열로 저장</a:t>
            </a:r>
          </a:p>
        </p:txBody>
      </p:sp>
    </p:spTree>
    <p:extLst>
      <p:ext uri="{BB962C8B-B14F-4D97-AF65-F5344CB8AC3E}">
        <p14:creationId xmlns:p14="http://schemas.microsoft.com/office/powerpoint/2010/main" val="34879490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75CB7-35CB-F3D7-A908-A8CF08088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PC 게임, 스크린샷, 비디오 게임 소프트웨어, 전략 비디오 게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0370524-B701-28B5-7C70-68E7AE5699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48" y="1300611"/>
            <a:ext cx="4731388" cy="26537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04E3B5C-A7A7-D26F-60F2-DD91072E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Minecraft (</a:t>
            </a:r>
            <a:r>
              <a:rPr lang="ko-KR" altLang="en-US" sz="3600" dirty="0"/>
              <a:t>모작</a:t>
            </a:r>
            <a:r>
              <a:rPr lang="en-US" altLang="ko-KR" sz="3600" dirty="0"/>
              <a:t>)</a:t>
            </a:r>
            <a:endParaRPr lang="ko-KR" altLang="en-US" sz="36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A96B349-E402-E3FA-EA9E-8B6A7AEEB3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9321823"/>
              </p:ext>
            </p:extLst>
          </p:nvPr>
        </p:nvGraphicFramePr>
        <p:xfrm>
          <a:off x="5617029" y="1300612"/>
          <a:ext cx="5997123" cy="3329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35974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661149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Minecraft (</a:t>
                      </a:r>
                      <a:r>
                        <a:rPr lang="ko-KR" altLang="en-US" sz="1100" dirty="0"/>
                        <a:t>모작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OpenGL </a:t>
                      </a:r>
                      <a:r>
                        <a:rPr lang="ko-KR" altLang="en-US" sz="1100" dirty="0"/>
                        <a:t>학습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블록 설치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파괴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Object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Picking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계층구조 애니메이션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Heightmap</a:t>
                      </a:r>
                      <a:r>
                        <a:rPr lang="ko-KR" altLang="en-US" sz="1100" dirty="0"/>
                        <a:t>을 이용한 지형 생성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조명처리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재질에 따라 빛 반사를 다르게 처리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1</a:t>
                      </a:r>
                      <a:r>
                        <a:rPr lang="ko-KR" altLang="en-US" sz="1100" dirty="0"/>
                        <a:t>인칭</a:t>
                      </a:r>
                      <a:r>
                        <a:rPr lang="en-US" altLang="ko-KR" sz="1100" dirty="0"/>
                        <a:t>/2</a:t>
                      </a:r>
                      <a:r>
                        <a:rPr lang="ko-KR" altLang="en-US" sz="1100" dirty="0"/>
                        <a:t>인칭</a:t>
                      </a:r>
                      <a:r>
                        <a:rPr lang="en-US" altLang="ko-KR" sz="1100" dirty="0"/>
                        <a:t>/3</a:t>
                      </a:r>
                      <a:r>
                        <a:rPr lang="ko-KR" altLang="en-US" sz="1100" dirty="0"/>
                        <a:t>인칭 시점 변경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렌더링 최적화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시야 범위를 벗어나는 곳은 렌더링하지 않음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시뮬레이션 거리 제한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플레이어 주변 오브젝트만 업데이트</a:t>
                      </a:r>
                      <a:endParaRPr lang="en-US" altLang="ko-KR" sz="11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1100" dirty="0"/>
                        <a:t>Chunk</a:t>
                      </a:r>
                      <a:r>
                        <a:rPr lang="ko-KR" altLang="en-US" sz="1100" dirty="0"/>
                        <a:t>단위 오브젝트 관리로 주변 오브젝트 빠르게 탐색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C++, </a:t>
                      </a:r>
                      <a:r>
                        <a:rPr lang="en-US" altLang="ko-KR" sz="1100" b="1" dirty="0"/>
                        <a:t>OpenGL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2023.11 ~ 2023.12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3"/>
                        </a:rPr>
                        <a:t>https://github.com/Jirung-E/CG_Final_Minecraft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시연 영상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4"/>
                        </a:rPr>
                        <a:t>https://youtu.be/WAE3OXs7kCI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11379"/>
                  </a:ext>
                </a:extLst>
              </a:tr>
            </a:tbl>
          </a:graphicData>
        </a:graphic>
      </p:graphicFrame>
      <p:pic>
        <p:nvPicPr>
          <p:cNvPr id="4" name="그림 3" descr="스크린샷, 잔디, 그린이(가) 표시된 사진&#10;&#10;자동 생성된 설명">
            <a:extLst>
              <a:ext uri="{FF2B5EF4-FFF2-40B4-BE49-F238E27FC236}">
                <a16:creationId xmlns:a16="http://schemas.microsoft.com/office/drawing/2014/main" id="{885C21EC-2351-7F94-5F47-B0E556BDF58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93" t="6562" r="6507"/>
          <a:stretch/>
        </p:blipFill>
        <p:spPr>
          <a:xfrm>
            <a:off x="9232460" y="5069638"/>
            <a:ext cx="2381692" cy="145218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41E5714-4EA6-C6B0-2751-DD37E86B63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48" y="4444334"/>
            <a:ext cx="3353831" cy="165148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7" name="내용 개체 틀 4" descr="의료 영상, 방사선과, 산부인과 초음파, 스크린샷이(가) 표시된 사진&#10;&#10;자동 생성된 설명">
            <a:extLst>
              <a:ext uri="{FF2B5EF4-FFF2-40B4-BE49-F238E27FC236}">
                <a16:creationId xmlns:a16="http://schemas.microsoft.com/office/drawing/2014/main" id="{5CE14639-F7D4-8FA9-7558-6CDEB90A10C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48" y="3467479"/>
            <a:ext cx="2751639" cy="7279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DE97AD-B1BB-3FC4-CA77-3EBE2079F32A}"/>
              </a:ext>
            </a:extLst>
          </p:cNvPr>
          <p:cNvSpPr txBox="1"/>
          <p:nvPr/>
        </p:nvSpPr>
        <p:spPr>
          <a:xfrm>
            <a:off x="9232460" y="5069352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조명처리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85EDB1-AF37-29D6-CEE8-36A9986C4A2A}"/>
              </a:ext>
            </a:extLst>
          </p:cNvPr>
          <p:cNvSpPr txBox="1"/>
          <p:nvPr/>
        </p:nvSpPr>
        <p:spPr>
          <a:xfrm>
            <a:off x="577848" y="4444334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렌더링 최적화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8A3F56-03B6-8DD4-3ECE-1367FDEE2AA7}"/>
              </a:ext>
            </a:extLst>
          </p:cNvPr>
          <p:cNvSpPr txBox="1"/>
          <p:nvPr/>
        </p:nvSpPr>
        <p:spPr>
          <a:xfrm>
            <a:off x="3333340" y="3964573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Height</a:t>
            </a:r>
            <a:r>
              <a:rPr lang="ko-KR" altLang="en-US" sz="900" dirty="0"/>
              <a:t> </a:t>
            </a:r>
            <a:r>
              <a:rPr lang="en-US" altLang="ko-KR" sz="900" dirty="0"/>
              <a:t>Map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0C2CC9-C5F4-13B3-9820-290522C2F5C2}"/>
              </a:ext>
            </a:extLst>
          </p:cNvPr>
          <p:cNvSpPr txBox="1"/>
          <p:nvPr/>
        </p:nvSpPr>
        <p:spPr>
          <a:xfrm>
            <a:off x="4114142" y="6013995"/>
            <a:ext cx="4731388" cy="5078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ChunkBasedObjectManager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chunk_info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ChunkInfo { object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position }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39F142-CF26-DB2C-620E-17B697AAE0AA}"/>
              </a:ext>
            </a:extLst>
          </p:cNvPr>
          <p:cNvSpPr txBox="1"/>
          <p:nvPr/>
        </p:nvSpPr>
        <p:spPr>
          <a:xfrm>
            <a:off x="4114142" y="4444334"/>
            <a:ext cx="1275245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ChunkInfo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z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7EC5DD-1CA5-98EC-6913-C78EA80CCBAB}"/>
              </a:ext>
            </a:extLst>
          </p:cNvPr>
          <p:cNvSpPr txBox="1"/>
          <p:nvPr/>
        </p:nvSpPr>
        <p:spPr>
          <a:xfrm>
            <a:off x="4114142" y="5367664"/>
            <a:ext cx="4822040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ChunkBasedObjectManager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ChunkInfo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chunk_info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B89AE2-2FA9-3D4C-75A4-53471202EFF4}"/>
              </a:ext>
            </a:extLst>
          </p:cNvPr>
          <p:cNvSpPr txBox="1"/>
          <p:nvPr/>
        </p:nvSpPr>
        <p:spPr>
          <a:xfrm>
            <a:off x="5389387" y="5136832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Chunk</a:t>
            </a:r>
            <a:r>
              <a:rPr lang="ko-KR" altLang="en-US" sz="900" dirty="0">
                <a:solidFill>
                  <a:schemeClr val="bg1"/>
                </a:solidFill>
              </a:rPr>
              <a:t>단위 오브젝트 관리</a:t>
            </a:r>
          </a:p>
        </p:txBody>
      </p:sp>
    </p:spTree>
    <p:extLst>
      <p:ext uri="{BB962C8B-B14F-4D97-AF65-F5344CB8AC3E}">
        <p14:creationId xmlns:p14="http://schemas.microsoft.com/office/powerpoint/2010/main" val="2490071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1B136-186A-B16A-6837-8E8C16BC6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D9C9FC7-68AC-48F2-11AD-2746DC294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47" y="1808626"/>
            <a:ext cx="4902615" cy="271556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A4A8DAB-AFC0-798A-781A-FA70D2026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Agar.io (</a:t>
            </a:r>
            <a:r>
              <a:rPr lang="ko-KR" altLang="en-US" sz="3600" dirty="0"/>
              <a:t>모작</a:t>
            </a:r>
            <a:r>
              <a:rPr lang="en-US" altLang="ko-KR" sz="3600" dirty="0"/>
              <a:t>)</a:t>
            </a:r>
            <a:endParaRPr lang="ko-KR" altLang="en-US" sz="36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6832351-A44A-3FA6-88F9-25DE609410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2134221"/>
              </p:ext>
            </p:extLst>
          </p:nvPr>
        </p:nvGraphicFramePr>
        <p:xfrm>
          <a:off x="5872348" y="1508430"/>
          <a:ext cx="5741806" cy="4810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5366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516440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Agar.io (</a:t>
                      </a:r>
                      <a:r>
                        <a:rPr lang="ko-KR" altLang="en-US" sz="1100" dirty="0"/>
                        <a:t>모작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플레이어의 세포를 조종하여 먹이를 먹거나 자신보다 작은 적 세포를 먹어 크기를 키워가는 게임이다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자체적으로 분열하거나 먹이를 뱉을 수도 있고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함정에 닿은 세포는 폭발하여 </a:t>
                      </a:r>
                      <a:r>
                        <a:rPr lang="en-US" altLang="ko-KR" sz="1100" dirty="0"/>
                        <a:t>6</a:t>
                      </a:r>
                      <a:r>
                        <a:rPr lang="ko-KR" altLang="en-US" sz="1100" dirty="0"/>
                        <a:t>개로 분열한다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r>
                        <a:rPr lang="ko-KR" altLang="en-US" sz="1100" dirty="0"/>
                        <a:t>기존 클라이언트 프로젝트를 멀티플레이가 가능하도록 변경했다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Windows API </a:t>
                      </a:r>
                      <a:r>
                        <a:rPr lang="ko-KR" altLang="en-US" sz="1100" dirty="0"/>
                        <a:t>학습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), </a:t>
                      </a:r>
                      <a:r>
                        <a:rPr lang="ko-KR" altLang="en-US" sz="1100" dirty="0"/>
                        <a:t>소켓프로그래밍 학습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서버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3</a:t>
                      </a:r>
                      <a:r>
                        <a:rPr lang="ko-KR" altLang="en-US" sz="1100" dirty="0"/>
                        <a:t>명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서버 </a:t>
                      </a:r>
                      <a:r>
                        <a:rPr lang="en-US" altLang="ko-KR" sz="1100" dirty="0"/>
                        <a:t>1, </a:t>
                      </a:r>
                      <a:r>
                        <a:rPr lang="ko-KR" altLang="en-US" sz="1100" dirty="0"/>
                        <a:t>서버 </a:t>
                      </a:r>
                      <a:r>
                        <a:rPr lang="en-US" altLang="ko-KR" sz="1100" dirty="0"/>
                        <a:t>2)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담당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dirty="0"/>
                        <a:t>클라이언트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플레이어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먹이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함정 오브젝트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이동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분열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폭발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먹이먹기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먹이뱉기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적 </a:t>
                      </a:r>
                      <a:r>
                        <a:rPr lang="en-US" altLang="ko-KR" sz="1100" dirty="0"/>
                        <a:t>AI </a:t>
                      </a:r>
                      <a:r>
                        <a:rPr lang="ko-KR" altLang="en-US" sz="1100" dirty="0"/>
                        <a:t>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크기에 따른 시야 확장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속도 변화 등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급격하게 커지더라도 자연스럽게 보이도록 애니메이션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시점 변경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월드전체 </a:t>
                      </a:r>
                      <a:r>
                        <a:rPr lang="en-US" altLang="ko-KR" sz="1100" dirty="0"/>
                        <a:t>or </a:t>
                      </a:r>
                      <a:r>
                        <a:rPr lang="ko-KR" altLang="en-US" sz="1100" dirty="0"/>
                        <a:t>플레이어 중심으로 확대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regex</a:t>
                      </a:r>
                      <a:r>
                        <a:rPr lang="ko-KR" altLang="en-US" sz="1100" dirty="0"/>
                        <a:t>로 입력된 주소가 정상적인 주소 포맷인지 확인</a:t>
                      </a:r>
                      <a:endParaRPr lang="en-US" altLang="ko-KR" sz="1100" dirty="0"/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700" dirty="0"/>
                        <a:t> </a:t>
                      </a:r>
                      <a:endParaRPr lang="en-US" altLang="ko-KR" sz="1050" dirty="0"/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dirty="0"/>
                        <a:t>서버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기존 게임 로직을 서버로 이식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월드 상태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먹이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함정 등</a:t>
                      </a:r>
                      <a:r>
                        <a:rPr lang="en-US" altLang="ko-KR" sz="1100" dirty="0"/>
                        <a:t>), </a:t>
                      </a:r>
                      <a:r>
                        <a:rPr lang="ko-KR" altLang="en-US" sz="1100" dirty="0"/>
                        <a:t>플레이어 상태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크기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위치</a:t>
                      </a:r>
                      <a:r>
                        <a:rPr lang="en-US" altLang="ko-KR" sz="1100" dirty="0"/>
                        <a:t>)</a:t>
                      </a:r>
                      <a:r>
                        <a:rPr lang="ko-KR" altLang="en-US" sz="1100" dirty="0"/>
                        <a:t> 동기화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C++, </a:t>
                      </a:r>
                      <a:r>
                        <a:rPr lang="en-US" altLang="ko-KR" sz="1100" b="1" dirty="0"/>
                        <a:t>Windows</a:t>
                      </a:r>
                      <a:r>
                        <a:rPr lang="ko-KR" altLang="en-US" sz="1100" b="1" dirty="0"/>
                        <a:t> </a:t>
                      </a:r>
                      <a:r>
                        <a:rPr lang="en-US" altLang="ko-KR" sz="1100" b="1" dirty="0"/>
                        <a:t>API</a:t>
                      </a:r>
                      <a:r>
                        <a:rPr lang="en-US" altLang="ko-KR" sz="1100" dirty="0"/>
                        <a:t>, </a:t>
                      </a:r>
                      <a:r>
                        <a:rPr lang="en-US" altLang="ko-KR" sz="1100" b="1" dirty="0"/>
                        <a:t>Socket Programming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(AI): 2023.04 ~ 2023.05</a:t>
                      </a:r>
                    </a:p>
                    <a:p>
                      <a:pPr latinLnBrk="1"/>
                      <a:r>
                        <a:rPr lang="ko-KR" altLang="en-US" sz="1100" dirty="0"/>
                        <a:t>서버추가</a:t>
                      </a:r>
                      <a:r>
                        <a:rPr lang="en-US" altLang="ko-KR" sz="1100" dirty="0"/>
                        <a:t>(PVP): 2024.10 ~ 2024.12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(AI): </a:t>
                      </a:r>
                      <a:r>
                        <a:rPr lang="en-US" altLang="ko-KR" sz="1100" dirty="0">
                          <a:hlinkClick r:id="rId3"/>
                        </a:rPr>
                        <a:t>https://github.com/Jirung-E/WP_Agar.git</a:t>
                      </a:r>
                      <a:endParaRPr lang="en-US" altLang="ko-KR" sz="1100" dirty="0"/>
                    </a:p>
                    <a:p>
                      <a:pPr latinLnBrk="1"/>
                      <a:r>
                        <a:rPr lang="ko-KR" altLang="en-US" sz="1100" dirty="0"/>
                        <a:t>서버추가</a:t>
                      </a:r>
                      <a:r>
                        <a:rPr lang="en-US" altLang="ko-KR" sz="1100" dirty="0"/>
                        <a:t>(PVP): </a:t>
                      </a:r>
                      <a:r>
                        <a:rPr lang="en-US" altLang="ko-KR" sz="1100" dirty="0">
                          <a:hlinkClick r:id="rId4"/>
                        </a:rPr>
                        <a:t>https://github.com/Jirung-E/NetGame_Agar.git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30698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23180-3C25-612B-44A7-E03D43780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03856-882C-06F6-1094-E73D84988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Rugby</a:t>
            </a:r>
            <a:endParaRPr lang="ko-KR" altLang="en-US" sz="36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5CD904E-134C-0BD9-2710-1B7112B90D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9636082"/>
              </p:ext>
            </p:extLst>
          </p:nvPr>
        </p:nvGraphicFramePr>
        <p:xfrm>
          <a:off x="5771408" y="1507977"/>
          <a:ext cx="5842745" cy="35884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2357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550388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Rugby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스포츠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2139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게임의 재미를 위해 경기 방식을 간소화하고 미식축구의 요소도 반영하여 제작했다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게임은 </a:t>
                      </a:r>
                      <a:r>
                        <a:rPr lang="en-US" altLang="ko-KR" sz="1100" dirty="0"/>
                        <a:t>11vs11</a:t>
                      </a:r>
                      <a:r>
                        <a:rPr lang="ko-KR" altLang="en-US" sz="1100" dirty="0"/>
                        <a:t>로 진행되며 공을 들고 상대팀 골라인을 넘으면 점수를 얻는다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r>
                        <a:rPr lang="ko-KR" altLang="en-US" sz="1100" dirty="0"/>
                        <a:t>플레이어 이외에는 </a:t>
                      </a:r>
                      <a:r>
                        <a:rPr lang="en-US" altLang="ko-KR" sz="1100" dirty="0"/>
                        <a:t>AI</a:t>
                      </a:r>
                      <a:r>
                        <a:rPr lang="ko-KR" altLang="en-US" sz="1100" dirty="0"/>
                        <a:t>로 채워진다</a:t>
                      </a:r>
                      <a:r>
                        <a:rPr lang="en-US" altLang="ko-KR" sz="1100" dirty="0"/>
                        <a:t>. AI</a:t>
                      </a:r>
                      <a:r>
                        <a:rPr lang="ko-KR" altLang="en-US" sz="1100" dirty="0"/>
                        <a:t>는 행동 트리를 통해 잡기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공 던지기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태클 등 현재 상황에 적절한 기술을 사용한다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보기 좋은 경기를 연출하기 위해 </a:t>
                      </a:r>
                      <a:r>
                        <a:rPr lang="en-US" altLang="ko-KR" sz="1100" dirty="0"/>
                        <a:t>AI</a:t>
                      </a:r>
                      <a:r>
                        <a:rPr lang="ko-KR" altLang="en-US" sz="1100" dirty="0"/>
                        <a:t>는 지정된 </a:t>
                      </a:r>
                      <a:r>
                        <a:rPr lang="en-US" altLang="ko-KR" sz="1100" dirty="0"/>
                        <a:t>y</a:t>
                      </a:r>
                      <a:r>
                        <a:rPr lang="ko-KR" altLang="en-US" sz="1100" dirty="0"/>
                        <a:t>좌표에서 크게 벗어나지 않도록 설정했다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캐릭터 상태 머신 작성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달리기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잡기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태클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넘어짐 등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지정한 위치로 공 던지기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포물선을 그리며 자연스럽게 날아간다</a:t>
                      </a:r>
                      <a:r>
                        <a:rPr lang="en-US" altLang="ko-KR" sz="1100" dirty="0"/>
                        <a:t>.)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Behavior Tree</a:t>
                      </a:r>
                      <a:r>
                        <a:rPr lang="ko-KR" altLang="en-US" sz="1100" dirty="0"/>
                        <a:t>로 다음 행동 결정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남은 스태미나에 따라 행동 제한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Python, pico2d, </a:t>
                      </a:r>
                      <a:r>
                        <a:rPr lang="en-US" altLang="ko-KR" sz="1100" b="1" dirty="0"/>
                        <a:t>Behavior Tree</a:t>
                      </a:r>
                      <a:r>
                        <a:rPr lang="en-US" altLang="ko-KR" sz="1100" dirty="0"/>
                        <a:t>, </a:t>
                      </a:r>
                      <a:r>
                        <a:rPr lang="en-US" altLang="ko-KR" sz="1100" b="1" dirty="0"/>
                        <a:t>State Machine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1488662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2023.10 ~ 2023.12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2"/>
                        </a:rPr>
                        <a:t>https://github.com/Jirung-E/Rugby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시연 영상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3"/>
                        </a:rPr>
                        <a:t>https://youtu.be/l6DrIlFSPkk?si=D6RDnMKLZt_h4oT5&amp;t=37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308056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581C2FC6-BDA2-B5E5-98EE-F73AC5E66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497" y="1822105"/>
            <a:ext cx="4705844" cy="29291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10100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783FC-2E78-858F-821C-B942F769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A472AB-BBFF-23D6-AFE9-619E8514D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Doodle Jump (</a:t>
            </a:r>
            <a:r>
              <a:rPr lang="ko-KR" altLang="en-US" sz="3600" dirty="0"/>
              <a:t>모작</a:t>
            </a:r>
            <a:r>
              <a:rPr lang="en-US" altLang="ko-KR" sz="3600" dirty="0"/>
              <a:t>)</a:t>
            </a:r>
            <a:endParaRPr lang="ko-KR" altLang="en-US" sz="36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9AFEA64-5EA0-1032-2BEA-2B799B0F91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2095207"/>
              </p:ext>
            </p:extLst>
          </p:nvPr>
        </p:nvGraphicFramePr>
        <p:xfrm>
          <a:off x="5452076" y="1713872"/>
          <a:ext cx="5855129" cy="36355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1233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573896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Doodle Jump (</a:t>
                      </a:r>
                      <a:r>
                        <a:rPr lang="ko-KR" altLang="en-US" sz="1100" dirty="0"/>
                        <a:t>모작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아래로 떨어지지 않도록 하며 발판을 밟고 최대한 높이 올라가는 것이 목표인 게임이다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r>
                        <a:rPr lang="ko-KR" altLang="en-US" sz="1100" dirty="0"/>
                        <a:t>맵에는 발판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몬스터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아이템이 랜덤하게 생성되고 사용자는 캐릭터를 조작해서 발판을 밟으며 올라간다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r>
                        <a:rPr lang="ko-KR" altLang="en-US" sz="1100" dirty="0"/>
                        <a:t>발로 밟거나 콩알탄을 발사해서 몬스터를 처치할 수 있으며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몬스터에 부딪치거나 아래로 떨어지면 게임오버된다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높이 올라갈수록 발판이 움직이거나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부서져서 밟기 어렵게 되고 몬스터도 자주 등장한다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Android Programming </a:t>
                      </a:r>
                      <a:r>
                        <a:rPr lang="ko-KR" altLang="en-US" sz="1100" dirty="0"/>
                        <a:t>학습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발판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몬스터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아이템 랜덤 자동 생성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2D CCD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다양한 종류의 발판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아이템 효과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몬스터에 충돌한 경우 기절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게임 오버 애니메이션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점수출력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Java,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b="1" dirty="0"/>
                        <a:t>Android</a:t>
                      </a:r>
                      <a:r>
                        <a:rPr lang="ko-KR" altLang="en-US" sz="1100" b="1" dirty="0"/>
                        <a:t> </a:t>
                      </a:r>
                      <a:r>
                        <a:rPr lang="en-US" altLang="ko-KR" sz="1100" b="1" dirty="0"/>
                        <a:t>Programming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2025.04 ~ 2025.06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hlinkClick r:id="rId2"/>
                        </a:rPr>
                        <a:t>https://github.com/Jirung-E/DoodleJump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pic>
        <p:nvPicPr>
          <p:cNvPr id="5" name="그림 4" descr="텍스트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1F44FE-0A09-B3D3-1B5B-CA8F798E72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4963" y="1640286"/>
            <a:ext cx="2127776" cy="378271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그림 8" descr="텍스트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80FAD8-5E0B-EB86-FFDB-88FE9B195E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519" y="1640286"/>
            <a:ext cx="2127776" cy="37827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23668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10001-FC6D-C77E-3F64-AD6086724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도표, 라인, 평행이(가) 표시된 사진&#10;&#10;자동 생성된 설명">
            <a:extLst>
              <a:ext uri="{FF2B5EF4-FFF2-40B4-BE49-F238E27FC236}">
                <a16:creationId xmlns:a16="http://schemas.microsoft.com/office/drawing/2014/main" id="{2B41D229-ED61-F761-EA36-FD912A9F58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849" y="1539237"/>
            <a:ext cx="4961991" cy="290656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40029E3-0F08-8222-7598-C8E9F8831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247D913F-994B-FBC4-B36E-DA99D0FA5F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1197224"/>
              </p:ext>
            </p:extLst>
          </p:nvPr>
        </p:nvGraphicFramePr>
        <p:xfrm>
          <a:off x="5860474" y="1535419"/>
          <a:ext cx="5753678" cy="2844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46908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506770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작업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프로젝트 관리 실습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프로젝트 생명주기</a:t>
                      </a:r>
                      <a:r>
                        <a:rPr lang="en-US" altLang="ko-KR" sz="1100" dirty="0"/>
                        <a:t>(PLC) </a:t>
                      </a:r>
                      <a:r>
                        <a:rPr lang="ko-KR" altLang="en-US" sz="1100" dirty="0"/>
                        <a:t>및 소프트웨어 개발 생명주기</a:t>
                      </a:r>
                      <a:r>
                        <a:rPr lang="en-US" altLang="ko-KR" sz="1100" dirty="0"/>
                        <a:t>(SDLC)</a:t>
                      </a:r>
                      <a:r>
                        <a:rPr lang="ko-KR" altLang="en-US" sz="1100" dirty="0"/>
                        <a:t>를 체험하기 위해 </a:t>
                      </a:r>
                      <a:r>
                        <a:rPr lang="en-US" altLang="ko-KR" sz="1100" dirty="0"/>
                        <a:t>UP</a:t>
                      </a:r>
                      <a:r>
                        <a:rPr lang="ko-KR" altLang="en-US" sz="1100" dirty="0"/>
                        <a:t>모델을 따르며 모의 프로젝트를 진행했다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참여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4</a:t>
                      </a:r>
                      <a:r>
                        <a:rPr lang="ko-KR" altLang="en-US" sz="1100" dirty="0"/>
                        <a:t>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작업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테트리스 게임 개발을 목표로 설정하여 모의 프로젝트 진행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어떤 프로젝트인지 정의하고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프로젝트 관리 계획 수립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요구사항을 분석하여 </a:t>
                      </a:r>
                      <a:r>
                        <a:rPr lang="en-US" altLang="ko-KR" sz="1100" dirty="0"/>
                        <a:t>Usecase Diagram</a:t>
                      </a:r>
                      <a:r>
                        <a:rPr lang="ko-KR" altLang="en-US" sz="1100" dirty="0"/>
                        <a:t>과 요구사항 추적표로 정리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정리된 요구사항을 바탕으로 </a:t>
                      </a:r>
                      <a:r>
                        <a:rPr lang="en-US" altLang="ko-KR" sz="1100" dirty="0"/>
                        <a:t>Object Diagram, Class Diagram, Sequence Diagram </a:t>
                      </a:r>
                      <a:r>
                        <a:rPr lang="ko-KR" altLang="en-US" sz="1100" dirty="0"/>
                        <a:t>등을 작성하며 시스템 설계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설계를 바탕으로 하는 상세한 구현 계획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테스트 계획 수립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기타 </a:t>
                      </a:r>
                      <a:r>
                        <a:rPr lang="en-US" altLang="ko-KR" sz="1100" dirty="0"/>
                        <a:t>UML </a:t>
                      </a:r>
                      <a:r>
                        <a:rPr lang="ko-KR" altLang="en-US" sz="1100" dirty="0"/>
                        <a:t>다이어그램 학습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진행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2024.10 ~ 2024.12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산출물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별도 포트폴리오 파일로 첨부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프로젝트관리실습</a:t>
                      </a:r>
                      <a:r>
                        <a:rPr lang="en-US" altLang="ko-KR" sz="1100" dirty="0"/>
                        <a:t>.pdf)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pic>
        <p:nvPicPr>
          <p:cNvPr id="8" name="그림 7" descr="텍스트, 도표, 라인, 스크린샷이(가) 표시된 사진&#10;&#10;자동 생성된 설명">
            <a:extLst>
              <a:ext uri="{FF2B5EF4-FFF2-40B4-BE49-F238E27FC236}">
                <a16:creationId xmlns:a16="http://schemas.microsoft.com/office/drawing/2014/main" id="{A62B525B-8216-6CBA-F60C-89FE62B105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849" y="4870187"/>
            <a:ext cx="2233229" cy="134639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그림 8" descr="텍스트, 도표, 스크린샷, 라인이(가) 표시된 사진&#10;&#10;자동 생성된 설명">
            <a:extLst>
              <a:ext uri="{FF2B5EF4-FFF2-40B4-BE49-F238E27FC236}">
                <a16:creationId xmlns:a16="http://schemas.microsoft.com/office/drawing/2014/main" id="{8498A499-A323-2873-F3E5-963233CF03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001" y="4879055"/>
            <a:ext cx="2407840" cy="13410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4B7A023-145C-36FD-47E1-D2EAC55C69AB}"/>
              </a:ext>
            </a:extLst>
          </p:cNvPr>
          <p:cNvSpPr txBox="1"/>
          <p:nvPr/>
        </p:nvSpPr>
        <p:spPr>
          <a:xfrm>
            <a:off x="3132000" y="4642274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Object Diagram</a:t>
            </a:r>
            <a:endParaRPr lang="ko-KR" alt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15EAD8-58D4-DDF7-5F3C-11B944DA7E70}"/>
              </a:ext>
            </a:extLst>
          </p:cNvPr>
          <p:cNvSpPr txBox="1"/>
          <p:nvPr/>
        </p:nvSpPr>
        <p:spPr>
          <a:xfrm>
            <a:off x="577849" y="4631563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Usecase Diagram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530F57-F0DC-2DD4-FC61-00708AAA99FA}"/>
              </a:ext>
            </a:extLst>
          </p:cNvPr>
          <p:cNvSpPr txBox="1"/>
          <p:nvPr/>
        </p:nvSpPr>
        <p:spPr>
          <a:xfrm>
            <a:off x="577849" y="1308405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Sequence Diagram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107074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11021</TotalTime>
  <Words>6633</Words>
  <Application>Microsoft Office PowerPoint</Application>
  <PresentationFormat>와이드스크린</PresentationFormat>
  <Paragraphs>825</Paragraphs>
  <Slides>20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Consolas</vt:lpstr>
      <vt:lpstr>Office 테마</vt:lpstr>
      <vt:lpstr>Intro</vt:lpstr>
      <vt:lpstr>작업물</vt:lpstr>
      <vt:lpstr>졸업작품</vt:lpstr>
      <vt:lpstr>졸업작품</vt:lpstr>
      <vt:lpstr>졸업작품</vt:lpstr>
      <vt:lpstr>졸업작품</vt:lpstr>
      <vt:lpstr>졸업작품</vt:lpstr>
      <vt:lpstr>졸업작품</vt:lpstr>
      <vt:lpstr>미니 MMORPG 서버</vt:lpstr>
      <vt:lpstr>미니 MMORPG 서버</vt:lpstr>
      <vt:lpstr>미니 MMORPG 서버</vt:lpstr>
      <vt:lpstr>미니 MMORPG 서버</vt:lpstr>
      <vt:lpstr>미니 MMORPG 서버</vt:lpstr>
      <vt:lpstr>미니 MMORPG 서버</vt:lpstr>
      <vt:lpstr>미니 MMORPG 서버</vt:lpstr>
      <vt:lpstr>기타 - Minecraft (모작)</vt:lpstr>
      <vt:lpstr>기타 - Agar.io (모작)</vt:lpstr>
      <vt:lpstr>기타 - Rugby</vt:lpstr>
      <vt:lpstr>기타 - Doodle Jump (모작)</vt:lpstr>
      <vt:lpstr>기타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주형 이</dc:creator>
  <cp:lastModifiedBy>주형 이</cp:lastModifiedBy>
  <cp:revision>300</cp:revision>
  <dcterms:created xsi:type="dcterms:W3CDTF">2025-08-11T12:44:19Z</dcterms:created>
  <dcterms:modified xsi:type="dcterms:W3CDTF">2025-11-04T18:48:05Z</dcterms:modified>
</cp:coreProperties>
</file>