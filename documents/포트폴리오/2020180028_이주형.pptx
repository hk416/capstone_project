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9" r:id="rId3"/>
    <p:sldId id="260" r:id="rId4"/>
    <p:sldId id="278" r:id="rId5"/>
    <p:sldId id="279" r:id="rId6"/>
    <p:sldId id="280" r:id="rId7"/>
    <p:sldId id="287" r:id="rId8"/>
    <p:sldId id="263" r:id="rId9"/>
    <p:sldId id="273" r:id="rId10"/>
    <p:sldId id="283" r:id="rId11"/>
    <p:sldId id="272" r:id="rId12"/>
    <p:sldId id="269" r:id="rId13"/>
    <p:sldId id="274" r:id="rId14"/>
    <p:sldId id="268" r:id="rId15"/>
    <p:sldId id="282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C6B08-5A15-45B9-88ED-9D405D0D1249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3A49E-E363-41B2-B4CD-1BF813D2205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65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3A49E-E363-41B2-B4CD-1BF813D2205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083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41836-2B9B-C472-196F-121150BD9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D310BD-6EE4-4BD4-118C-A7D96A3F4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33659F-C3F6-C609-04C3-705F3FCE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0F881-0330-DD05-9595-E485165C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C8318F-3A0E-56D3-516B-14350CAD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965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5A27F-22D7-2F6B-D071-1D7300BC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2EE78-1F25-ED93-93AF-E7E3FA1EB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541A17-C271-7F67-4D30-CD98C817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3CACAC-2D4F-4890-450B-867B3CAE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41B29-68F2-85B6-A9F0-87B17ECB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632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6F130-2A78-0348-FD79-A0BC1B68E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E9EECE-BD40-F6F6-6FEB-BF0914D1D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A7CF6-31C2-3975-0097-1E281784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F32A68-3E49-8350-6E00-24F18CE7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155E5-198B-4BE7-53BE-F5BAC139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423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89E5F-5A86-6BA6-9CD6-6ACADB916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9E01B3-1437-A112-239B-C1D41006A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10E8DC-A92D-E1BE-A045-0A8B7A679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86B956-A2ED-667F-6EEC-1B808DC0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A681CD-21BB-63D7-F2ED-0461B430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DADA39-90F5-18EA-8A53-82DE56B8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821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25BCA-CDE4-50C6-98A5-72E47251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46868-446F-057A-26F2-68687D1C5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315D1A-2AC3-79C5-56EB-9803ECDD7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1FA7CF-CB7F-8EB7-2F66-6FD1A2992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05F9E0-AD31-88B8-38B8-6CB52187D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7DA856-2CC6-5C2D-7507-DB7573FC2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EF84AA-10E3-52D4-D214-461D9B80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F5247F-77D4-698A-C7D5-A6E33291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59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6E46B-76EC-ED3C-82EF-40AC32BB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4295FD-BAFB-2372-6DD1-06BE965B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A20C28-54BB-F89D-FB1E-8BC52FD1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6BB52C-3863-483F-8F2B-E1E85E24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6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279A0F-2232-0A25-E825-5EFEB9AE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A40F85-290B-3187-4DD1-D91A5CBE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2FAF5-4CBE-40D9-08E3-FD799746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70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0F7C5-3FA8-A20C-DCCB-E6C7158F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F0DE14-4FF5-FA4B-3C53-B5DE73DD2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EFC2F8-0B48-217C-28EB-7FE5BA6E7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2CFD4E-CE41-AE01-1267-B03010BC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B62FF4-FC9B-51B0-3A4D-88BD6C90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55DFF5-CCA7-F64F-F51A-F5DF7F3D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293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5F8B8-A6C8-71C8-6A17-2743E5CC5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89A751-270C-EBAF-D42A-75415BD65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37C0F3-AFDE-9EE4-E785-160BCE55A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82131-EC60-7884-A395-895862B01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C6DDE9-2E78-FC9E-E517-A47CF975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CDD95D-3707-CAA0-B9BF-DDFEA2EB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095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C8C4D-F815-8D56-2B45-1024748B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765C94-70DB-F8E0-56CB-D01A643E1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9C901-2212-8616-CADA-38434C31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36C056-C2E4-57C4-3400-3683CD61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35940A-85E4-80C5-AB32-3A8C57F7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242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453596-F1CE-1613-4F59-9E7E8B34D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951AB2-94A0-8760-61C1-49AA22F27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C2638A-A776-5827-0C98-56452A3B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C39A8-3B98-BB04-55E1-7758B937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0F3D5-F9C1-2A48-7DE7-0DDB0903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828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E2D0F6-EA33-9711-A291-41E9135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EAF2A8-EB84-1DE3-3176-1CC4D6170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A4A772-1A6C-4092-F594-DF19A0DF2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3007-875A-4881-99C8-3250DAD1C440}" type="datetimeFigureOut">
              <a:rPr lang="ko-KR" altLang="en-US" smtClean="0"/>
              <a:t>2025-09-09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50699-624C-FDC2-CC09-5A4660086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CBAF3-8AE5-6AC5-36E9-658E3C563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CE28B-B858-41ED-98FC-EEAD638CCDB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4927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HK416/capstone_projec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Jirung-E/GameServer_fina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irung-E/CG_HW2_AM" TargetMode="External"/><Relationship Id="rId3" Type="http://schemas.openxmlformats.org/officeDocument/2006/relationships/hyperlink" Target="https://github.com/Jirung-E/NetGame_Agar" TargetMode="External"/><Relationship Id="rId7" Type="http://schemas.openxmlformats.org/officeDocument/2006/relationships/hyperlink" Target="https://github.com/Jirung-E/WP_Final" TargetMode="External"/><Relationship Id="rId2" Type="http://schemas.openxmlformats.org/officeDocument/2006/relationships/hyperlink" Target="https://github.com/Jirung-E/DoodleJum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Jirung-E/Rugby" TargetMode="External"/><Relationship Id="rId11" Type="http://schemas.openxmlformats.org/officeDocument/2006/relationships/hyperlink" Target="https://github.com/Jirung-E/EmployeeManagementSystem" TargetMode="External"/><Relationship Id="rId5" Type="http://schemas.openxmlformats.org/officeDocument/2006/relationships/hyperlink" Target="https://github.com/Jirung-E/CG_Final_Minecraft" TargetMode="External"/><Relationship Id="rId10" Type="http://schemas.openxmlformats.org/officeDocument/2006/relationships/hyperlink" Target="https://github.com/Jirung-E/JirungEngine" TargetMode="External"/><Relationship Id="rId4" Type="http://schemas.openxmlformats.org/officeDocument/2006/relationships/hyperlink" Target="https://github.com/Jirung-E/Script_termproject" TargetMode="External"/><Relationship Id="rId9" Type="http://schemas.openxmlformats.org/officeDocument/2006/relationships/hyperlink" Target="https://github.com/Jirung-E/L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03FFC-6CAE-B31C-863D-9D3499F66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/>
          <a:lstStyle/>
          <a:p>
            <a:r>
              <a:rPr lang="en-US" altLang="ko-KR" dirty="0"/>
              <a:t>Intro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A8434E-20ED-6206-40FA-A304007A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1218" y="1300612"/>
            <a:ext cx="7892581" cy="5309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b="1" dirty="0"/>
              <a:t>인적사항</a:t>
            </a:r>
            <a:endParaRPr lang="en-US" altLang="ko-KR" sz="1600" b="1" dirty="0"/>
          </a:p>
          <a:p>
            <a:r>
              <a:rPr lang="ko-KR" altLang="en-US" sz="1400" dirty="0"/>
              <a:t>생년월일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2001.09.26</a:t>
            </a:r>
          </a:p>
          <a:p>
            <a:r>
              <a:rPr lang="ko-KR" altLang="en-US" sz="1400" dirty="0"/>
              <a:t>주소지</a:t>
            </a:r>
            <a:r>
              <a:rPr lang="en-US" altLang="ko-KR" sz="1400" dirty="0"/>
              <a:t>:</a:t>
            </a:r>
            <a:r>
              <a:rPr lang="ko-KR" altLang="en-US" sz="1400" dirty="0"/>
              <a:t> 경기도 용인시</a:t>
            </a:r>
            <a:endParaRPr lang="en-US" altLang="ko-KR" sz="1400" dirty="0"/>
          </a:p>
          <a:p>
            <a:r>
              <a:rPr lang="ko-KR" altLang="en-US" sz="1400" dirty="0"/>
              <a:t>연락처</a:t>
            </a:r>
            <a:r>
              <a:rPr lang="en-US" altLang="ko-KR" sz="1400" dirty="0"/>
              <a:t>: 010-8853-2807</a:t>
            </a:r>
            <a:r>
              <a:rPr lang="ko-KR" altLang="en-US" sz="1400" dirty="0"/>
              <a:t> </a:t>
            </a:r>
            <a:r>
              <a:rPr lang="en-US" altLang="ko-KR" sz="1400" dirty="0"/>
              <a:t>/</a:t>
            </a:r>
            <a:r>
              <a:rPr lang="ko-KR" altLang="en-US" sz="1400" dirty="0"/>
              <a:t> </a:t>
            </a:r>
            <a:r>
              <a:rPr lang="en-US" altLang="ko-KR" sz="1400" dirty="0"/>
              <a:t>jh10590326@gmail.com</a:t>
            </a:r>
          </a:p>
          <a:p>
            <a:endParaRPr lang="en-US" altLang="ko-KR" sz="1400" dirty="0"/>
          </a:p>
          <a:p>
            <a:pPr marL="0" indent="0">
              <a:buNone/>
            </a:pPr>
            <a:r>
              <a:rPr lang="ko-KR" altLang="en-US" sz="1600" b="1" dirty="0"/>
              <a:t>최종 학력</a:t>
            </a:r>
            <a:endParaRPr lang="en-US" altLang="ko-KR" sz="1600" b="1" dirty="0"/>
          </a:p>
          <a:p>
            <a:r>
              <a:rPr lang="en-US" altLang="ko-KR" sz="1400" dirty="0"/>
              <a:t>2020.02</a:t>
            </a:r>
            <a:r>
              <a:rPr lang="ko-KR" altLang="en-US" sz="1400" dirty="0"/>
              <a:t> 홍천고등학교 졸업</a:t>
            </a:r>
            <a:endParaRPr lang="en-US" altLang="ko-KR" sz="1400" dirty="0"/>
          </a:p>
          <a:p>
            <a:r>
              <a:rPr lang="en-US" altLang="ko-KR" sz="1400" dirty="0"/>
              <a:t>2026.02 </a:t>
            </a:r>
            <a:r>
              <a:rPr lang="ko-KR" altLang="en-US" sz="1400" dirty="0"/>
              <a:t>한국공학대학교</a:t>
            </a:r>
            <a:r>
              <a:rPr lang="en-US" altLang="ko-KR" sz="1400" dirty="0"/>
              <a:t>(</a:t>
            </a:r>
            <a:r>
              <a:rPr lang="ko-KR" altLang="en-US" sz="1400" dirty="0"/>
              <a:t>구 한국산업기술대학교</a:t>
            </a:r>
            <a:r>
              <a:rPr lang="en-US" altLang="ko-KR" sz="1400" dirty="0"/>
              <a:t>) </a:t>
            </a:r>
            <a:r>
              <a:rPr lang="ko-KR" altLang="en-US" sz="1400" dirty="0"/>
              <a:t>졸업 예정</a:t>
            </a:r>
            <a:endParaRPr lang="en-US" altLang="ko-KR" sz="1400" dirty="0"/>
          </a:p>
          <a:p>
            <a:endParaRPr lang="en-US" altLang="ko-KR" sz="1400" dirty="0"/>
          </a:p>
          <a:p>
            <a:pPr marL="0" indent="0">
              <a:buNone/>
            </a:pPr>
            <a:r>
              <a:rPr lang="ko-KR" altLang="en-US" sz="1600" b="1" dirty="0"/>
              <a:t>기술</a:t>
            </a:r>
            <a:endParaRPr lang="en-US" altLang="ko-KR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40C25D-32BF-20B2-9B8C-52F0E2065643}"/>
              </a:ext>
            </a:extLst>
          </p:cNvPr>
          <p:cNvSpPr/>
          <p:nvPr/>
        </p:nvSpPr>
        <p:spPr>
          <a:xfrm>
            <a:off x="838201" y="1570899"/>
            <a:ext cx="1894450" cy="24832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 </a:t>
            </a:r>
            <a:r>
              <a:rPr lang="ko-KR" altLang="en-US" dirty="0">
                <a:solidFill>
                  <a:schemeClr val="tx1"/>
                </a:solidFill>
              </a:rPr>
              <a:t>사 진 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16730-23CB-993D-6B96-8FCDEF515A4F}"/>
              </a:ext>
            </a:extLst>
          </p:cNvPr>
          <p:cNvSpPr txBox="1"/>
          <p:nvPr/>
        </p:nvSpPr>
        <p:spPr>
          <a:xfrm>
            <a:off x="3688146" y="4576635"/>
            <a:ext cx="1282754" cy="18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언어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C/C++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Rust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Python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Lua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Java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6CED6-13BD-050E-9EAB-BDA86017E97E}"/>
              </a:ext>
            </a:extLst>
          </p:cNvPr>
          <p:cNvSpPr txBox="1"/>
          <p:nvPr/>
        </p:nvSpPr>
        <p:spPr>
          <a:xfrm>
            <a:off x="4970900" y="4576635"/>
            <a:ext cx="2508322" cy="155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서버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IOCP/</a:t>
            </a:r>
            <a:r>
              <a:rPr lang="ko-KR" altLang="en-US" sz="1400" b="1" dirty="0"/>
              <a:t>비동기 프로그래밍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Multithread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MSSQL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Redis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7E6A8-E2D7-E60E-4C93-C4F120B656CD}"/>
              </a:ext>
            </a:extLst>
          </p:cNvPr>
          <p:cNvSpPr txBox="1"/>
          <p:nvPr/>
        </p:nvSpPr>
        <p:spPr>
          <a:xfrm>
            <a:off x="7479284" y="4576635"/>
            <a:ext cx="1695402" cy="18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클라이언트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Windows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OpenGL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DirectX12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Unity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Unreal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01AF81-0084-978B-BF84-4B24E487FB6B}"/>
              </a:ext>
            </a:extLst>
          </p:cNvPr>
          <p:cNvSpPr txBox="1"/>
          <p:nvPr/>
        </p:nvSpPr>
        <p:spPr>
          <a:xfrm>
            <a:off x="9174686" y="4576636"/>
            <a:ext cx="1546303" cy="58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기타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Git/Github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1C098-84CB-5D5D-5AD2-E1B9ADB33F00}"/>
              </a:ext>
            </a:extLst>
          </p:cNvPr>
          <p:cNvSpPr txBox="1"/>
          <p:nvPr/>
        </p:nvSpPr>
        <p:spPr>
          <a:xfrm>
            <a:off x="838201" y="4324396"/>
            <a:ext cx="1894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이주형</a:t>
            </a:r>
            <a:endParaRPr lang="en-US" altLang="ko-KR" sz="2800" b="1" dirty="0"/>
          </a:p>
          <a:p>
            <a:pPr algn="ctr"/>
            <a:r>
              <a:rPr lang="en-US" altLang="ko-KR" sz="1400" dirty="0"/>
              <a:t>Lee Ju Hyung</a:t>
            </a:r>
          </a:p>
        </p:txBody>
      </p:sp>
    </p:spTree>
    <p:extLst>
      <p:ext uri="{BB962C8B-B14F-4D97-AF65-F5344CB8AC3E}">
        <p14:creationId xmlns:p14="http://schemas.microsoft.com/office/powerpoint/2010/main" val="453321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8FB8-2A5A-0803-1C9D-0DCFD346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00EE3-0574-7F4C-90A4-18E2364F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작업물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1EA4D2-ABC8-A455-2C0F-DB3CFC92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50" y="1609106"/>
            <a:ext cx="11036300" cy="5001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b="1" dirty="0"/>
              <a:t>졸업작품 </a:t>
            </a:r>
            <a:r>
              <a:rPr lang="en-US" altLang="ko-KR" sz="1600" b="1" dirty="0"/>
              <a:t>– Hello2Halo</a:t>
            </a:r>
          </a:p>
          <a:p>
            <a:r>
              <a:rPr lang="en-US" altLang="ko-KR" sz="1400" dirty="0"/>
              <a:t>Rust</a:t>
            </a:r>
            <a:r>
              <a:rPr lang="ko-KR" altLang="en-US" sz="1400" dirty="0"/>
              <a:t>로 제작한 </a:t>
            </a:r>
            <a:r>
              <a:rPr lang="en-US" altLang="ko-KR" sz="1400" dirty="0"/>
              <a:t>5 vs 5 </a:t>
            </a:r>
            <a:r>
              <a:rPr lang="ko-KR" altLang="en-US" sz="1400" dirty="0"/>
              <a:t>멀티플레이 </a:t>
            </a:r>
            <a:r>
              <a:rPr lang="en-US" altLang="ko-KR" sz="1400" dirty="0"/>
              <a:t>TPS </a:t>
            </a:r>
            <a:r>
              <a:rPr lang="ko-KR" altLang="en-US" sz="1400" dirty="0"/>
              <a:t>게임</a:t>
            </a:r>
            <a:endParaRPr lang="en-US" altLang="ko-KR" sz="1400" dirty="0"/>
          </a:p>
          <a:p>
            <a:endParaRPr lang="en-US" altLang="ko-KR" sz="1400" dirty="0"/>
          </a:p>
          <a:p>
            <a:pPr marL="0" indent="0">
              <a:buNone/>
            </a:pPr>
            <a:r>
              <a:rPr lang="ko-KR" altLang="en-US" sz="1600" b="1" dirty="0"/>
              <a:t>미니 </a:t>
            </a:r>
            <a:r>
              <a:rPr lang="en-US" altLang="ko-KR" sz="1600" b="1" dirty="0"/>
              <a:t>MMORPG </a:t>
            </a:r>
            <a:r>
              <a:rPr lang="ko-KR" altLang="en-US" sz="1600" b="1" dirty="0"/>
              <a:t>서버</a:t>
            </a:r>
            <a:endParaRPr lang="en-US" altLang="ko-KR" sz="1600" b="1" dirty="0"/>
          </a:p>
          <a:p>
            <a:r>
              <a:rPr lang="en-US" altLang="ko-KR" sz="1400" dirty="0"/>
              <a:t>IOCP</a:t>
            </a:r>
            <a:r>
              <a:rPr lang="ko-KR" altLang="en-US" sz="1400" dirty="0"/>
              <a:t>를 이용한 </a:t>
            </a:r>
            <a:r>
              <a:rPr lang="en-US" altLang="ko-KR" sz="1400" dirty="0"/>
              <a:t>MMORPG</a:t>
            </a:r>
            <a:r>
              <a:rPr lang="ko-KR" altLang="en-US" sz="1400" dirty="0"/>
              <a:t>서버 제작 실습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600" b="1" dirty="0"/>
              <a:t>기타</a:t>
            </a:r>
            <a:endParaRPr lang="en-US" altLang="ko-KR" sz="1600" b="1" dirty="0"/>
          </a:p>
          <a:p>
            <a:r>
              <a:rPr lang="ko-KR" altLang="en-US" sz="1400" dirty="0"/>
              <a:t>클라이언트 작업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2665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98ED-C0D1-9A9A-C8DB-E63FE96F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07629-B752-B148-4A62-2F32180FD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졸업작품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0D4F8-CEDC-5AFE-3ABC-3FFC9B742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50" y="4513384"/>
            <a:ext cx="5107206" cy="1466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24C1BBB-053A-CC0E-C999-19EE088E6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13514"/>
              </p:ext>
            </p:extLst>
          </p:nvPr>
        </p:nvGraphicFramePr>
        <p:xfrm>
          <a:off x="5835650" y="1640581"/>
          <a:ext cx="5778500" cy="4198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7230">
                  <a:extLst>
                    <a:ext uri="{9D8B030D-6E8A-4147-A177-3AD203B41FA5}">
                      <a16:colId xmlns:a16="http://schemas.microsoft.com/office/drawing/2014/main" val="1402850827"/>
                    </a:ext>
                  </a:extLst>
                </a:gridCol>
                <a:gridCol w="3951270">
                  <a:extLst>
                    <a:ext uri="{9D8B030D-6E8A-4147-A177-3AD203B41FA5}">
                      <a16:colId xmlns:a16="http://schemas.microsoft.com/office/drawing/2014/main" val="331915381"/>
                    </a:ext>
                  </a:extLst>
                </a:gridCol>
              </a:tblGrid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게임명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Hello2Halo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117459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 vs 5 </a:t>
                      </a:r>
                      <a:r>
                        <a:rPr lang="ko-KR" altLang="en-US" sz="1200" dirty="0"/>
                        <a:t>멀티플레이 </a:t>
                      </a:r>
                      <a:r>
                        <a:rPr lang="en-US" altLang="ko-KR" sz="1200" dirty="0"/>
                        <a:t>TPS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678465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게임 설명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블루아카이브의</a:t>
                      </a:r>
                      <a:r>
                        <a:rPr lang="ko-KR" altLang="en-US" sz="1200" dirty="0"/>
                        <a:t> 리소스를 활용하여 제작하였으며 제한시간 안에 맵 중앙의 거점을 적 팀보다 빠르게 차지하는 팀이 승리하는 게임이다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055185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제작 인원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명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클라이언트 </a:t>
                      </a:r>
                      <a:r>
                        <a:rPr lang="en-US" altLang="ko-KR" sz="1200" dirty="0"/>
                        <a:t>1, </a:t>
                      </a:r>
                      <a:r>
                        <a:rPr lang="ko-KR" altLang="en-US" sz="1200" dirty="0"/>
                        <a:t>서버 </a:t>
                      </a:r>
                      <a:r>
                        <a:rPr lang="en-US" altLang="ko-KR" sz="1200" dirty="0"/>
                        <a:t>2)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50500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담당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구현 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서버 개발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오브젝트의 이동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회전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등 클라이언트 동기화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충돌검사 및 처리 구현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랜덤매칭 구현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전투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거점 점령 시스템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등 게임 컨텐츠 구현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Redis </a:t>
                      </a:r>
                      <a:r>
                        <a:rPr lang="ko-KR" altLang="en-US" sz="1200" dirty="0"/>
                        <a:t>연결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플레이어 정보 및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전투 결과 저장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스트레스 테스트 코드 작성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11336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Rust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b="1" dirty="0"/>
                        <a:t>비동기 프로그래밍</a:t>
                      </a:r>
                      <a:r>
                        <a:rPr lang="en-US" altLang="ko-KR" sz="1200" dirty="0"/>
                        <a:t>, Redis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796815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플랫폼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클라이언트</a:t>
                      </a:r>
                      <a:r>
                        <a:rPr lang="en-US" altLang="ko-KR" sz="1200" dirty="0"/>
                        <a:t>: Windows, macOS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서버</a:t>
                      </a:r>
                      <a:r>
                        <a:rPr lang="en-US" altLang="ko-KR" sz="1200" dirty="0"/>
                        <a:t>: Windows, macOS, Linux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86939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제작 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2024.07 ~ 2025.07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73084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Github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hlinkClick r:id="rId2"/>
                        </a:rPr>
                        <a:t>https://github.com/HK416/capstone_project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052468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C62CAC90-0449-9E58-1A7A-904845081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1640581"/>
            <a:ext cx="5107206" cy="28728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562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96853-0B3E-0651-746F-4C52B001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BB7CB-5165-40AC-AD69-16D4E3B6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졸업작품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A894F-B105-19F9-D4F2-1E57FEC44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9074" y="1355521"/>
            <a:ext cx="6183748" cy="1484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b="1" dirty="0"/>
              <a:t>비동기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프로그래밍</a:t>
            </a:r>
            <a:endParaRPr lang="en-US" altLang="ko-KR" sz="1200" b="1" dirty="0"/>
          </a:p>
          <a:p>
            <a:pPr>
              <a:buFontTx/>
              <a:buChar char="-"/>
            </a:pPr>
            <a:r>
              <a:rPr lang="en-US" altLang="ko-KR" sz="1000" dirty="0"/>
              <a:t>tokio</a:t>
            </a:r>
            <a:r>
              <a:rPr lang="ko-KR" altLang="en-US" sz="1000" dirty="0"/>
              <a:t>라이브러리를 이용한 비동기 </a:t>
            </a:r>
            <a:r>
              <a:rPr lang="en-US" altLang="ko-KR" sz="1000" dirty="0"/>
              <a:t>I/O: Session thread</a:t>
            </a:r>
            <a:r>
              <a:rPr lang="ko-KR" altLang="en-US" sz="1000" dirty="0"/>
              <a:t>에서 상태 업데이트 등의 작업이 주기적으로 </a:t>
            </a:r>
            <a:br>
              <a:rPr lang="en-US" altLang="ko-KR" sz="1000" dirty="0"/>
            </a:br>
            <a:r>
              <a:rPr lang="ko-KR" altLang="en-US" sz="1000" dirty="0"/>
              <a:t>일어나는 것과 상관 없이 </a:t>
            </a:r>
            <a:r>
              <a:rPr lang="en-US" altLang="ko-KR" sz="1000" dirty="0"/>
              <a:t>read/write </a:t>
            </a:r>
            <a:r>
              <a:rPr lang="ko-KR" altLang="en-US" sz="1000" dirty="0"/>
              <a:t>할 수 있도록 별도 </a:t>
            </a:r>
            <a:r>
              <a:rPr lang="en-US" altLang="ko-KR" sz="1000" dirty="0"/>
              <a:t>task(user-level thread)</a:t>
            </a:r>
            <a:r>
              <a:rPr lang="ko-KR" altLang="en-US" sz="1000" dirty="0"/>
              <a:t>로 분리하여 처리한다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r>
              <a:rPr lang="en-US" altLang="ko-KR" sz="1000" b="1" dirty="0"/>
              <a:t>Lock-Free Queue</a:t>
            </a:r>
            <a:r>
              <a:rPr lang="ko-KR" altLang="en-US" sz="1000" dirty="0"/>
              <a:t>를 통해 쓰레드 사이 데이터</a:t>
            </a:r>
            <a:r>
              <a:rPr lang="en-US" altLang="ko-KR" sz="1000" dirty="0"/>
              <a:t>/</a:t>
            </a:r>
            <a:r>
              <a:rPr lang="ko-KR" altLang="en-US" sz="1000" dirty="0"/>
              <a:t>메시지 전달</a:t>
            </a:r>
            <a:r>
              <a:rPr lang="en-US" altLang="ko-KR" sz="1000" dirty="0"/>
              <a:t>: World</a:t>
            </a:r>
            <a:r>
              <a:rPr lang="ko-KR" altLang="en-US" sz="1000" dirty="0"/>
              <a:t> </a:t>
            </a:r>
            <a:r>
              <a:rPr lang="en-US" altLang="ko-KR" sz="1000" dirty="0"/>
              <a:t>thread</a:t>
            </a:r>
            <a:r>
              <a:rPr lang="ko-KR" altLang="en-US" sz="1000" dirty="0"/>
              <a:t>에서 </a:t>
            </a:r>
            <a:r>
              <a:rPr lang="en-US" altLang="ko-KR" sz="1000" dirty="0"/>
              <a:t>Session thread</a:t>
            </a:r>
            <a:r>
              <a:rPr lang="ko-KR" altLang="en-US" sz="1000" dirty="0"/>
              <a:t>로 상태 업데이트 메시지를 전달하거나 </a:t>
            </a:r>
            <a:r>
              <a:rPr lang="en-US" altLang="ko-KR" sz="1000" dirty="0"/>
              <a:t>Session thread</a:t>
            </a:r>
            <a:r>
              <a:rPr lang="ko-KR" altLang="en-US" sz="1000" dirty="0"/>
              <a:t>에서 </a:t>
            </a:r>
            <a:r>
              <a:rPr lang="en-US" altLang="ko-KR" sz="1000" dirty="0"/>
              <a:t>World thread</a:t>
            </a:r>
            <a:r>
              <a:rPr lang="ko-KR" altLang="en-US" sz="1000" dirty="0"/>
              <a:t>로 이벤트를 전달하는데 사용한다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73EF5-13CB-D68E-50D0-D23CAFBF7797}"/>
              </a:ext>
            </a:extLst>
          </p:cNvPr>
          <p:cNvSpPr txBox="1"/>
          <p:nvPr/>
        </p:nvSpPr>
        <p:spPr>
          <a:xfrm>
            <a:off x="577851" y="1881499"/>
            <a:ext cx="4688856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listener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addr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udp_sender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udp_sender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tokio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spawn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Arc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udp_sender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SessionManager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regist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handle_connection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session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SessionManager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unregist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unwrap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51B67-258A-FE23-743C-4B87B902B21C}"/>
              </a:ext>
            </a:extLst>
          </p:cNvPr>
          <p:cNvSpPr txBox="1"/>
          <p:nvPr/>
        </p:nvSpPr>
        <p:spPr>
          <a:xfrm>
            <a:off x="577850" y="1650667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accept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30F1D-4BDE-DD72-01EF-74DCED4A390C}"/>
              </a:ext>
            </a:extLst>
          </p:cNvPr>
          <p:cNvSpPr txBox="1"/>
          <p:nvPr/>
        </p:nvSpPr>
        <p:spPr>
          <a:xfrm>
            <a:off x="577850" y="4759638"/>
            <a:ext cx="5140119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handle_connection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TcpStream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Arc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tcp_reader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tcp_writer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into_split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tokio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spawn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tcp_read_loop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tcp_reader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tokio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spawn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tcp_write_loop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tcp_writer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session_state_loop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D411E-9A8B-AB6B-4960-04E1487893C5}"/>
              </a:ext>
            </a:extLst>
          </p:cNvPr>
          <p:cNvSpPr txBox="1"/>
          <p:nvPr/>
        </p:nvSpPr>
        <p:spPr>
          <a:xfrm>
            <a:off x="6313631" y="3113008"/>
            <a:ext cx="4766045" cy="18928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session_state_loop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Arc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Arc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A9EE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    while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is_running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    ...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received_packets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       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...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           state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handle_packets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    ...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        while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flow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flows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       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handle_session_state_flow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states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flow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        }</a:t>
            </a:r>
            <a:endParaRPr lang="en-US" altLang="ko-KR" sz="900" dirty="0">
              <a:solidFill>
                <a:srgbClr val="C6D0F5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    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A524A-D6F3-C87C-EC9E-AAAB295C9E76}"/>
              </a:ext>
            </a:extLst>
          </p:cNvPr>
          <p:cNvSpPr txBox="1"/>
          <p:nvPr/>
        </p:nvSpPr>
        <p:spPr>
          <a:xfrm>
            <a:off x="577850" y="4528806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read/write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174B9-908D-0BBE-3B7A-312190E6C8A4}"/>
              </a:ext>
            </a:extLst>
          </p:cNvPr>
          <p:cNvSpPr txBox="1"/>
          <p:nvPr/>
        </p:nvSpPr>
        <p:spPr>
          <a:xfrm>
            <a:off x="6313631" y="2882176"/>
            <a:ext cx="2236601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패킷 처리</a:t>
            </a:r>
            <a:r>
              <a:rPr lang="en-US" altLang="ko-KR" sz="900" dirty="0">
                <a:solidFill>
                  <a:schemeClr val="bg1"/>
                </a:solidFill>
              </a:rPr>
              <a:t>, Session </a:t>
            </a:r>
            <a:r>
              <a:rPr lang="ko-KR" altLang="en-US" sz="900" dirty="0">
                <a:solidFill>
                  <a:schemeClr val="bg1"/>
                </a:solidFill>
              </a:rPr>
              <a:t>상태 전환 요청 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A2114C-E53E-85CA-F09D-FE51DEDBBA82}"/>
              </a:ext>
            </a:extLst>
          </p:cNvPr>
          <p:cNvSpPr txBox="1"/>
          <p:nvPr/>
        </p:nvSpPr>
        <p:spPr>
          <a:xfrm>
            <a:off x="6313631" y="5449493"/>
            <a:ext cx="3847731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SessionQueuedState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add_flow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SessionStateFlow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DE91D-C2DD-8B26-71B2-3C33DD699BBD}"/>
              </a:ext>
            </a:extLst>
          </p:cNvPr>
          <p:cNvSpPr txBox="1"/>
          <p:nvPr/>
        </p:nvSpPr>
        <p:spPr>
          <a:xfrm>
            <a:off x="6313631" y="5218661"/>
            <a:ext cx="2131746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World</a:t>
            </a:r>
            <a:r>
              <a:rPr lang="ko-KR" altLang="en-US" sz="900" dirty="0">
                <a:solidFill>
                  <a:schemeClr val="bg1"/>
                </a:solidFill>
              </a:rPr>
              <a:t>에서</a:t>
            </a:r>
            <a:r>
              <a:rPr lang="en-US" altLang="ko-KR" sz="900" dirty="0">
                <a:solidFill>
                  <a:schemeClr val="bg1"/>
                </a:solidFill>
              </a:rPr>
              <a:t> Session</a:t>
            </a:r>
            <a:r>
              <a:rPr lang="ko-KR" altLang="en-US" sz="900" dirty="0">
                <a:solidFill>
                  <a:schemeClr val="bg1"/>
                </a:solidFill>
              </a:rPr>
              <a:t>의</a:t>
            </a:r>
            <a:r>
              <a:rPr lang="en-US" altLang="ko-KR" sz="900" dirty="0">
                <a:solidFill>
                  <a:schemeClr val="bg1"/>
                </a:solidFill>
              </a:rPr>
              <a:t> </a:t>
            </a:r>
            <a:r>
              <a:rPr lang="ko-KR" altLang="en-US" sz="900" dirty="0">
                <a:solidFill>
                  <a:schemeClr val="bg1"/>
                </a:solidFill>
              </a:rPr>
              <a:t>상태 전환 요청</a:t>
            </a:r>
          </a:p>
        </p:txBody>
      </p:sp>
    </p:spTree>
    <p:extLst>
      <p:ext uri="{BB962C8B-B14F-4D97-AF65-F5344CB8AC3E}">
        <p14:creationId xmlns:p14="http://schemas.microsoft.com/office/powerpoint/2010/main" val="17365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7D88B-4AF2-239D-2165-02B469C6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D74E18-D04C-FA0E-3889-226D4DD3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졸업작품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71041-DA71-F611-4860-BE3C0F96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888" y="1069782"/>
            <a:ext cx="6489865" cy="1659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b="1" dirty="0"/>
              <a:t>랜덤매칭</a:t>
            </a:r>
            <a:endParaRPr lang="en-US" altLang="ko-KR" sz="1200" b="1" dirty="0"/>
          </a:p>
          <a:p>
            <a:pPr>
              <a:buFontTx/>
              <a:buChar char="-"/>
            </a:pPr>
            <a:r>
              <a:rPr lang="ko-KR" altLang="en-US" sz="1000" dirty="0"/>
              <a:t>새로운 플레이어가 대기열에 들어오면 </a:t>
            </a:r>
            <a:r>
              <a:rPr lang="en-US" altLang="ko-KR" sz="1000" dirty="0"/>
              <a:t>MatchMaker</a:t>
            </a:r>
            <a:r>
              <a:rPr lang="ko-KR" altLang="en-US" sz="1000" dirty="0"/>
              <a:t>에서 </a:t>
            </a:r>
            <a:r>
              <a:rPr lang="en-US" altLang="ko-KR" sz="1000" dirty="0"/>
              <a:t>pop</a:t>
            </a:r>
            <a:r>
              <a:rPr lang="ko-KR" altLang="en-US" sz="1000" dirty="0"/>
              <a:t>을</a:t>
            </a:r>
            <a:r>
              <a:rPr lang="en-US" altLang="ko-KR" sz="1000" dirty="0"/>
              <a:t> </a:t>
            </a:r>
            <a:r>
              <a:rPr lang="ko-KR" altLang="en-US" sz="1000" dirty="0"/>
              <a:t>시도하고</a:t>
            </a:r>
            <a:r>
              <a:rPr lang="en-US" altLang="ko-KR" sz="1000" dirty="0"/>
              <a:t>, </a:t>
            </a:r>
            <a:r>
              <a:rPr lang="ko-KR" altLang="en-US" sz="1000" dirty="0"/>
              <a:t>인원이 모여서 </a:t>
            </a:r>
            <a:r>
              <a:rPr lang="en-US" altLang="ko-KR" sz="1000" dirty="0"/>
              <a:t>pop</a:t>
            </a:r>
            <a:r>
              <a:rPr lang="ko-KR" altLang="en-US" sz="1000" dirty="0"/>
              <a:t>에 성공하면 월드를 할당하여 게임을 시작한다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ko-KR" altLang="en-US" sz="1200" b="1" dirty="0"/>
              <a:t>지형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오브젝트 충돌검사</a:t>
            </a:r>
            <a:endParaRPr lang="en-US" altLang="ko-KR" sz="1200" b="1" dirty="0"/>
          </a:p>
          <a:p>
            <a:pPr>
              <a:buFontTx/>
              <a:buChar char="-"/>
            </a:pPr>
            <a:r>
              <a:rPr lang="ko-KR" altLang="en-US" sz="1000" dirty="0"/>
              <a:t>지형 충돌검사</a:t>
            </a:r>
            <a:r>
              <a:rPr lang="en-US" altLang="ko-KR" sz="1000" dirty="0"/>
              <a:t>: </a:t>
            </a:r>
            <a:r>
              <a:rPr lang="ko-KR" altLang="en-US" sz="1000" dirty="0"/>
              <a:t>주어진 위치가 속해 있는 영역의 </a:t>
            </a:r>
            <a:r>
              <a:rPr lang="en-US" altLang="ko-KR" sz="1000" dirty="0"/>
              <a:t>Height map</a:t>
            </a:r>
            <a:r>
              <a:rPr lang="ko-KR" altLang="en-US" sz="1000" dirty="0"/>
              <a:t>을 이용해서 높이를 계산한다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r>
              <a:rPr lang="ko-KR" altLang="en-US" sz="1000" dirty="0"/>
              <a:t>오브젝트 충돌검사</a:t>
            </a:r>
            <a:r>
              <a:rPr lang="en-US" altLang="ko-KR" sz="1000" dirty="0"/>
              <a:t>: 1</a:t>
            </a:r>
            <a:r>
              <a:rPr lang="ko-KR" altLang="en-US" sz="1000" dirty="0"/>
              <a:t>차로 바운딩박스</a:t>
            </a:r>
            <a:r>
              <a:rPr lang="en-US" altLang="ko-KR" sz="1000" dirty="0"/>
              <a:t>(AABB)</a:t>
            </a:r>
            <a:r>
              <a:rPr lang="ko-KR" altLang="en-US" sz="1000" dirty="0"/>
              <a:t>끼리 충돌중인지 확인하고</a:t>
            </a:r>
            <a:r>
              <a:rPr lang="en-US" altLang="ko-KR" sz="1000" dirty="0"/>
              <a:t>, </a:t>
            </a:r>
            <a:r>
              <a:rPr lang="ko-KR" altLang="en-US" sz="1000" dirty="0"/>
              <a:t>충돌중인 물체들에 대해서만 원본 충돌체들끼리의 충돌정보를 계산한다</a:t>
            </a:r>
            <a:r>
              <a:rPr lang="en-US" altLang="ko-KR" sz="1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1FDB9-5D05-EC79-FD47-A40624BDE5C1}"/>
              </a:ext>
            </a:extLst>
          </p:cNvPr>
          <p:cNvSpPr txBox="1"/>
          <p:nvPr/>
        </p:nvSpPr>
        <p:spPr>
          <a:xfrm>
            <a:off x="577848" y="1531443"/>
            <a:ext cx="4255409" cy="18928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MatchMaker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add_to_queue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매칭이 완료된 계정들로 게임을 생성합니다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MatchMaker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pop_matched_accounts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랜덤매칭 게임을 가져옵니다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result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GameWorldPool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create_normal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result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is_none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reason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MatchRequestRejectedReason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CreationLimited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packet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MatchRequestRejectedPacket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reason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tcp_write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as_raw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C33E6-C76E-69CB-3C5B-D3E1A89FCF92}"/>
              </a:ext>
            </a:extLst>
          </p:cNvPr>
          <p:cNvSpPr txBox="1"/>
          <p:nvPr/>
        </p:nvSpPr>
        <p:spPr>
          <a:xfrm>
            <a:off x="577849" y="1300611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매치메이킹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550E2-01E2-CCAC-60D0-70C0611D7378}"/>
              </a:ext>
            </a:extLst>
          </p:cNvPr>
          <p:cNvSpPr txBox="1"/>
          <p:nvPr/>
        </p:nvSpPr>
        <p:spPr>
          <a:xfrm>
            <a:off x="577847" y="3424269"/>
            <a:ext cx="4714503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pop_matched_accounts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Arc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queue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MATCH_QUEUE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unwrap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연결이 끊긴 계정은 대기열에서 제거합니다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retain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_account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is_running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queue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MAX_IN_GAME_PLAYERS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drain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..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MAX_IN_GAME_PLAYERS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BCE79-81E1-906C-75DC-0693AD1D72D4}"/>
              </a:ext>
            </a:extLst>
          </p:cNvPr>
          <p:cNvSpPr txBox="1"/>
          <p:nvPr/>
        </p:nvSpPr>
        <p:spPr>
          <a:xfrm>
            <a:off x="1657265" y="3054937"/>
            <a:ext cx="4197927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MATCH_QUEUE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RwLock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VecDeque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Arc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    RwLock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VecDeque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A4291-D3C1-C30D-9DBA-7E07D0D33CEA}"/>
              </a:ext>
            </a:extLst>
          </p:cNvPr>
          <p:cNvSpPr txBox="1"/>
          <p:nvPr/>
        </p:nvSpPr>
        <p:spPr>
          <a:xfrm>
            <a:off x="6118849" y="3113578"/>
            <a:ext cx="5518150" cy="30008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900" i="1" dirty="0">
                <a:solidFill>
                  <a:srgbClr val="949CBB"/>
                </a:solidFill>
                <a:latin typeface="Consolas" panose="020B0609020204030204" pitchFamily="49" charset="0"/>
              </a:rPr>
              <a:t>총알의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시작지점과 도착지점을 포함하는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AABB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생성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swept_aabb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BoundingBox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from_start_end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colliders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stage_attributes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bounding_box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ColliderTreeIterator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// 1. broad phase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검사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 AABB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충돌 검사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bounding_box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check_static_collision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swept_aabb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    // 2. narrow phase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검사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총알과 충돌체의 충돌 검사</a:t>
            </a:r>
            <a:endParaRPr lang="en-US" altLang="ko-KR" sz="900" b="0" i="1" dirty="0">
              <a:solidFill>
                <a:srgbClr val="949C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details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collider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Aabb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bullet_collider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check_dynamic_collision_details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velocity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Obb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bullet_collider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check_dynamic_collision_details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velocity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bullet_collider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check_dynamic_collision_details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velocity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collider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900" dirty="0">
              <a:solidFill>
                <a:srgbClr val="C6D0F5"/>
              </a:solidFill>
              <a:latin typeface="Consolas" panose="020B0609020204030204" pitchFamily="49" charset="0"/>
            </a:endParaRPr>
          </a:p>
          <a:p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    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C36C86-242A-DDEE-9E18-ABF003A169F7}"/>
              </a:ext>
            </a:extLst>
          </p:cNvPr>
          <p:cNvSpPr txBox="1"/>
          <p:nvPr/>
        </p:nvSpPr>
        <p:spPr>
          <a:xfrm>
            <a:off x="6118849" y="2882745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오브젝트 충돌검사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E319D3-38F4-1110-4E43-B622380DBE52}"/>
              </a:ext>
            </a:extLst>
          </p:cNvPr>
          <p:cNvSpPr txBox="1"/>
          <p:nvPr/>
        </p:nvSpPr>
        <p:spPr>
          <a:xfrm>
            <a:off x="577492" y="5227385"/>
            <a:ext cx="5145146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height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indices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f32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f32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filter_map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usize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usize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as_ref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filter_map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height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height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dirty="0">
              <a:solidFill>
                <a:srgbClr val="949CBB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pz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usize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width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usize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px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usize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height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height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area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translation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8B48A3-FBDE-4BDB-8B0B-679C1AC1A756}"/>
              </a:ext>
            </a:extLst>
          </p:cNvPr>
          <p:cNvSpPr txBox="1"/>
          <p:nvPr/>
        </p:nvSpPr>
        <p:spPr>
          <a:xfrm>
            <a:off x="577492" y="4996555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지형 충돌검사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CEEAD97-1E79-121B-E242-79F8ACA5E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364" y="4252643"/>
            <a:ext cx="2177384" cy="11219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D30C618-867B-F7ED-C243-05A9067CE637}"/>
              </a:ext>
            </a:extLst>
          </p:cNvPr>
          <p:cNvSpPr txBox="1"/>
          <p:nvPr/>
        </p:nvSpPr>
        <p:spPr>
          <a:xfrm>
            <a:off x="4785756" y="4909779"/>
            <a:ext cx="409699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area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액자 23">
            <a:extLst>
              <a:ext uri="{FF2B5EF4-FFF2-40B4-BE49-F238E27FC236}">
                <a16:creationId xmlns:a16="http://schemas.microsoft.com/office/drawing/2014/main" id="{FEE0615C-4896-DF9A-57D1-968503CB5373}"/>
              </a:ext>
            </a:extLst>
          </p:cNvPr>
          <p:cNvSpPr/>
          <p:nvPr/>
        </p:nvSpPr>
        <p:spPr>
          <a:xfrm>
            <a:off x="4524500" y="4720442"/>
            <a:ext cx="932212" cy="609507"/>
          </a:xfrm>
          <a:prstGeom prst="frame">
            <a:avLst>
              <a:gd name="adj1" fmla="val 2434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8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B6524-FB6D-B4F6-0E07-9EDC3A61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48C98-1ADC-863E-516B-EC274E82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졸업작품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CCEA3-43FA-1372-0C64-EE9A43FF0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942" y="1300613"/>
            <a:ext cx="5655208" cy="1092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b="1" dirty="0"/>
              <a:t>Redis </a:t>
            </a:r>
            <a:r>
              <a:rPr lang="ko-KR" altLang="en-US" sz="1200" b="1" dirty="0"/>
              <a:t>연결</a:t>
            </a:r>
            <a:endParaRPr lang="en-US" altLang="ko-KR" sz="1200" b="1" dirty="0"/>
          </a:p>
          <a:p>
            <a:pPr>
              <a:buFontTx/>
              <a:buChar char="-"/>
            </a:pPr>
            <a:r>
              <a:rPr lang="ko-KR" altLang="en-US" sz="1000" dirty="0"/>
              <a:t>예상치 못한 종료로 데이터가 손실되는 것을 방지하기 위해 </a:t>
            </a:r>
            <a:r>
              <a:rPr lang="en-US" altLang="ko-KR" sz="1000" dirty="0"/>
              <a:t>append only</a:t>
            </a:r>
            <a:r>
              <a:rPr lang="ko-KR" altLang="en-US" sz="1000" dirty="0"/>
              <a:t>로</a:t>
            </a:r>
            <a:r>
              <a:rPr lang="en-US" altLang="ko-KR" sz="1000" dirty="0"/>
              <a:t> </a:t>
            </a:r>
            <a:r>
              <a:rPr lang="ko-KR" altLang="en-US" sz="1000" dirty="0"/>
              <a:t>설정한다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r>
              <a:rPr lang="ko-KR" altLang="en-US" sz="1000" dirty="0"/>
              <a:t>비동기 연결을 가져와서 필요한 기능만 정의한 구조체로 캡슐화 하여 사용한다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r>
              <a:rPr lang="ko-KR" altLang="en-US" sz="1000" dirty="0"/>
              <a:t>유저 정보</a:t>
            </a:r>
            <a:r>
              <a:rPr lang="en-US" altLang="ko-KR" sz="1000" dirty="0"/>
              <a:t>, </a:t>
            </a:r>
            <a:r>
              <a:rPr lang="ko-KR" altLang="en-US" sz="1000" dirty="0"/>
              <a:t>게임 결과 등을 저장한다</a:t>
            </a:r>
            <a:r>
              <a:rPr lang="en-US" altLang="ko-KR" sz="1000" dirty="0"/>
              <a:t>.</a:t>
            </a:r>
            <a:endParaRPr lang="en-US" altLang="ko-KR" sz="1400" dirty="0"/>
          </a:p>
          <a:p>
            <a:pPr>
              <a:buFontTx/>
              <a:buChar char="-"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A6CE5-DFA2-1BEE-0225-54611D59DE5B}"/>
              </a:ext>
            </a:extLst>
          </p:cNvPr>
          <p:cNvSpPr txBox="1"/>
          <p:nvPr/>
        </p:nvSpPr>
        <p:spPr>
          <a:xfrm>
            <a:off x="347024" y="1416028"/>
            <a:ext cx="5488626" cy="52168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...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get_next_uid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 </a:t>
            </a:r>
          </a:p>
          <a:p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set_user_info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user_info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UserInfo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 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get_user_info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RedisResult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UserInfo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manager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key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format!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"user_info: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user_info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UserInfo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hgetall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user_info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is_empty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user_info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save_game_result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play_time_ms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u32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dirty="0">
              <a:solidFill>
                <a:srgbClr val="C6D0F5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900" b="0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winner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Team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900" b="0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result_data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InGamePlayerResultData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RedisResult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99D1D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manager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next_match_id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u32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incr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"next_match_id"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key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format!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"match: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next_match_id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hset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"play_time_s"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play_time_ms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hset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"winner"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winner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map_or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u8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result_data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key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format!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:user_info: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key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hset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"kills"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kill_count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hset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"deaths"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retreat_count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player_key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format!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"user_info: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:matches"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conn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rpush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player_key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next_match_id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(())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9DA35-DCCF-9E50-4786-23E924EF13F8}"/>
              </a:ext>
            </a:extLst>
          </p:cNvPr>
          <p:cNvSpPr txBox="1"/>
          <p:nvPr/>
        </p:nvSpPr>
        <p:spPr>
          <a:xfrm>
            <a:off x="5958943" y="2939522"/>
            <a:ext cx="5886034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dirty="0">
                <a:solidFill>
                  <a:srgbClr val="CA9EE6"/>
                </a:solidFill>
                <a:latin typeface="Consolas" panose="020B0609020204030204" pitchFamily="49" charset="0"/>
              </a:rPr>
              <a:t>pub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CA9EE6"/>
                </a:solidFill>
                <a:latin typeface="Consolas" panose="020B0609020204030204" pitchFamily="49" charset="0"/>
              </a:rPr>
              <a:t>struct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DbConnection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{</a:t>
            </a:r>
            <a:endParaRPr lang="en-US" altLang="ko-KR" sz="900" dirty="0">
              <a:solidFill>
                <a:srgbClr val="C6D0F5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    manager</a:t>
            </a:r>
            <a:r>
              <a:rPr lang="en-US" altLang="ko-KR" sz="900" dirty="0">
                <a:solidFill>
                  <a:srgbClr val="81C8BE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redis::aio::ConnectionManager</a:t>
            </a: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,</a:t>
            </a:r>
            <a:endParaRPr lang="en-US" altLang="ko-KR" sz="900" dirty="0">
              <a:solidFill>
                <a:srgbClr val="C6D0F5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altLang="ko-KR" sz="900" b="0" dirty="0">
              <a:solidFill>
                <a:srgbClr val="CA9EE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dirty="0">
                <a:solidFill>
                  <a:srgbClr val="CA9EE6"/>
                </a:solidFill>
                <a:latin typeface="Consolas" panose="020B0609020204030204" pitchFamily="49" charset="0"/>
              </a:rPr>
              <a:t>impl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DbConnection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A9EE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    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   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info!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"Database connection initialized."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client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redis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"redis://127.0.0.1/"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       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"Failed to create Redis client"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// redis appendonly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설정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   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redis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"CONFIG"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"SET"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"appendonly"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       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"Failed to set Redis appendonly configuration"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    // redis RDB + AOF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설정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redis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"CONFIG"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"SET"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"aof-use-rdb-preamble"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   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"Failed to set Redis aof-use-rdb-preamble configuration"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  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manager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block_on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ConnectionManager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   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"Failed to create Redis connection manager"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   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manager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}</a:t>
            </a:r>
            <a:endParaRPr lang="en-US" altLang="ko-KR" sz="900" dirty="0">
              <a:solidFill>
                <a:srgbClr val="C6D0F5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C9738-ED04-DE5F-5D98-663A1CFE3BF4}"/>
              </a:ext>
            </a:extLst>
          </p:cNvPr>
          <p:cNvSpPr txBox="1"/>
          <p:nvPr/>
        </p:nvSpPr>
        <p:spPr>
          <a:xfrm>
            <a:off x="347024" y="1185196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데이터 저장</a:t>
            </a:r>
            <a:r>
              <a:rPr lang="en-US" altLang="ko-KR" sz="900" dirty="0">
                <a:solidFill>
                  <a:schemeClr val="bg1"/>
                </a:solidFill>
              </a:rPr>
              <a:t>/</a:t>
            </a:r>
            <a:r>
              <a:rPr lang="ko-KR" altLang="en-US" sz="900" dirty="0">
                <a:solidFill>
                  <a:schemeClr val="bg1"/>
                </a:solidFill>
              </a:rPr>
              <a:t>불러오기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99863-CF09-E973-9869-D1C0AF73BBA0}"/>
              </a:ext>
            </a:extLst>
          </p:cNvPr>
          <p:cNvSpPr txBox="1"/>
          <p:nvPr/>
        </p:nvSpPr>
        <p:spPr>
          <a:xfrm>
            <a:off x="5958942" y="2708689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연결 및 초기 설정</a:t>
            </a:r>
          </a:p>
        </p:txBody>
      </p:sp>
    </p:spTree>
    <p:extLst>
      <p:ext uri="{BB962C8B-B14F-4D97-AF65-F5344CB8AC3E}">
        <p14:creationId xmlns:p14="http://schemas.microsoft.com/office/powerpoint/2010/main" val="59229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D9808-9484-8597-FCF7-601B8DD1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71760-76DD-24C6-A78B-A9C08330D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졸업작품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E1A298-A554-D383-5AAA-91DD1C7D7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35" y="1300614"/>
            <a:ext cx="5116141" cy="1469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b="1" dirty="0"/>
              <a:t>성능분석</a:t>
            </a:r>
            <a:endParaRPr lang="en-US" altLang="ko-KR" sz="1200" b="1" dirty="0"/>
          </a:p>
          <a:p>
            <a:pPr>
              <a:buFontTx/>
              <a:buChar char="-"/>
            </a:pPr>
            <a:r>
              <a:rPr lang="en-US" altLang="ko-KR" sz="1000" dirty="0"/>
              <a:t>cargo-flamegraph</a:t>
            </a:r>
            <a:r>
              <a:rPr lang="ko-KR" altLang="en-US" sz="1000" dirty="0"/>
              <a:t>로 오래 걸리는 작업을 찾아 개선하고</a:t>
            </a:r>
            <a:r>
              <a:rPr lang="en-US" altLang="ko-KR" sz="1000" dirty="0"/>
              <a:t>, stress test </a:t>
            </a:r>
            <a:r>
              <a:rPr lang="ko-KR" altLang="en-US" sz="1000" dirty="0"/>
              <a:t>프로그램으로 실제 동시접속자 증가를 확인한다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r>
              <a:rPr lang="ko-KR" altLang="en-US" sz="1200" b="1" dirty="0"/>
              <a:t>스트레스 테스트</a:t>
            </a:r>
            <a:endParaRPr lang="en-US" altLang="ko-KR" sz="1200" dirty="0"/>
          </a:p>
          <a:p>
            <a:pPr>
              <a:buFontTx/>
              <a:buChar char="-"/>
            </a:pPr>
            <a:r>
              <a:rPr lang="en-US" altLang="ko-KR" sz="1000" dirty="0"/>
              <a:t>‘</a:t>
            </a:r>
            <a:r>
              <a:rPr lang="ko-KR" altLang="en-US" sz="1000" dirty="0"/>
              <a:t>서버 접속 </a:t>
            </a:r>
            <a:r>
              <a:rPr lang="en-US" altLang="ko-KR" sz="1000" dirty="0"/>
              <a:t>-&gt; </a:t>
            </a:r>
            <a:r>
              <a:rPr lang="ko-KR" altLang="en-US" sz="1000" dirty="0"/>
              <a:t>로그인 </a:t>
            </a:r>
            <a:r>
              <a:rPr lang="en-US" altLang="ko-KR" sz="1000" dirty="0"/>
              <a:t>-&gt; </a:t>
            </a:r>
            <a:r>
              <a:rPr lang="ko-KR" altLang="en-US" sz="1000" dirty="0"/>
              <a:t>게임참가 </a:t>
            </a:r>
            <a:r>
              <a:rPr lang="en-US" altLang="ko-KR" sz="1000" dirty="0"/>
              <a:t>-&gt; </a:t>
            </a:r>
            <a:r>
              <a:rPr lang="ko-KR" altLang="en-US" sz="1000" dirty="0"/>
              <a:t>게임플레이</a:t>
            </a:r>
            <a:r>
              <a:rPr lang="en-US" altLang="ko-KR" sz="1000" dirty="0"/>
              <a:t>’</a:t>
            </a:r>
            <a:r>
              <a:rPr lang="ko-KR" altLang="en-US" sz="1000" dirty="0"/>
              <a:t> 의 과정을 자동으로 수행하는 </a:t>
            </a:r>
            <a:br>
              <a:rPr lang="en-US" altLang="ko-KR" sz="1000" dirty="0"/>
            </a:br>
            <a:r>
              <a:rPr lang="ko-KR" altLang="en-US" sz="1000" dirty="0"/>
              <a:t>더미 클라이언트를 접속시켜 최대 동시접속자 수를 측정한다</a:t>
            </a:r>
            <a:r>
              <a:rPr lang="en-US" altLang="ko-KR" sz="1000" dirty="0"/>
              <a:t>.</a:t>
            </a:r>
          </a:p>
        </p:txBody>
      </p:sp>
      <p:pic>
        <p:nvPicPr>
          <p:cNvPr id="9" name="그림 8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2AC025-4EBA-9CF2-EAF3-6B23B0A7B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71" b="18286"/>
          <a:stretch>
            <a:fillRect/>
          </a:stretch>
        </p:blipFill>
        <p:spPr>
          <a:xfrm>
            <a:off x="9658819" y="3375560"/>
            <a:ext cx="2074857" cy="16056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B9F3B5-0901-5324-1871-38492A6C2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1" b="18332"/>
          <a:stretch>
            <a:fillRect/>
          </a:stretch>
        </p:blipFill>
        <p:spPr>
          <a:xfrm>
            <a:off x="9654845" y="931811"/>
            <a:ext cx="2078831" cy="16056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74291F07-1DF2-E710-C9D5-3B33A7F470FC}"/>
              </a:ext>
            </a:extLst>
          </p:cNvPr>
          <p:cNvSpPr/>
          <p:nvPr/>
        </p:nvSpPr>
        <p:spPr>
          <a:xfrm rot="5400000">
            <a:off x="8653584" y="2986087"/>
            <a:ext cx="545092" cy="30962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3" name="그림 2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B2208F-0563-73D3-8600-E0093A13B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359" y="960587"/>
            <a:ext cx="3798487" cy="15768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그림 24" descr="선박, 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25FA45-E7A0-55E6-09DE-71B9889D6E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359" y="3599915"/>
            <a:ext cx="3798486" cy="13812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7CE7115-603F-D610-9D17-E41400253107}"/>
              </a:ext>
            </a:extLst>
          </p:cNvPr>
          <p:cNvSpPr txBox="1"/>
          <p:nvPr/>
        </p:nvSpPr>
        <p:spPr>
          <a:xfrm>
            <a:off x="5852385" y="2581832"/>
            <a:ext cx="275145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비정상적으로 많은</a:t>
            </a:r>
            <a:r>
              <a:rPr lang="en-US" altLang="ko-KR" sz="1000" dirty="0"/>
              <a:t> </a:t>
            </a:r>
            <a:r>
              <a:rPr lang="ko-KR" altLang="en-US" sz="1000" dirty="0"/>
              <a:t>충돌검사 확인</a:t>
            </a:r>
            <a:r>
              <a:rPr lang="en-US" altLang="ko-KR" sz="1000" dirty="0"/>
              <a:t>(OBB </a:t>
            </a:r>
            <a:r>
              <a:rPr lang="ko-KR" altLang="en-US" sz="1000" dirty="0"/>
              <a:t>충돌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-&gt; </a:t>
            </a:r>
            <a:r>
              <a:rPr lang="ko-KR" altLang="en-US" sz="1000" dirty="0"/>
              <a:t>전체 연산의 약 </a:t>
            </a:r>
            <a:r>
              <a:rPr lang="en-US" altLang="ko-KR" sz="1000" dirty="0"/>
              <a:t>90% </a:t>
            </a:r>
            <a:r>
              <a:rPr lang="ko-KR" altLang="en-US" sz="1000" dirty="0"/>
              <a:t>차지</a:t>
            </a:r>
            <a:r>
              <a:rPr lang="en-US" altLang="ko-KR" sz="1000" dirty="0"/>
              <a:t>, </a:t>
            </a:r>
            <a:r>
              <a:rPr lang="ko-KR" altLang="en-US" sz="1000" dirty="0"/>
              <a:t>동접 </a:t>
            </a:r>
            <a:r>
              <a:rPr lang="en-US" altLang="ko-KR" sz="1000" dirty="0"/>
              <a:t>180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AEF20B-43B5-8C9A-F346-F5242B9A4952}"/>
              </a:ext>
            </a:extLst>
          </p:cNvPr>
          <p:cNvSpPr txBox="1"/>
          <p:nvPr/>
        </p:nvSpPr>
        <p:spPr>
          <a:xfrm>
            <a:off x="5856359" y="5039188"/>
            <a:ext cx="3069771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broad phase</a:t>
            </a:r>
            <a:r>
              <a:rPr lang="ko-KR" altLang="en-US" sz="1000" dirty="0"/>
              <a:t>에서 </a:t>
            </a:r>
            <a:r>
              <a:rPr lang="en-US" altLang="ko-KR" sz="1000" dirty="0"/>
              <a:t>AABB</a:t>
            </a:r>
            <a:r>
              <a:rPr lang="ko-KR" altLang="en-US" sz="1000" dirty="0"/>
              <a:t>로 충돌검사를 하도록 수정</a:t>
            </a:r>
            <a:endParaRPr lang="en-US" altLang="ko-KR" sz="1000" dirty="0"/>
          </a:p>
          <a:p>
            <a:r>
              <a:rPr lang="en-US" altLang="ko-KR" sz="1000" dirty="0"/>
              <a:t>-&gt; </a:t>
            </a:r>
            <a:r>
              <a:rPr lang="ko-KR" altLang="en-US" sz="1000" dirty="0"/>
              <a:t>전체</a:t>
            </a:r>
            <a:r>
              <a:rPr lang="en-US" altLang="ko-KR" sz="1000" dirty="0"/>
              <a:t> </a:t>
            </a:r>
            <a:r>
              <a:rPr lang="ko-KR" altLang="en-US" sz="1000" dirty="0"/>
              <a:t>연산의 약 </a:t>
            </a:r>
            <a:r>
              <a:rPr lang="en-US" altLang="ko-KR" sz="1000" dirty="0"/>
              <a:t>30% </a:t>
            </a:r>
            <a:r>
              <a:rPr lang="ko-KR" altLang="en-US" sz="1000" dirty="0"/>
              <a:t>차지</a:t>
            </a:r>
            <a:r>
              <a:rPr lang="en-US" altLang="ko-KR" sz="1000" dirty="0"/>
              <a:t>, </a:t>
            </a:r>
            <a:r>
              <a:rPr lang="ko-KR" altLang="en-US" sz="1000" dirty="0"/>
              <a:t>동접 </a:t>
            </a:r>
            <a:r>
              <a:rPr lang="en-US" altLang="ko-KR" sz="1000" dirty="0"/>
              <a:t>600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867AFB-735B-0164-7259-F383A177C865}"/>
              </a:ext>
            </a:extLst>
          </p:cNvPr>
          <p:cNvSpPr txBox="1"/>
          <p:nvPr/>
        </p:nvSpPr>
        <p:spPr>
          <a:xfrm>
            <a:off x="6453800" y="1138540"/>
            <a:ext cx="1004829" cy="246221"/>
          </a:xfrm>
          <a:prstGeom prst="rect">
            <a:avLst/>
          </a:prstGeom>
          <a:noFill/>
          <a:ln w="19050">
            <a:solidFill>
              <a:srgbClr val="FF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충돌검사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175D063-883F-A65A-C8AD-0DB6EA2A8021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650182" y="1384761"/>
            <a:ext cx="306033" cy="854045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A924FF8-69B2-C61A-52A0-C4B461D98C8F}"/>
              </a:ext>
            </a:extLst>
          </p:cNvPr>
          <p:cNvCxnSpPr>
            <a:cxnSpLocks/>
          </p:cNvCxnSpPr>
          <p:nvPr/>
        </p:nvCxnSpPr>
        <p:spPr>
          <a:xfrm flipH="1">
            <a:off x="8121949" y="4357470"/>
            <a:ext cx="83900" cy="343606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액자 3">
            <a:extLst>
              <a:ext uri="{FF2B5EF4-FFF2-40B4-BE49-F238E27FC236}">
                <a16:creationId xmlns:a16="http://schemas.microsoft.com/office/drawing/2014/main" id="{B07348BF-BD1A-DCAE-B11F-47826498C6B8}"/>
              </a:ext>
            </a:extLst>
          </p:cNvPr>
          <p:cNvSpPr/>
          <p:nvPr/>
        </p:nvSpPr>
        <p:spPr>
          <a:xfrm>
            <a:off x="6096000" y="958538"/>
            <a:ext cx="3558844" cy="1578895"/>
          </a:xfrm>
          <a:prstGeom prst="frame">
            <a:avLst>
              <a:gd name="adj1" fmla="val 387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AAEB336B-12DD-E0F3-1332-65C35F44F661}"/>
              </a:ext>
            </a:extLst>
          </p:cNvPr>
          <p:cNvSpPr/>
          <p:nvPr/>
        </p:nvSpPr>
        <p:spPr>
          <a:xfrm>
            <a:off x="7269480" y="3599915"/>
            <a:ext cx="1280160" cy="1381268"/>
          </a:xfrm>
          <a:prstGeom prst="frame">
            <a:avLst>
              <a:gd name="adj1" fmla="val 50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E52FA339-3DF1-01D6-7BD2-21719DB057F2}"/>
              </a:ext>
            </a:extLst>
          </p:cNvPr>
          <p:cNvSpPr/>
          <p:nvPr/>
        </p:nvSpPr>
        <p:spPr>
          <a:xfrm>
            <a:off x="5852385" y="3599915"/>
            <a:ext cx="1415108" cy="1381268"/>
          </a:xfrm>
          <a:prstGeom prst="frame">
            <a:avLst>
              <a:gd name="adj1" fmla="val 505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액자 10">
            <a:extLst>
              <a:ext uri="{FF2B5EF4-FFF2-40B4-BE49-F238E27FC236}">
                <a16:creationId xmlns:a16="http://schemas.microsoft.com/office/drawing/2014/main" id="{F95A3F8E-BC37-8292-04C6-E9D5CFA2872F}"/>
              </a:ext>
            </a:extLst>
          </p:cNvPr>
          <p:cNvSpPr/>
          <p:nvPr/>
        </p:nvSpPr>
        <p:spPr>
          <a:xfrm>
            <a:off x="8549640" y="3599915"/>
            <a:ext cx="1107192" cy="1381268"/>
          </a:xfrm>
          <a:prstGeom prst="frame">
            <a:avLst>
              <a:gd name="adj1" fmla="val 505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액자 11">
            <a:extLst>
              <a:ext uri="{FF2B5EF4-FFF2-40B4-BE49-F238E27FC236}">
                <a16:creationId xmlns:a16="http://schemas.microsoft.com/office/drawing/2014/main" id="{1762C9FC-3998-32AF-0111-54D54A2301A8}"/>
              </a:ext>
            </a:extLst>
          </p:cNvPr>
          <p:cNvSpPr/>
          <p:nvPr/>
        </p:nvSpPr>
        <p:spPr>
          <a:xfrm>
            <a:off x="5852385" y="958538"/>
            <a:ext cx="243614" cy="1580944"/>
          </a:xfrm>
          <a:prstGeom prst="frame">
            <a:avLst>
              <a:gd name="adj1" fmla="val 29688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B6604-50AA-9EF4-AF59-7247C00A8158}"/>
              </a:ext>
            </a:extLst>
          </p:cNvPr>
          <p:cNvSpPr txBox="1"/>
          <p:nvPr/>
        </p:nvSpPr>
        <p:spPr>
          <a:xfrm>
            <a:off x="581761" y="3009480"/>
            <a:ext cx="3906814" cy="35548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stream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TcpStream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unwrap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NUM_CLIENTS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fetch_add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Ordering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Relaxed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900" i="1" dirty="0">
                <a:solidFill>
                  <a:srgbClr val="949CBB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900" i="1" dirty="0">
                <a:solidFill>
                  <a:srgbClr val="949CBB"/>
                </a:solidFill>
                <a:latin typeface="Consolas" panose="020B0609020204030204" pitchFamily="49" charset="0"/>
              </a:rPr>
              <a:t>게임 준비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ready_client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ReadyClient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ready_client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ready_client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client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Ordering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게임 시작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client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InGameClient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ready_client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ready_client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ready_client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ready_client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ready_client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packet_parser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client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(())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Ordering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C39FF90-314A-531E-35B3-54767F3303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813" y="5897413"/>
            <a:ext cx="3629973" cy="4917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43AF69-DA87-ED46-E400-3DF07A77E299}"/>
              </a:ext>
            </a:extLst>
          </p:cNvPr>
          <p:cNvSpPr txBox="1"/>
          <p:nvPr/>
        </p:nvSpPr>
        <p:spPr>
          <a:xfrm>
            <a:off x="581761" y="2778648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스트레스 테스트</a:t>
            </a:r>
          </a:p>
        </p:txBody>
      </p:sp>
    </p:spTree>
    <p:extLst>
      <p:ext uri="{BB962C8B-B14F-4D97-AF65-F5344CB8AC3E}">
        <p14:creationId xmlns:p14="http://schemas.microsoft.com/office/powerpoint/2010/main" val="27811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A2362-FCE1-0373-4BDF-2C2CB4F4C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51167-B426-C889-3C39-0EEFD9DF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미니 </a:t>
            </a:r>
            <a:r>
              <a:rPr lang="en-US" altLang="ko-KR" sz="3600" dirty="0"/>
              <a:t>MMORPG </a:t>
            </a:r>
            <a:r>
              <a:rPr lang="ko-KR" altLang="en-US" sz="3600" dirty="0"/>
              <a:t>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4EEBD-3AAC-2442-92C0-E396D624E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942" y="4812323"/>
            <a:ext cx="5655208" cy="1798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9F7D884-F6C2-EB58-B8A3-5F1E06EAD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35163"/>
              </p:ext>
            </p:extLst>
          </p:nvPr>
        </p:nvGraphicFramePr>
        <p:xfrm>
          <a:off x="5797062" y="1586362"/>
          <a:ext cx="5594114" cy="3713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9702">
                  <a:extLst>
                    <a:ext uri="{9D8B030D-6E8A-4147-A177-3AD203B41FA5}">
                      <a16:colId xmlns:a16="http://schemas.microsoft.com/office/drawing/2014/main" val="1402850827"/>
                    </a:ext>
                  </a:extLst>
                </a:gridCol>
                <a:gridCol w="4034412">
                  <a:extLst>
                    <a:ext uri="{9D8B030D-6E8A-4147-A177-3AD203B41FA5}">
                      <a16:colId xmlns:a16="http://schemas.microsoft.com/office/drawing/2014/main" val="331915381"/>
                    </a:ext>
                  </a:extLst>
                </a:gridCol>
              </a:tblGrid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게임 설명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IOCP</a:t>
                      </a:r>
                      <a:r>
                        <a:rPr lang="ko-KR" altLang="en-US" sz="1200" dirty="0"/>
                        <a:t>를 이용한 </a:t>
                      </a:r>
                      <a:r>
                        <a:rPr lang="en-US" altLang="ko-KR" sz="1200" dirty="0"/>
                        <a:t>MMORPG</a:t>
                      </a:r>
                      <a:r>
                        <a:rPr lang="ko-KR" altLang="en-US" sz="1200" dirty="0"/>
                        <a:t>서버 제작 실습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055185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개발 목적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IOCP</a:t>
                      </a:r>
                      <a:r>
                        <a:rPr lang="ko-KR" altLang="en-US" sz="1200" dirty="0"/>
                        <a:t> 학습</a:t>
                      </a:r>
                      <a:r>
                        <a:rPr lang="en-US" altLang="ko-KR" sz="1200" dirty="0"/>
                        <a:t>, DB</a:t>
                      </a:r>
                      <a:r>
                        <a:rPr lang="ko-KR" altLang="en-US" sz="1200" dirty="0"/>
                        <a:t>연동 및 </a:t>
                      </a:r>
                      <a:r>
                        <a:rPr lang="en-US" altLang="ko-KR" sz="1200" dirty="0"/>
                        <a:t>Lua</a:t>
                      </a:r>
                      <a:r>
                        <a:rPr lang="ko-KR" altLang="en-US" sz="1200" dirty="0"/>
                        <a:t>연동 학습</a:t>
                      </a:r>
                      <a:r>
                        <a:rPr lang="en-US" altLang="ko-KR" sz="1200" dirty="0"/>
                        <a:t>, MMORPG</a:t>
                      </a:r>
                      <a:r>
                        <a:rPr lang="ko-KR" altLang="en-US" sz="1200" dirty="0"/>
                        <a:t>서버의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최적화 기법 학습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623824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제작 인원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50500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구현 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Multithread IOCP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Lua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Script</a:t>
                      </a:r>
                      <a:r>
                        <a:rPr lang="ko-KR" altLang="en-US" sz="1200" dirty="0"/>
                        <a:t>로 몬스터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구현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MSSQL</a:t>
                      </a:r>
                      <a:r>
                        <a:rPr lang="ko-KR" altLang="en-US" sz="1200" dirty="0"/>
                        <a:t> 연결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플레이어 데이터 저장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Sector</a:t>
                      </a:r>
                      <a:r>
                        <a:rPr lang="ko-KR" altLang="en-US" sz="1200" dirty="0"/>
                        <a:t> 최적화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시야처리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Python</a:t>
                      </a:r>
                      <a:r>
                        <a:rPr lang="ko-KR" altLang="en-US" sz="1200" dirty="0"/>
                        <a:t>을 활용하여 지형 제작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82566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개발 목표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2000x2000 </a:t>
                      </a:r>
                      <a:r>
                        <a:rPr lang="ko-KR" altLang="en-US" sz="1200" dirty="0"/>
                        <a:t>크기의 월드에 </a:t>
                      </a:r>
                      <a:r>
                        <a:rPr lang="en-US" altLang="ko-KR" sz="1200" dirty="0"/>
                        <a:t>20</a:t>
                      </a:r>
                      <a:r>
                        <a:rPr lang="ko-KR" altLang="en-US" sz="1200" dirty="0"/>
                        <a:t>만 마리의 몬스터가 존재할 때 최대 </a:t>
                      </a:r>
                      <a:r>
                        <a:rPr lang="en-US" altLang="ko-KR" sz="1200" dirty="0"/>
                        <a:t>5000</a:t>
                      </a:r>
                      <a:r>
                        <a:rPr lang="ko-KR" altLang="en-US" sz="1200" dirty="0"/>
                        <a:t>명의 플레이어가 접속할 수 있도록 하는 것을 목표로 개발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808111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C++20, </a:t>
                      </a:r>
                      <a:r>
                        <a:rPr lang="en-US" altLang="ko-KR" sz="1200" b="1" dirty="0"/>
                        <a:t>Multithread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b="1" dirty="0"/>
                        <a:t>IOCP</a:t>
                      </a:r>
                      <a:r>
                        <a:rPr lang="en-US" altLang="ko-KR" sz="1200" dirty="0"/>
                        <a:t>, Lua Script, </a:t>
                      </a:r>
                    </a:p>
                    <a:p>
                      <a:pPr latinLnBrk="1"/>
                      <a:r>
                        <a:rPr lang="en-US" altLang="ko-KR" sz="1200" dirty="0"/>
                        <a:t>MSSQL, Stored Procedure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796815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제작 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2025.05 ~ 2025.06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73084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Github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hlinkClick r:id="rId2"/>
                        </a:rPr>
                        <a:t>https://github.com/Jirung-E/GameServer_final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58728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43F88216-A4BB-3FD2-5AA8-605777C28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" y="1586362"/>
            <a:ext cx="4196002" cy="41927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457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7C49-3416-0B3B-7F82-8FAF2B06F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722D91-CDAB-25E5-F295-6167DE455D86}"/>
              </a:ext>
            </a:extLst>
          </p:cNvPr>
          <p:cNvSpPr txBox="1"/>
          <p:nvPr/>
        </p:nvSpPr>
        <p:spPr>
          <a:xfrm>
            <a:off x="6096000" y="708716"/>
            <a:ext cx="5751698" cy="27238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GetQueuedCompletionStatus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h_iocp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num_bytes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over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INFINITE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OverlappedEx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ex_over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reinterpret_cast&lt;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OverlappedEx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over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ex_over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io_op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Receive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LoginOk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LoginFail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NewPlayer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NpcMove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NpcAI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405365-B964-EF46-A835-B7C7FDAB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미니 </a:t>
            </a:r>
            <a:r>
              <a:rPr lang="en-US" altLang="ko-KR" sz="3600" dirty="0"/>
              <a:t>MMORPG </a:t>
            </a:r>
            <a:r>
              <a:rPr lang="ko-KR" altLang="en-US" sz="3600" dirty="0"/>
              <a:t>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164F46-A50E-7188-C5F4-3C75EC3B6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49" y="1300614"/>
            <a:ext cx="5357749" cy="2451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b="1" dirty="0"/>
              <a:t>서버 구조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000" b="1" dirty="0"/>
              <a:t>Worker Thread</a:t>
            </a:r>
            <a:r>
              <a:rPr lang="en-US" altLang="ko-KR" sz="1000" dirty="0"/>
              <a:t>, </a:t>
            </a:r>
            <a:r>
              <a:rPr lang="en-US" altLang="ko-KR" sz="1000" b="1" dirty="0"/>
              <a:t>DB Thread</a:t>
            </a:r>
            <a:r>
              <a:rPr lang="en-US" altLang="ko-KR" sz="1000" dirty="0"/>
              <a:t>, </a:t>
            </a:r>
            <a:r>
              <a:rPr lang="en-US" altLang="ko-KR" sz="1000" b="1" dirty="0"/>
              <a:t>AI Thread</a:t>
            </a:r>
            <a:r>
              <a:rPr lang="ko-KR" altLang="en-US" sz="1000" dirty="0"/>
              <a:t>로 구성되어 있으며</a:t>
            </a:r>
            <a:r>
              <a:rPr lang="en-US" altLang="ko-KR" sz="1000" dirty="0"/>
              <a:t>, </a:t>
            </a:r>
            <a:r>
              <a:rPr lang="ko-KR" altLang="en-US" sz="1000" dirty="0"/>
              <a:t>각 쓰레드는 </a:t>
            </a:r>
            <a:r>
              <a:rPr lang="en-US" altLang="ko-KR" sz="1000" dirty="0"/>
              <a:t>concurrenct_queue</a:t>
            </a:r>
            <a:r>
              <a:rPr lang="ko-KR" altLang="en-US" sz="1000" dirty="0"/>
              <a:t>와 </a:t>
            </a:r>
            <a:r>
              <a:rPr lang="en-US" altLang="ko-KR" sz="1000" dirty="0"/>
              <a:t>PostQueuedCompletionStatus</a:t>
            </a:r>
            <a:r>
              <a:rPr lang="ko-KR" altLang="en-US" sz="1000" dirty="0"/>
              <a:t>등을 이용하여 통신한다</a:t>
            </a:r>
            <a:r>
              <a:rPr lang="en-US" altLang="ko-KR" sz="1000" dirty="0"/>
              <a:t>. </a:t>
            </a:r>
            <a:br>
              <a:rPr lang="en-US" altLang="ko-KR" sz="1000" dirty="0"/>
            </a:br>
            <a:r>
              <a:rPr lang="en-US" altLang="ko-KR" sz="1000" dirty="0"/>
              <a:t>DB Thread</a:t>
            </a:r>
            <a:r>
              <a:rPr lang="ko-KR" altLang="en-US" sz="1000" dirty="0"/>
              <a:t>와 </a:t>
            </a:r>
            <a:r>
              <a:rPr lang="en-US" altLang="ko-KR" sz="1000" dirty="0"/>
              <a:t>AI Thread</a:t>
            </a:r>
            <a:r>
              <a:rPr lang="ko-KR" altLang="en-US" sz="1000" dirty="0"/>
              <a:t>는 </a:t>
            </a:r>
            <a:r>
              <a:rPr lang="en-US" altLang="ko-KR" sz="1000" dirty="0"/>
              <a:t>1</a:t>
            </a:r>
            <a:r>
              <a:rPr lang="ko-KR" altLang="en-US" sz="1000" dirty="0"/>
              <a:t>개씩 생성하고</a:t>
            </a:r>
            <a:r>
              <a:rPr lang="en-US" altLang="ko-KR" sz="1000" dirty="0"/>
              <a:t>, Worker Thread</a:t>
            </a:r>
            <a:r>
              <a:rPr lang="ko-KR" altLang="en-US" sz="1000" dirty="0"/>
              <a:t>는 코어 수 </a:t>
            </a:r>
            <a:r>
              <a:rPr lang="en-US" altLang="ko-KR" sz="1000" dirty="0"/>
              <a:t>- 2</a:t>
            </a:r>
            <a:r>
              <a:rPr lang="ko-KR" altLang="en-US" sz="1000" dirty="0"/>
              <a:t>개 만큼 생성한다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r>
              <a:rPr lang="en-US" altLang="ko-KR" sz="1000" b="1" dirty="0"/>
              <a:t>Worker Thread</a:t>
            </a:r>
            <a:r>
              <a:rPr lang="ko-KR" altLang="en-US" sz="1000" dirty="0"/>
              <a:t>는 서버의 메인 로직을 수행한다</a:t>
            </a:r>
            <a:r>
              <a:rPr lang="en-US" altLang="ko-KR" sz="1000" dirty="0"/>
              <a:t>. Send/Recv </a:t>
            </a:r>
            <a:r>
              <a:rPr lang="ko-KR" altLang="en-US" sz="1000" dirty="0"/>
              <a:t>뿐 아니라 </a:t>
            </a:r>
            <a:br>
              <a:rPr lang="en-US" altLang="ko-KR" sz="1000" dirty="0"/>
            </a:br>
            <a:r>
              <a:rPr lang="ko-KR" altLang="en-US" sz="1000" dirty="0"/>
              <a:t>다른 쓰레드에서 </a:t>
            </a:r>
            <a:r>
              <a:rPr lang="en-US" altLang="ko-KR" sz="1000" dirty="0"/>
              <a:t>PostQueuedCompletionStatus</a:t>
            </a:r>
            <a:r>
              <a:rPr lang="ko-KR" altLang="en-US" sz="1000" dirty="0"/>
              <a:t>로 요청한 작업도 처리한다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r>
              <a:rPr lang="en-US" altLang="ko-KR" sz="1000" b="1" dirty="0"/>
              <a:t>DB Thread</a:t>
            </a:r>
            <a:r>
              <a:rPr lang="ko-KR" altLang="en-US" sz="1000" dirty="0"/>
              <a:t>는 </a:t>
            </a:r>
            <a:r>
              <a:rPr lang="en-US" altLang="ko-KR" sz="1000" dirty="0"/>
              <a:t>concurrent_queue</a:t>
            </a:r>
            <a:r>
              <a:rPr lang="ko-KR" altLang="en-US" sz="1000" dirty="0"/>
              <a:t>를 통해 다른 쓰레드로부터 </a:t>
            </a:r>
            <a:r>
              <a:rPr lang="en-US" altLang="ko-KR" sz="1000" dirty="0"/>
              <a:t>DB </a:t>
            </a:r>
            <a:r>
              <a:rPr lang="ko-KR" altLang="en-US" sz="1000" dirty="0"/>
              <a:t>요청을 수신하고 </a:t>
            </a:r>
            <a:br>
              <a:rPr lang="en-US" altLang="ko-KR" sz="1000" dirty="0"/>
            </a:br>
            <a:r>
              <a:rPr lang="ko-KR" altLang="en-US" sz="1000" dirty="0"/>
              <a:t>처리한다</a:t>
            </a:r>
            <a:r>
              <a:rPr lang="en-US" altLang="ko-KR" sz="1000" dirty="0"/>
              <a:t>. </a:t>
            </a:r>
            <a:r>
              <a:rPr lang="ko-KR" altLang="en-US" sz="1000" dirty="0"/>
              <a:t>필요한 경우 </a:t>
            </a:r>
            <a:r>
              <a:rPr lang="en-US" altLang="ko-KR" sz="1000" dirty="0"/>
              <a:t>PostQueuedCompletionStatus</a:t>
            </a:r>
            <a:r>
              <a:rPr lang="ko-KR" altLang="en-US" sz="1000" dirty="0"/>
              <a:t>를 호출하여 </a:t>
            </a:r>
            <a:r>
              <a:rPr lang="en-US" altLang="ko-KR" sz="1000" dirty="0"/>
              <a:t>Worker Thread</a:t>
            </a:r>
            <a:r>
              <a:rPr lang="ko-KR" altLang="en-US" sz="1000" dirty="0"/>
              <a:t>로 </a:t>
            </a:r>
            <a:br>
              <a:rPr lang="en-US" altLang="ko-KR" sz="1000" dirty="0"/>
            </a:br>
            <a:r>
              <a:rPr lang="ko-KR" altLang="en-US" sz="1000" dirty="0"/>
              <a:t>결과를 전송한다</a:t>
            </a:r>
            <a:r>
              <a:rPr lang="en-US" altLang="ko-KR" sz="1000" dirty="0"/>
              <a:t>. </a:t>
            </a:r>
          </a:p>
          <a:p>
            <a:pPr>
              <a:buFontTx/>
              <a:buChar char="-"/>
            </a:pPr>
            <a:r>
              <a:rPr lang="en-US" altLang="ko-KR" sz="1000" b="1" dirty="0"/>
              <a:t>AI Thread</a:t>
            </a:r>
            <a:r>
              <a:rPr lang="ko-KR" altLang="en-US" sz="1000" dirty="0"/>
              <a:t>는 </a:t>
            </a:r>
            <a:r>
              <a:rPr lang="en-US" altLang="ko-KR" sz="1000" dirty="0"/>
              <a:t>concurrent_priority_queue</a:t>
            </a:r>
            <a:r>
              <a:rPr lang="ko-KR" altLang="en-US" sz="1000" dirty="0"/>
              <a:t>를 통해 다른 쓰레드로부터 </a:t>
            </a:r>
            <a:r>
              <a:rPr lang="en-US" altLang="ko-KR" sz="1000" dirty="0"/>
              <a:t>AI </a:t>
            </a:r>
            <a:r>
              <a:rPr lang="ko-KR" altLang="en-US" sz="1000" dirty="0"/>
              <a:t>업데이트 요청을 수신하고</a:t>
            </a:r>
            <a:r>
              <a:rPr lang="en-US" altLang="ko-KR" sz="1000" dirty="0"/>
              <a:t>, </a:t>
            </a:r>
            <a:r>
              <a:rPr lang="ko-KR" altLang="en-US" sz="1000" dirty="0"/>
              <a:t>시간에 맞춰 </a:t>
            </a:r>
            <a:r>
              <a:rPr lang="en-US" altLang="ko-KR" sz="1000" dirty="0"/>
              <a:t>Worker Thread</a:t>
            </a:r>
            <a:r>
              <a:rPr lang="ko-KR" altLang="en-US" sz="1000" dirty="0"/>
              <a:t>로 전송한다</a:t>
            </a:r>
            <a:r>
              <a:rPr lang="en-US" altLang="ko-KR" sz="1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77CA4-70BA-0793-F1C1-24D77B5292EB}"/>
              </a:ext>
            </a:extLst>
          </p:cNvPr>
          <p:cNvSpPr txBox="1"/>
          <p:nvPr/>
        </p:nvSpPr>
        <p:spPr>
          <a:xfrm>
            <a:off x="3564495" y="3816852"/>
            <a:ext cx="5136161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NpcAI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npcAiLoop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h_iocp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AiEventParameters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ai_event_queue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try_pop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wakeup_time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    ai_event_queue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event_id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AiEvent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AiEvent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RunAI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10ms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5FA3E-0C7D-589F-55FC-7834E420424F}"/>
              </a:ext>
            </a:extLst>
          </p:cNvPr>
          <p:cNvSpPr txBox="1"/>
          <p:nvPr/>
        </p:nvSpPr>
        <p:spPr>
          <a:xfrm>
            <a:off x="9363684" y="1492350"/>
            <a:ext cx="2323612" cy="13388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OverlappedEx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WSAOVERLAPPED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overlapped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IoOperation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io_op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accept_socket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WSABUF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wsabuf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buffer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753E7-2359-DCD6-AF82-BBBD7901DA42}"/>
              </a:ext>
            </a:extLst>
          </p:cNvPr>
          <p:cNvSpPr txBox="1"/>
          <p:nvPr/>
        </p:nvSpPr>
        <p:spPr>
          <a:xfrm>
            <a:off x="308673" y="4496523"/>
            <a:ext cx="3111336" cy="16158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DbRequestParameters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request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request_queue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try_pop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request_type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DbRequest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DbRequest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AA7E7-8205-B94D-FF9A-4D35C3050C4A}"/>
              </a:ext>
            </a:extLst>
          </p:cNvPr>
          <p:cNvSpPr txBox="1"/>
          <p:nvPr/>
        </p:nvSpPr>
        <p:spPr>
          <a:xfrm>
            <a:off x="6096000" y="475897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Worker Thread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7548A-AE50-011E-2E0B-373A21611A8B}"/>
              </a:ext>
            </a:extLst>
          </p:cNvPr>
          <p:cNvSpPr txBox="1"/>
          <p:nvPr/>
        </p:nvSpPr>
        <p:spPr>
          <a:xfrm>
            <a:off x="3564494" y="3586020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AI Thread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BDA69-4FA8-6BD6-E21B-F4309F96770B}"/>
              </a:ext>
            </a:extLst>
          </p:cNvPr>
          <p:cNvSpPr txBox="1"/>
          <p:nvPr/>
        </p:nvSpPr>
        <p:spPr>
          <a:xfrm>
            <a:off x="308673" y="4265691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DB Thread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FFBA7-95D5-02B8-36A0-A4142657C99F}"/>
              </a:ext>
            </a:extLst>
          </p:cNvPr>
          <p:cNvSpPr txBox="1"/>
          <p:nvPr/>
        </p:nvSpPr>
        <p:spPr>
          <a:xfrm>
            <a:off x="7139051" y="4992276"/>
            <a:ext cx="4602681" cy="13388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AiEventParameters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id_t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obj_id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time_point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wakeup_time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AiEvent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event_id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id_t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target_id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AiEventParameters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wakeup_time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other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wakeup_time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4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74550-D06B-DE99-8FC5-23336BA9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8C3565-8857-3216-CE09-B9680597A071}"/>
              </a:ext>
            </a:extLst>
          </p:cNvPr>
          <p:cNvSpPr txBox="1"/>
          <p:nvPr/>
        </p:nvSpPr>
        <p:spPr>
          <a:xfrm>
            <a:off x="577851" y="3049069"/>
            <a:ext cx="5069055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알파벳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숫자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언더바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(_)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만 허용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isalnum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'_'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sc_packet_login_fail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lfp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altLang="ko-KR" sz="900" dirty="0">
                <a:solidFill>
                  <a:srgbClr val="949CBB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doSend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lfp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altLang="ko-KR" sz="900" dirty="0">
              <a:solidFill>
                <a:srgbClr val="949CBB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buNone/>
            </a:pPr>
            <a:endParaRPr lang="en-US" altLang="ko-KR" sz="900" dirty="0">
              <a:solidFill>
                <a:srgbClr val="949CBB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DbRequestParameters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req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DbRequest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character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db_connection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1FB145-626E-4862-9783-5F301B78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미니 </a:t>
            </a:r>
            <a:r>
              <a:rPr lang="en-US" altLang="ko-KR" sz="3600" dirty="0"/>
              <a:t>MMORPG </a:t>
            </a:r>
            <a:r>
              <a:rPr lang="ko-KR" altLang="en-US" sz="3600" dirty="0"/>
              <a:t>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D18CCF-B757-90E6-0984-83AE200DC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50" y="1300614"/>
            <a:ext cx="11036300" cy="1107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b="1" dirty="0"/>
              <a:t>DB</a:t>
            </a:r>
          </a:p>
          <a:p>
            <a:pPr>
              <a:buFontTx/>
              <a:buChar char="-"/>
            </a:pPr>
            <a:r>
              <a:rPr lang="en-US" altLang="ko-KR" sz="1000" b="1" dirty="0"/>
              <a:t>SQL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Injection</a:t>
            </a:r>
            <a:r>
              <a:rPr lang="ko-KR" altLang="en-US" sz="1000" dirty="0"/>
              <a:t>을 방지하기 위해 클라이언트로 부터 받는 아이디에서 특수문자를 필터링한다</a:t>
            </a:r>
            <a:r>
              <a:rPr lang="en-US" altLang="ko-KR" sz="1000" dirty="0"/>
              <a:t>. </a:t>
            </a:r>
            <a:r>
              <a:rPr lang="ko-KR" altLang="en-US" sz="1000" dirty="0"/>
              <a:t>적합한 </a:t>
            </a:r>
            <a:r>
              <a:rPr lang="en-US" altLang="ko-KR" sz="1000" dirty="0"/>
              <a:t>ID</a:t>
            </a:r>
            <a:r>
              <a:rPr lang="ko-KR" altLang="en-US" sz="1000" dirty="0"/>
              <a:t>라면 </a:t>
            </a:r>
            <a:r>
              <a:rPr lang="en-US" altLang="ko-KR" sz="1000" dirty="0"/>
              <a:t>DB</a:t>
            </a:r>
            <a:r>
              <a:rPr lang="ko-KR" altLang="en-US" sz="1000" dirty="0"/>
              <a:t>에 유저 정보를 요청한다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r>
              <a:rPr lang="en-US" altLang="ko-KR" sz="1000" dirty="0"/>
              <a:t>MSSQL</a:t>
            </a:r>
            <a:r>
              <a:rPr lang="ko-KR" altLang="en-US" sz="1000" dirty="0"/>
              <a:t>의 </a:t>
            </a:r>
            <a:r>
              <a:rPr lang="en-US" altLang="ko-KR" sz="1000" b="1" dirty="0"/>
              <a:t>Stored Procedure</a:t>
            </a:r>
            <a:r>
              <a:rPr lang="ko-KR" altLang="en-US" sz="1000" dirty="0"/>
              <a:t>를 이용하여 플레이어 데이터 로드</a:t>
            </a:r>
            <a:r>
              <a:rPr lang="en-US" altLang="ko-KR" sz="1000" dirty="0"/>
              <a:t>, </a:t>
            </a:r>
            <a:r>
              <a:rPr lang="ko-KR" altLang="en-US" sz="1000" dirty="0"/>
              <a:t>저장</a:t>
            </a:r>
            <a:r>
              <a:rPr lang="en-US" altLang="ko-KR" sz="1000" dirty="0"/>
              <a:t>, </a:t>
            </a:r>
            <a:r>
              <a:rPr lang="ko-KR" altLang="en-US" sz="1000" dirty="0"/>
              <a:t>새로운 플레이어 추가 작업을 수행한다</a:t>
            </a:r>
            <a:r>
              <a:rPr lang="en-US" altLang="ko-KR" sz="1000" dirty="0"/>
              <a:t>.</a:t>
            </a:r>
            <a:endParaRPr lang="en-US" altLang="ko-KR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5D1B9-7F38-3FA4-AAC9-CB30CF574B57}"/>
              </a:ext>
            </a:extLst>
          </p:cNvPr>
          <p:cNvSpPr txBox="1"/>
          <p:nvPr/>
        </p:nvSpPr>
        <p:spPr>
          <a:xfrm>
            <a:off x="4050488" y="3225832"/>
            <a:ext cx="1995808" cy="13388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DbRequest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DbRequestParameters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DbRequest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request_type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id_t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obj_id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BD995-75A8-6630-DB08-AAEB1C97AAF6}"/>
              </a:ext>
            </a:extLst>
          </p:cNvPr>
          <p:cNvSpPr txBox="1"/>
          <p:nvPr/>
        </p:nvSpPr>
        <p:spPr>
          <a:xfrm>
            <a:off x="6295695" y="3049069"/>
            <a:ext cx="5069055" cy="27238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name_len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wstring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name_wstr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name_len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wstring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query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L"EXEC store_data </a:t>
            </a:r>
            <a:r>
              <a:rPr lang="en-US" altLang="ko-KR" sz="900" b="0" dirty="0">
                <a:solidFill>
                  <a:srgbClr val="F4B8E4"/>
                </a:solidFill>
                <a:effectLst/>
                <a:latin typeface="Consolas" panose="020B0609020204030204" pitchFamily="49" charset="0"/>
              </a:rPr>
              <a:t>\'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{:{}}</a:t>
            </a:r>
            <a:r>
              <a:rPr lang="en-US" altLang="ko-KR" sz="900" b="0" dirty="0">
                <a:solidFill>
                  <a:srgbClr val="F4B8E4"/>
                </a:solidFill>
                <a:effectLst/>
                <a:latin typeface="Consolas" panose="020B0609020204030204" pitchFamily="49" charset="0"/>
              </a:rPr>
              <a:t>\'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, {}, {}, {}, {}, {}"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name_wstr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static_cast&lt;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MAX_ID_LENGTH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retcode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SQLExecDirect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hstmt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query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SQL_NTS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retcode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SQL_SUCCESS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retcode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SQL_SUCCESS_WITH_INFO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HandleDiagnosticRecord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hstmt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SQL_HANDLE_STMT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retcode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632DF-0C70-51D6-1323-952A9A1BCAA4}"/>
              </a:ext>
            </a:extLst>
          </p:cNvPr>
          <p:cNvSpPr txBox="1"/>
          <p:nvPr/>
        </p:nvSpPr>
        <p:spPr>
          <a:xfrm>
            <a:off x="6295695" y="2818237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Stored Procedure </a:t>
            </a:r>
            <a:r>
              <a:rPr lang="ko-KR" altLang="en-US" sz="900" dirty="0">
                <a:solidFill>
                  <a:schemeClr val="bg1"/>
                </a:solidFill>
              </a:rPr>
              <a:t>호출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265A9-392A-C99E-7646-72B9A4435164}"/>
              </a:ext>
            </a:extLst>
          </p:cNvPr>
          <p:cNvSpPr txBox="1"/>
          <p:nvPr/>
        </p:nvSpPr>
        <p:spPr>
          <a:xfrm>
            <a:off x="577850" y="2818237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특수문자 필터링</a:t>
            </a:r>
          </a:p>
        </p:txBody>
      </p:sp>
    </p:spTree>
    <p:extLst>
      <p:ext uri="{BB962C8B-B14F-4D97-AF65-F5344CB8AC3E}">
        <p14:creationId xmlns:p14="http://schemas.microsoft.com/office/powerpoint/2010/main" val="226476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22CB-B41A-7ACB-1FD1-71E12312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330FF-C803-CD40-F4DF-E26649EF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미니 </a:t>
            </a:r>
            <a:r>
              <a:rPr lang="en-US" altLang="ko-KR" sz="3600" dirty="0"/>
              <a:t>MMORPG </a:t>
            </a:r>
            <a:r>
              <a:rPr lang="ko-KR" altLang="en-US" sz="3600" dirty="0"/>
              <a:t>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65BA3A-96DA-506C-1AB9-355143E0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785" y="1300613"/>
            <a:ext cx="5783364" cy="2641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b="1" dirty="0"/>
              <a:t>AI</a:t>
            </a:r>
          </a:p>
          <a:p>
            <a:pPr>
              <a:buFontTx/>
              <a:buChar char="-"/>
            </a:pPr>
            <a:r>
              <a:rPr lang="en-US" altLang="ko-KR" sz="1000" dirty="0"/>
              <a:t>AI</a:t>
            </a:r>
            <a:r>
              <a:rPr lang="ko-KR" altLang="en-US" sz="1000" dirty="0"/>
              <a:t>는 활성화되면 </a:t>
            </a:r>
            <a:r>
              <a:rPr lang="en-US" altLang="ko-KR" sz="1000" b="1" dirty="0"/>
              <a:t>Lua Script</a:t>
            </a:r>
            <a:r>
              <a:rPr lang="ko-KR" altLang="en-US" sz="1000" dirty="0"/>
              <a:t>로 정의된 동작을 수행하고 </a:t>
            </a:r>
            <a:r>
              <a:rPr lang="en-US" altLang="ko-KR" sz="1000" dirty="0"/>
              <a:t>concurrent_priority_queue</a:t>
            </a:r>
            <a:r>
              <a:rPr lang="ko-KR" altLang="en-US" sz="1000" dirty="0"/>
              <a:t>를 통해 </a:t>
            </a:r>
            <a:br>
              <a:rPr lang="en-US" altLang="ko-KR" sz="1000" dirty="0"/>
            </a:br>
            <a:r>
              <a:rPr lang="en-US" altLang="ko-KR" sz="1000" dirty="0"/>
              <a:t>NPC Thread</a:t>
            </a:r>
            <a:r>
              <a:rPr lang="ko-KR" altLang="en-US" sz="1000" dirty="0"/>
              <a:t>에 </a:t>
            </a:r>
            <a:r>
              <a:rPr lang="en-US" altLang="ko-KR" sz="1000" dirty="0"/>
              <a:t>1</a:t>
            </a:r>
            <a:r>
              <a:rPr lang="ko-KR" altLang="en-US" sz="1000" dirty="0"/>
              <a:t>초 후에 다시 </a:t>
            </a:r>
            <a:r>
              <a:rPr lang="en-US" altLang="ko-KR" sz="1000" dirty="0"/>
              <a:t>runAI</a:t>
            </a:r>
            <a:r>
              <a:rPr lang="ko-KR" altLang="en-US" sz="1000" dirty="0"/>
              <a:t>를 호출해줄 것을 요청한다</a:t>
            </a:r>
            <a:r>
              <a:rPr lang="en-US" altLang="ko-KR" sz="1000" dirty="0"/>
              <a:t>. </a:t>
            </a:r>
          </a:p>
          <a:p>
            <a:pPr>
              <a:buFontTx/>
              <a:buChar char="-"/>
            </a:pPr>
            <a:r>
              <a:rPr lang="en-US" altLang="ko-KR" sz="1000" dirty="0"/>
              <a:t>Lua Script</a:t>
            </a:r>
            <a:r>
              <a:rPr lang="ko-KR" altLang="en-US" sz="1000" dirty="0"/>
              <a:t>에서 성능이 필요한 작업이나 </a:t>
            </a:r>
            <a:r>
              <a:rPr lang="en-US" altLang="ko-KR" sz="1000" dirty="0"/>
              <a:t>IO</a:t>
            </a:r>
            <a:r>
              <a:rPr lang="ko-KR" altLang="en-US" sz="1000" dirty="0"/>
              <a:t>작업은 사전에 등록한 </a:t>
            </a:r>
            <a:r>
              <a:rPr lang="en-US" altLang="ko-KR" sz="1000" dirty="0"/>
              <a:t>C </a:t>
            </a:r>
            <a:r>
              <a:rPr lang="ko-KR" altLang="en-US" sz="1000" dirty="0"/>
              <a:t>함수를 통해 호출</a:t>
            </a:r>
            <a:endParaRPr lang="en-US" altLang="ko-KR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DCEE7-F892-D581-E36A-28A9346A2DE8}"/>
              </a:ext>
            </a:extLst>
          </p:cNvPr>
          <p:cNvSpPr txBox="1"/>
          <p:nvPr/>
        </p:nvSpPr>
        <p:spPr>
          <a:xfrm>
            <a:off x="577850" y="1642613"/>
            <a:ext cx="5037364" cy="48013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NpcSession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runAI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...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    // lua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스크립트 실행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lua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borrow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time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duration_cast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milliseconds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&gt;(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time_since_epoch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lua_getglobal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"aiUpdate"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lua_pushnumber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lua_pushnumber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lua_newtable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p_id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near_players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lua_pushnumber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p_id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lua_rawseti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lua_pushnumber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static_cast&lt;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lua_Number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ret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lua_pcall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ret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LUA_OK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"Lua error: %s</a:t>
            </a:r>
            <a:r>
              <a:rPr lang="en-US" altLang="ko-KR" sz="900" b="0" dirty="0">
                <a:solidFill>
                  <a:srgbClr val="F4B8E4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lua_tostring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lua_pop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lua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 // pop error message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...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near_list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is_active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altLang="ko-KR" sz="900" i="1" dirty="0">
                <a:solidFill>
                  <a:srgbClr val="949CBB"/>
                </a:solidFill>
                <a:latin typeface="Consolas" panose="020B0609020204030204" pitchFamily="49" charset="0"/>
              </a:rPr>
              <a:t>        // 1</a:t>
            </a:r>
            <a:r>
              <a:rPr lang="ko-KR" altLang="en-US" sz="900" i="1" dirty="0">
                <a:solidFill>
                  <a:srgbClr val="949CBB"/>
                </a:solidFill>
                <a:latin typeface="Consolas" panose="020B0609020204030204" pitchFamily="49" charset="0"/>
              </a:rPr>
              <a:t>초 뒤 다시 </a:t>
            </a:r>
            <a:r>
              <a:rPr lang="en-US" altLang="ko-KR" sz="900" i="1" dirty="0">
                <a:solidFill>
                  <a:srgbClr val="949CBB"/>
                </a:solidFill>
                <a:latin typeface="Consolas" panose="020B0609020204030204" pitchFamily="49" charset="0"/>
              </a:rPr>
              <a:t>runAI() </a:t>
            </a:r>
            <a:r>
              <a:rPr lang="ko-KR" altLang="en-US" sz="900" i="1" dirty="0">
                <a:solidFill>
                  <a:srgbClr val="949CBB"/>
                </a:solidFill>
                <a:latin typeface="Consolas" panose="020B0609020204030204" pitchFamily="49" charset="0"/>
              </a:rPr>
              <a:t>호출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postMsg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AiEvent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RunAI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1C518-0980-DE15-F7AD-1BB15CA1E30A}"/>
              </a:ext>
            </a:extLst>
          </p:cNvPr>
          <p:cNvSpPr txBox="1"/>
          <p:nvPr/>
        </p:nvSpPr>
        <p:spPr>
          <a:xfrm>
            <a:off x="577850" y="1411781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Lua </a:t>
            </a:r>
            <a:r>
              <a:rPr lang="ko-KR" altLang="en-US" sz="900" dirty="0">
                <a:solidFill>
                  <a:schemeClr val="bg1"/>
                </a:solidFill>
              </a:rPr>
              <a:t>스크립트 실행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09084-F3C6-8A0D-AF03-B2DE0615F927}"/>
              </a:ext>
            </a:extLst>
          </p:cNvPr>
          <p:cNvSpPr txBox="1"/>
          <p:nvPr/>
        </p:nvSpPr>
        <p:spPr>
          <a:xfrm>
            <a:off x="3094553" y="4958787"/>
            <a:ext cx="4386201" cy="13388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ChronoDuration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postMsg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NpcAI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AiEvent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id_t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target_id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NpcAI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ai_event_queue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NpcAI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AiEventParameters {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delay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event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target_id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7FC33-3B36-92CA-8894-B43125D9A403}"/>
              </a:ext>
            </a:extLst>
          </p:cNvPr>
          <p:cNvSpPr txBox="1"/>
          <p:nvPr/>
        </p:nvSpPr>
        <p:spPr>
          <a:xfrm>
            <a:off x="7847609" y="4404789"/>
            <a:ext cx="3356758" cy="18928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aiUpdate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near_players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(target_id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then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move_dir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getRandomDirection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API_move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(myid, move_dir.x, move_dir.y);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...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API_moveTo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(myid, target_x, target_y);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API_sendMessage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(myid, target_id,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"CHASE"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    ...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0C4FE-3FBA-79B5-CEF1-625F757CC9B2}"/>
              </a:ext>
            </a:extLst>
          </p:cNvPr>
          <p:cNvSpPr txBox="1"/>
          <p:nvPr/>
        </p:nvSpPr>
        <p:spPr>
          <a:xfrm>
            <a:off x="7847608" y="4173957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Lua</a:t>
            </a:r>
            <a:r>
              <a:rPr lang="ko-KR" altLang="en-US" sz="900" dirty="0">
                <a:solidFill>
                  <a:schemeClr val="bg1"/>
                </a:solidFill>
              </a:rPr>
              <a:t>에서 </a:t>
            </a:r>
            <a:r>
              <a:rPr lang="en-US" altLang="ko-KR" sz="900" dirty="0">
                <a:solidFill>
                  <a:schemeClr val="bg1"/>
                </a:solidFill>
              </a:rPr>
              <a:t>C</a:t>
            </a:r>
            <a:r>
              <a:rPr lang="ko-KR" altLang="en-US" sz="900" dirty="0">
                <a:solidFill>
                  <a:schemeClr val="bg1"/>
                </a:solidFill>
              </a:rPr>
              <a:t>함수 호출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DAE23-514F-98FD-281A-A310D5E1B454}"/>
              </a:ext>
            </a:extLst>
          </p:cNvPr>
          <p:cNvSpPr txBox="1"/>
          <p:nvPr/>
        </p:nvSpPr>
        <p:spPr>
          <a:xfrm>
            <a:off x="6286005" y="2649689"/>
            <a:ext cx="3588328" cy="13388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"API_getX"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lua_getX);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"API_getY"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lua_getY);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"API_move"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lua_move);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"API_moveTo"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lua_moveTo);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"API_attack"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lua_attack);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"API_getHp"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lua_getHp);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"API_reset"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lua_reset);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"API_setPosition"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lua_setPosition);</a:t>
            </a:r>
          </a:p>
          <a:p>
            <a:pPr>
              <a:buNone/>
            </a:pP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lua_register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(lua,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"API_sendMessage"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, lua_sendMessage);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135642-8925-5AA8-0FF3-989CA03981E5}"/>
              </a:ext>
            </a:extLst>
          </p:cNvPr>
          <p:cNvSpPr txBox="1"/>
          <p:nvPr/>
        </p:nvSpPr>
        <p:spPr>
          <a:xfrm>
            <a:off x="6286004" y="2418857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사전에 등록한 </a:t>
            </a:r>
            <a:r>
              <a:rPr lang="en-US" altLang="ko-KR" sz="900" dirty="0">
                <a:solidFill>
                  <a:schemeClr val="bg1"/>
                </a:solidFill>
              </a:rPr>
              <a:t>C </a:t>
            </a:r>
            <a:r>
              <a:rPr lang="ko-KR" altLang="en-US" sz="900" dirty="0">
                <a:solidFill>
                  <a:schemeClr val="bg1"/>
                </a:solidFill>
              </a:rPr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3437177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D62C-5DE5-D1A1-256A-79D999F3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1C3A7-01F0-A677-9494-4222D673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미니 </a:t>
            </a:r>
            <a:r>
              <a:rPr lang="en-US" altLang="ko-KR" sz="3600" dirty="0"/>
              <a:t>MMORPG </a:t>
            </a:r>
            <a:r>
              <a:rPr lang="ko-KR" altLang="en-US" sz="3600" dirty="0"/>
              <a:t>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33776E-15C3-7A9E-168A-07EAFF889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50" y="1306816"/>
            <a:ext cx="6140450" cy="1742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b="1" dirty="0"/>
              <a:t>최적화</a:t>
            </a:r>
            <a:endParaRPr lang="en-US" altLang="ko-KR" sz="1200" dirty="0"/>
          </a:p>
          <a:p>
            <a:pPr>
              <a:buFontTx/>
              <a:buChar char="-"/>
            </a:pPr>
            <a:r>
              <a:rPr lang="ko-KR" altLang="en-US" sz="1000" b="1" dirty="0"/>
              <a:t>시야처리</a:t>
            </a:r>
            <a:r>
              <a:rPr lang="en-US" altLang="ko-KR" sz="1000" dirty="0"/>
              <a:t>: </a:t>
            </a:r>
            <a:r>
              <a:rPr lang="ko-KR" altLang="en-US" sz="1000" dirty="0"/>
              <a:t>플레이어가 이동 했을 때 시야에서 벗어나는 플레이어는 시야 리스트에서 제거하고</a:t>
            </a:r>
            <a:r>
              <a:rPr lang="en-US" altLang="ko-KR" sz="1000" dirty="0"/>
              <a:t>, </a:t>
            </a:r>
            <a:r>
              <a:rPr lang="ko-KR" altLang="en-US" sz="1000" dirty="0"/>
              <a:t>시야에 들어오는 플레이어는 시야 리스트에 추가한다</a:t>
            </a:r>
            <a:r>
              <a:rPr lang="en-US" altLang="ko-KR" sz="1000" dirty="0"/>
              <a:t>. </a:t>
            </a:r>
            <a:r>
              <a:rPr lang="ko-KR" altLang="en-US" sz="1000" dirty="0"/>
              <a:t>시야 리스트에 있는 플레이어들에게만 자신의 상태 업데이트 패킷을 전송한다</a:t>
            </a:r>
            <a:r>
              <a:rPr lang="en-US" altLang="ko-KR" sz="1000" dirty="0"/>
              <a:t>. </a:t>
            </a:r>
            <a:br>
              <a:rPr lang="en-US" altLang="ko-KR" sz="1000" dirty="0"/>
            </a:br>
            <a:r>
              <a:rPr lang="en-US" altLang="ko-KR" sz="1000" dirty="0"/>
              <a:t>AI</a:t>
            </a:r>
            <a:r>
              <a:rPr lang="ko-KR" altLang="en-US" sz="1000" dirty="0"/>
              <a:t>에 대해서는 시야에 들어오면 활성화하고</a:t>
            </a:r>
            <a:r>
              <a:rPr lang="en-US" altLang="ko-KR" sz="1000" dirty="0"/>
              <a:t>, </a:t>
            </a:r>
            <a:r>
              <a:rPr lang="ko-KR" altLang="en-US" sz="1000" dirty="0"/>
              <a:t>시야에서 벗어날 시 해당 </a:t>
            </a:r>
            <a:r>
              <a:rPr lang="en-US" altLang="ko-KR" sz="1000" dirty="0"/>
              <a:t>AI</a:t>
            </a:r>
            <a:r>
              <a:rPr lang="ko-KR" altLang="en-US" sz="1000" dirty="0"/>
              <a:t>의 시야에 다른 플레이어가 없다면 </a:t>
            </a:r>
            <a:r>
              <a:rPr lang="en-US" altLang="ko-KR" sz="1000" dirty="0"/>
              <a:t>AI</a:t>
            </a:r>
            <a:r>
              <a:rPr lang="ko-KR" altLang="en-US" sz="1000" dirty="0"/>
              <a:t>를 비활성화한다</a:t>
            </a:r>
            <a:r>
              <a:rPr lang="en-US" altLang="ko-KR" sz="1000" dirty="0"/>
              <a:t>. </a:t>
            </a:r>
          </a:p>
          <a:p>
            <a:pPr>
              <a:buFontTx/>
              <a:buChar char="-"/>
            </a:pPr>
            <a:r>
              <a:rPr lang="en-US" altLang="ko-KR" sz="1000" b="1" dirty="0"/>
              <a:t>Sector </a:t>
            </a:r>
            <a:r>
              <a:rPr lang="ko-KR" altLang="en-US" sz="1000" b="1" dirty="0"/>
              <a:t>최적화</a:t>
            </a:r>
            <a:r>
              <a:rPr lang="en-US" altLang="ko-KR" sz="1000" dirty="0"/>
              <a:t>: </a:t>
            </a:r>
            <a:r>
              <a:rPr lang="ko-KR" altLang="en-US" sz="1000" dirty="0"/>
              <a:t>시야 안에 들어오는지 확인하기위한 거리비교시 근처 구역에 있는 플레이어</a:t>
            </a:r>
            <a:r>
              <a:rPr lang="en-US" altLang="ko-KR" sz="1000" dirty="0"/>
              <a:t>/</a:t>
            </a:r>
            <a:r>
              <a:rPr lang="ko-KR" altLang="en-US" sz="1000" dirty="0"/>
              <a:t>몬스터만 비교하기 위해 월드의 구역을 나누고 각 구역에 위치하는 플레이어</a:t>
            </a:r>
            <a:r>
              <a:rPr lang="en-US" altLang="ko-KR" sz="1000" dirty="0"/>
              <a:t>/</a:t>
            </a:r>
            <a:r>
              <a:rPr lang="ko-KR" altLang="en-US" sz="1000" dirty="0"/>
              <a:t>몬스터를 저장한다</a:t>
            </a:r>
            <a:r>
              <a:rPr lang="en-US" altLang="ko-KR" sz="1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DCEE7-F892-D581-E36A-28A9346A2DE8}"/>
              </a:ext>
            </a:extLst>
          </p:cNvPr>
          <p:cNvSpPr txBox="1"/>
          <p:nvPr/>
        </p:nvSpPr>
        <p:spPr>
          <a:xfrm>
            <a:off x="202764" y="3338733"/>
            <a:ext cx="4155480" cy="32778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cs_packet_move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reinterpret_cast&lt;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cs_packet_move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last_move_time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move_time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prev_idx_x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prev_idx_y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MAP_HEIGHT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MAP_WIDTH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isValidPosition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curr_idx_x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curr_idx_y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prev_idx_x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curr_idx_x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prev_idx_y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curr_idx_y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sectors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prev_idx_y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prev_idx_x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borrow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()-&gt;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sectors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curr_idx_y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curr_idx_x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borrow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()-&gt;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1C518-0980-DE15-F7AD-1BB15CA1E30A}"/>
              </a:ext>
            </a:extLst>
          </p:cNvPr>
          <p:cNvSpPr txBox="1"/>
          <p:nvPr/>
        </p:nvSpPr>
        <p:spPr>
          <a:xfrm>
            <a:off x="202764" y="3101698"/>
            <a:ext cx="1887293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플레이어가 속한 </a:t>
            </a:r>
            <a:r>
              <a:rPr lang="en-US" altLang="ko-KR" sz="900" dirty="0">
                <a:solidFill>
                  <a:schemeClr val="bg1"/>
                </a:solidFill>
              </a:rPr>
              <a:t>Sector </a:t>
            </a:r>
            <a:r>
              <a:rPr lang="ko-KR" altLang="en-US" sz="900" dirty="0">
                <a:solidFill>
                  <a:schemeClr val="bg1"/>
                </a:solidFill>
              </a:rPr>
              <a:t>업데이트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B7A05-AFA6-5F87-554A-EEAC5BA97EB3}"/>
              </a:ext>
            </a:extLst>
          </p:cNvPr>
          <p:cNvSpPr txBox="1"/>
          <p:nvPr/>
        </p:nvSpPr>
        <p:spPr>
          <a:xfrm>
            <a:off x="6775968" y="58846"/>
            <a:ext cx="5344780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PlayerSession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movePostProcess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id_t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near_list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client_vl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view_list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borrow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id_t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old_vlist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client_vl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client_vl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min_x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VIEW_RANGE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max_x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VIEW_RANGE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min_y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VIEW_RANGE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max_y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VIEW_RANGE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SECTOR_SIZE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Vault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&gt;&gt;::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Borrowed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near_sectors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near_sectors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reserve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min_y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max_y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min_x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max_x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NUM_SECTOR_X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NUM_SECTOR_Y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near_sectors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sectors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borrow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near_sectors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sector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78284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state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SessionState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InGame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자기 자신은 제외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canSee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character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near_list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sendMovePacket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pl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near_list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old_vlist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old_vlist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sendAddPlayerPacket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pl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old_vlist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near_list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near_list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sendRemovePlayerPacket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cl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sessions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isPc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pc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reinterpret_cast&lt;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PlayerSession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cl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pc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sendRemovePlayerPacket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2C7A8-6BBB-8C82-3E3D-3A6E1949D8B1}"/>
              </a:ext>
            </a:extLst>
          </p:cNvPr>
          <p:cNvSpPr txBox="1"/>
          <p:nvPr/>
        </p:nvSpPr>
        <p:spPr>
          <a:xfrm>
            <a:off x="6096000" y="58846"/>
            <a:ext cx="679968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시야처리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B05C0-0729-A2DF-EFDA-6EE83B36D6D0}"/>
              </a:ext>
            </a:extLst>
          </p:cNvPr>
          <p:cNvSpPr txBox="1"/>
          <p:nvPr/>
        </p:nvSpPr>
        <p:spPr>
          <a:xfrm>
            <a:off x="4165846" y="3571637"/>
            <a:ext cx="2802520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Vault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mtx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Borrowed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Vault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guard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guard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...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i="1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Borrowed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borrow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Borrowed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data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mtx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5DF57-8F26-15DD-D374-692A23292C9E}"/>
              </a:ext>
            </a:extLst>
          </p:cNvPr>
          <p:cNvSpPr txBox="1"/>
          <p:nvPr/>
        </p:nvSpPr>
        <p:spPr>
          <a:xfrm>
            <a:off x="2747023" y="2917032"/>
            <a:ext cx="3314310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array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array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dirty="0">
                <a:solidFill>
                  <a:srgbClr val="E5C890"/>
                </a:solidFill>
                <a:latin typeface="Consolas" panose="020B0609020204030204" pitchFamily="49" charset="0"/>
              </a:rPr>
              <a:t>Vault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unordered_set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i="1" dirty="0">
                <a:solidFill>
                  <a:srgbClr val="E5C890"/>
                </a:solidFill>
                <a:latin typeface="Consolas" panose="020B0609020204030204" pitchFamily="49" charset="0"/>
              </a:rPr>
              <a:t>Session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*&gt;&gt;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C6D0F5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NUM_SECTOR_X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NUM_SECTOR_Y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sectors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434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C4754-E307-B71A-86BF-185BE842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F0344-98DF-3651-D5C9-CAAA68BF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미니 </a:t>
            </a:r>
            <a:r>
              <a:rPr lang="en-US" altLang="ko-KR" sz="3600" dirty="0"/>
              <a:t>MMORPG </a:t>
            </a:r>
            <a:r>
              <a:rPr lang="ko-KR" altLang="en-US" sz="3600" dirty="0"/>
              <a:t>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280C68-189D-4779-E159-79B1EF6AC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3700" y="1300612"/>
            <a:ext cx="6140450" cy="5309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b="1" dirty="0"/>
              <a:t>성능측정</a:t>
            </a:r>
            <a:endParaRPr lang="en-US" altLang="ko-KR" sz="1200" dirty="0"/>
          </a:p>
          <a:p>
            <a:pPr>
              <a:buFontTx/>
              <a:buChar char="-"/>
            </a:pPr>
            <a:r>
              <a:rPr lang="ko-KR" altLang="en-US" sz="1000" dirty="0"/>
              <a:t>스트레스 테스트 프로그램을 통해 최대 동시접속자 수 측정</a:t>
            </a:r>
            <a:endParaRPr lang="en-US" altLang="ko-KR" sz="1000" dirty="0"/>
          </a:p>
          <a:p>
            <a:pPr>
              <a:buFontTx/>
              <a:buChar char="-"/>
            </a:pPr>
            <a:r>
              <a:rPr lang="en-US" altLang="ko-KR" sz="1000" dirty="0"/>
              <a:t>Concurrency Visualizer</a:t>
            </a:r>
            <a:r>
              <a:rPr lang="ko-KR" altLang="en-US" sz="1000" dirty="0"/>
              <a:t>를 이용하여 병목 찾기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4F3F65-D2C7-AF2A-9B08-5D245B086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5" t="2533" r="2913"/>
          <a:stretch>
            <a:fillRect/>
          </a:stretch>
        </p:blipFill>
        <p:spPr>
          <a:xfrm>
            <a:off x="685800" y="1530926"/>
            <a:ext cx="3733860" cy="414943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87DB6AA-8805-1A2A-F059-52CE5AD2E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651" y="3165796"/>
            <a:ext cx="7325843" cy="32198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5893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BC873-9997-2D60-E998-EADE50907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DD15B-99B7-77E2-BC2D-A0EC6920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미니 </a:t>
            </a:r>
            <a:r>
              <a:rPr lang="en-US" altLang="ko-KR" sz="3600" dirty="0"/>
              <a:t>MMORPG </a:t>
            </a:r>
            <a:r>
              <a:rPr lang="ko-KR" altLang="en-US" sz="3600" dirty="0"/>
              <a:t>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1170B-8D88-8DE1-B91F-2A30B899C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49" y="1300613"/>
            <a:ext cx="6039698" cy="1294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맵 로드 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000" b="1" dirty="0"/>
              <a:t>Python</a:t>
            </a:r>
            <a:r>
              <a:rPr lang="ko-KR" altLang="en-US" sz="1000" dirty="0"/>
              <a:t>으로 </a:t>
            </a:r>
            <a:r>
              <a:rPr lang="en-US" altLang="ko-KR" sz="1000" dirty="0"/>
              <a:t>PNG</a:t>
            </a:r>
            <a:r>
              <a:rPr lang="ko-KR" altLang="en-US" sz="1000" dirty="0"/>
              <a:t>파일을 읽어서 랜덤하게 장애물을 배치하고 문자열로 변환하여 저장한 맵 데이터를 </a:t>
            </a:r>
            <a:r>
              <a:rPr lang="en-US" altLang="ko-KR" sz="1000" dirty="0"/>
              <a:t>C++</a:t>
            </a:r>
            <a:r>
              <a:rPr lang="ko-KR" altLang="en-US" sz="1000" dirty="0"/>
              <a:t>에서 불러와서 맵으로 사용한다</a:t>
            </a:r>
            <a:r>
              <a:rPr lang="en-US" altLang="ko-KR" sz="10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B1DCBD-568E-07E2-107F-3D0AF5F3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875" y="1360311"/>
            <a:ext cx="1848927" cy="18545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58C6F1E-80E0-AEA5-0C3C-E94254C0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286" y="4049244"/>
            <a:ext cx="2150516" cy="215051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9DC9B42-DC5B-EA44-1DBC-BE4D6C1CD0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8" r="51908" b="4365"/>
          <a:stretch>
            <a:fillRect/>
          </a:stretch>
        </p:blipFill>
        <p:spPr>
          <a:xfrm>
            <a:off x="9624622" y="4138247"/>
            <a:ext cx="1946865" cy="197251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5FA215D-0FC5-BBBD-EB62-209418155E04}"/>
              </a:ext>
            </a:extLst>
          </p:cNvPr>
          <p:cNvSpPr txBox="1"/>
          <p:nvPr/>
        </p:nvSpPr>
        <p:spPr>
          <a:xfrm>
            <a:off x="744102" y="4104833"/>
            <a:ext cx="3192568" cy="21698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content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줄 별로 문자열로 저장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content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'#'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돌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content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빈 공간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content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Water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content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Spawn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content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'#'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돌로 취급</a:t>
            </a:r>
            <a:b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map_contents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CC84E53F-0EE5-800A-5AE3-E237800CC9B5}"/>
              </a:ext>
            </a:extLst>
          </p:cNvPr>
          <p:cNvSpPr/>
          <p:nvPr/>
        </p:nvSpPr>
        <p:spPr>
          <a:xfrm>
            <a:off x="8934166" y="2120539"/>
            <a:ext cx="504093" cy="33410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363BFA18-71EC-A13C-CBC9-EBBABABD3FE5}"/>
              </a:ext>
            </a:extLst>
          </p:cNvPr>
          <p:cNvSpPr/>
          <p:nvPr/>
        </p:nvSpPr>
        <p:spPr>
          <a:xfrm rot="5400000">
            <a:off x="10285148" y="3451955"/>
            <a:ext cx="625811" cy="44921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950CB1D0-1679-1535-DAF9-3370DD8FBD88}"/>
              </a:ext>
            </a:extLst>
          </p:cNvPr>
          <p:cNvSpPr/>
          <p:nvPr/>
        </p:nvSpPr>
        <p:spPr>
          <a:xfrm rot="10800000">
            <a:off x="8909102" y="4928009"/>
            <a:ext cx="554219" cy="39298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2C35D4A-1B00-B0BD-F182-347AFD2C5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623" y="1360311"/>
            <a:ext cx="1946865" cy="18545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3C00F6-4FFE-8EFD-D6F7-A19066C2FEED}"/>
              </a:ext>
            </a:extLst>
          </p:cNvPr>
          <p:cNvSpPr txBox="1"/>
          <p:nvPr/>
        </p:nvSpPr>
        <p:spPr>
          <a:xfrm>
            <a:off x="2867285" y="2287593"/>
            <a:ext cx="3307336" cy="18928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input_path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img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img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img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i="1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convert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"RGBA"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png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width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height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img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size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pixels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img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r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하얀부분을 랜덤하게 검은색으로 변경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# 0.1% </a:t>
            </a:r>
            <a:r>
              <a:rPr lang="ko-KR" altLang="en-US" sz="900" b="0" i="1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확률로 장애물 설치</a:t>
            </a:r>
            <a:endParaRPr lang="ko-KR" altLang="en-US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 dirty="0">
                <a:solidFill>
                  <a:srgbClr val="CA9EE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C89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F9F76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    img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 dirty="0">
                <a:solidFill>
                  <a:srgbClr val="8CAAEE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output_path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900" b="0" dirty="0">
                <a:solidFill>
                  <a:srgbClr val="C6D0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i="1" dirty="0">
                <a:solidFill>
                  <a:srgbClr val="EA999C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900" b="0" dirty="0">
                <a:solidFill>
                  <a:srgbClr val="81C8B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6D189"/>
                </a:solidFill>
                <a:effectLst/>
                <a:latin typeface="Consolas" panose="020B0609020204030204" pitchFamily="49" charset="0"/>
              </a:rPr>
              <a:t>"PNG"</a:t>
            </a:r>
            <a:r>
              <a:rPr lang="en-US" altLang="ko-KR" sz="900" b="0" dirty="0">
                <a:solidFill>
                  <a:srgbClr val="949CBB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900" b="0" dirty="0">
              <a:solidFill>
                <a:srgbClr val="C6D0F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C5623-6CE3-5B13-8722-8811FA759270}"/>
              </a:ext>
            </a:extLst>
          </p:cNvPr>
          <p:cNvSpPr txBox="1"/>
          <p:nvPr/>
        </p:nvSpPr>
        <p:spPr>
          <a:xfrm>
            <a:off x="2867284" y="2056761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장애물 배치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AEA4D-E79C-D7DA-F8D9-8F05CE07320F}"/>
              </a:ext>
            </a:extLst>
          </p:cNvPr>
          <p:cNvSpPr txBox="1"/>
          <p:nvPr/>
        </p:nvSpPr>
        <p:spPr>
          <a:xfrm>
            <a:off x="744102" y="3874001"/>
            <a:ext cx="1561605" cy="2308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문자열로 저장</a:t>
            </a:r>
          </a:p>
        </p:txBody>
      </p:sp>
    </p:spTree>
    <p:extLst>
      <p:ext uri="{BB962C8B-B14F-4D97-AF65-F5344CB8AC3E}">
        <p14:creationId xmlns:p14="http://schemas.microsoft.com/office/powerpoint/2010/main" val="3487949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3180-3C25-612B-44A7-E03D4378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03856-882C-06F6-1094-E73D8498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기타 </a:t>
            </a:r>
            <a:r>
              <a:rPr lang="en-US" altLang="ko-KR" sz="3600" dirty="0"/>
              <a:t>- </a:t>
            </a:r>
            <a:r>
              <a:rPr lang="ko-KR" altLang="en-US" sz="3600" dirty="0"/>
              <a:t>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19194-A7D8-839A-6F5F-8F15C86F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50" y="4419600"/>
            <a:ext cx="5295175" cy="2190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dirty="0"/>
              <a:t>추가 설명</a:t>
            </a:r>
            <a:endParaRPr lang="en-US" altLang="ko-KR" sz="1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CD904E-134C-0BD9-2710-1B7112B90D04}"/>
              </a:ext>
            </a:extLst>
          </p:cNvPr>
          <p:cNvGraphicFramePr>
            <a:graphicFrameLocks noGrp="1"/>
          </p:cNvGraphicFramePr>
          <p:nvPr/>
        </p:nvGraphicFramePr>
        <p:xfrm>
          <a:off x="6318976" y="1300612"/>
          <a:ext cx="5295176" cy="288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631">
                  <a:extLst>
                    <a:ext uri="{9D8B030D-6E8A-4147-A177-3AD203B41FA5}">
                      <a16:colId xmlns:a16="http://schemas.microsoft.com/office/drawing/2014/main" val="1402850827"/>
                    </a:ext>
                  </a:extLst>
                </a:gridCol>
                <a:gridCol w="3882545">
                  <a:extLst>
                    <a:ext uri="{9D8B030D-6E8A-4147-A177-3AD203B41FA5}">
                      <a16:colId xmlns:a16="http://schemas.microsoft.com/office/drawing/2014/main" val="331915381"/>
                    </a:ext>
                  </a:extLst>
                </a:gridCol>
              </a:tblGrid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게임명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866608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장르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21393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게임 설명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055185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개발 목적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623824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제작 인원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50500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구현 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82566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개발 목표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808111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기술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796815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제작 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73084"/>
                  </a:ext>
                </a:extLst>
              </a:tr>
              <a:tr h="288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Github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58728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9B511B5-3CEA-E954-9EA7-DC5A08E6D97C}"/>
              </a:ext>
            </a:extLst>
          </p:cNvPr>
          <p:cNvSpPr/>
          <p:nvPr/>
        </p:nvSpPr>
        <p:spPr>
          <a:xfrm>
            <a:off x="577851" y="1300612"/>
            <a:ext cx="5295175" cy="300417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( </a:t>
            </a:r>
            <a:r>
              <a:rPr lang="ko-KR" altLang="en-US" dirty="0">
                <a:solidFill>
                  <a:schemeClr val="tx1"/>
                </a:solidFill>
              </a:rPr>
              <a:t>사 진 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010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8B89-8155-ED6C-28D3-66BC9CD28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AC7C1-FC1F-F354-4BFE-34E24032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60385"/>
            <a:ext cx="10515600" cy="74022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기타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23F6D8-4B66-01EA-7AD3-02E406A92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942" y="1300612"/>
            <a:ext cx="5655208" cy="5309737"/>
          </a:xfrm>
        </p:spPr>
        <p:txBody>
          <a:bodyPr>
            <a:normAutofit/>
          </a:bodyPr>
          <a:lstStyle/>
          <a:p>
            <a:r>
              <a:rPr lang="en-US" altLang="ko-KR" sz="1400" dirty="0">
                <a:hlinkClick r:id="rId2"/>
              </a:rPr>
              <a:t>https://github.com/Jirung-E/DoodleJump</a:t>
            </a:r>
            <a:endParaRPr lang="en-US" altLang="ko-KR" sz="1400" dirty="0"/>
          </a:p>
          <a:p>
            <a:r>
              <a:rPr lang="en-US" altLang="ko-KR" sz="1400" dirty="0">
                <a:hlinkClick r:id="rId3"/>
              </a:rPr>
              <a:t>https://github.com/Jirung-E/NetGame_Agar</a:t>
            </a:r>
            <a:endParaRPr lang="en-US" altLang="ko-KR" sz="1400" dirty="0"/>
          </a:p>
          <a:p>
            <a:r>
              <a:rPr lang="en-US" altLang="ko-KR" sz="1400" dirty="0">
                <a:hlinkClick r:id="rId4"/>
              </a:rPr>
              <a:t>https://github.com/Jirung-E/Script_termproject</a:t>
            </a:r>
            <a:endParaRPr lang="en-US" altLang="ko-KR" sz="1400" dirty="0"/>
          </a:p>
          <a:p>
            <a:r>
              <a:rPr lang="en-US" altLang="ko-KR" sz="1400" dirty="0">
                <a:hlinkClick r:id="rId5"/>
              </a:rPr>
              <a:t>https://github.com/Jirung-E/CG_Final_Minecraft</a:t>
            </a:r>
            <a:endParaRPr lang="en-US" altLang="ko-KR" sz="1400" dirty="0"/>
          </a:p>
          <a:p>
            <a:r>
              <a:rPr lang="en-US" altLang="ko-KR" sz="1400" dirty="0">
                <a:hlinkClick r:id="rId6"/>
              </a:rPr>
              <a:t>https://github.com/Jirung-E/Rugby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>
                <a:hlinkClick r:id="rId7"/>
              </a:rPr>
              <a:t>https://github.com/Jirung-E/WP_Final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>
                <a:hlinkClick r:id="rId8"/>
              </a:rPr>
              <a:t>https://github.com/Jirung-E/CG_HW2_AM</a:t>
            </a:r>
            <a:endParaRPr lang="en-US" altLang="ko-KR" sz="1400" dirty="0"/>
          </a:p>
          <a:p>
            <a:r>
              <a:rPr lang="en-US" altLang="ko-KR" sz="1400" dirty="0">
                <a:hlinkClick r:id="rId9"/>
              </a:rPr>
              <a:t>https://github.com/Jirung-E/LSP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>
                <a:hlinkClick r:id="rId10"/>
              </a:rPr>
              <a:t>https://github.com/Jirung-E/JirungEngine</a:t>
            </a:r>
            <a:endParaRPr lang="en-US" altLang="ko-KR" sz="1400" dirty="0"/>
          </a:p>
          <a:p>
            <a:r>
              <a:rPr lang="en-US" altLang="ko-KR" sz="1400" dirty="0">
                <a:hlinkClick r:id="rId11"/>
              </a:rPr>
              <a:t>https://github.com/Jirung-E/EmployeeManagementSystem</a:t>
            </a: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27444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8263</TotalTime>
  <Words>5315</Words>
  <Application>Microsoft Office PowerPoint</Application>
  <PresentationFormat>와이드스크린</PresentationFormat>
  <Paragraphs>630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Consolas</vt:lpstr>
      <vt:lpstr>Office 테마</vt:lpstr>
      <vt:lpstr>Intro</vt:lpstr>
      <vt:lpstr>작업물</vt:lpstr>
      <vt:lpstr>졸업작품</vt:lpstr>
      <vt:lpstr>졸업작품</vt:lpstr>
      <vt:lpstr>졸업작품</vt:lpstr>
      <vt:lpstr>졸업작품</vt:lpstr>
      <vt:lpstr>졸업작품</vt:lpstr>
      <vt:lpstr>미니 MMORPG 서버</vt:lpstr>
      <vt:lpstr>미니 MMORPG 서버</vt:lpstr>
      <vt:lpstr>미니 MMORPG 서버</vt:lpstr>
      <vt:lpstr>미니 MMORPG 서버</vt:lpstr>
      <vt:lpstr>미니 MMORPG 서버</vt:lpstr>
      <vt:lpstr>미니 MMORPG 서버</vt:lpstr>
      <vt:lpstr>미니 MMORPG 서버</vt:lpstr>
      <vt:lpstr>기타 - 제목</vt:lpstr>
      <vt:lpstr>기타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주형 이</dc:creator>
  <cp:lastModifiedBy>주형 이</cp:lastModifiedBy>
  <cp:revision>211</cp:revision>
  <dcterms:created xsi:type="dcterms:W3CDTF">2025-08-11T12:44:19Z</dcterms:created>
  <dcterms:modified xsi:type="dcterms:W3CDTF">2025-09-09T17:16:41Z</dcterms:modified>
</cp:coreProperties>
</file>