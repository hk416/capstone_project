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9" r:id="rId3"/>
    <p:sldId id="278" r:id="rId4"/>
    <p:sldId id="257" r:id="rId5"/>
    <p:sldId id="274" r:id="rId6"/>
    <p:sldId id="273" r:id="rId7"/>
    <p:sldId id="283" r:id="rId8"/>
    <p:sldId id="282" r:id="rId9"/>
    <p:sldId id="258" r:id="rId10"/>
    <p:sldId id="279" r:id="rId11"/>
    <p:sldId id="285" r:id="rId12"/>
    <p:sldId id="281" r:id="rId13"/>
    <p:sldId id="296" r:id="rId14"/>
    <p:sldId id="299" r:id="rId15"/>
    <p:sldId id="265" r:id="rId16"/>
    <p:sldId id="290" r:id="rId17"/>
    <p:sldId id="291" r:id="rId18"/>
    <p:sldId id="284" r:id="rId19"/>
    <p:sldId id="267" r:id="rId20"/>
    <p:sldId id="264" r:id="rId21"/>
    <p:sldId id="261" r:id="rId22"/>
    <p:sldId id="277" r:id="rId23"/>
    <p:sldId id="301" r:id="rId24"/>
    <p:sldId id="295" r:id="rId25"/>
    <p:sldId id="30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424" autoAdjust="0"/>
  </p:normalViewPr>
  <p:slideViewPr>
    <p:cSldViewPr snapToGrid="0">
      <p:cViewPr varScale="1">
        <p:scale>
          <a:sx n="104" d="100"/>
          <a:sy n="104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20334A5-010C-4C9C-93B7-C5545E75C0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71C9229-5274-42C2-876F-C501925470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75A6E-A076-4515-A721-53DE15EE3668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23A3A7-533F-47CA-9C0A-F5265954FA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CC8CCB-3E98-4C96-9A60-BACA2F5C45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F367B-DA1C-495C-892F-71E5018D9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8098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AA906-3D25-45AB-ABF5-1158AC242070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B718E-B2A2-4B4E-B991-8AF099B4A8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1479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디지털엔터테인먼트 학과 이상기 발표 시작하겠습니다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제가 발표할 내용은 </a:t>
            </a:r>
            <a:r>
              <a:rPr lang="en-US" altLang="ko-KR" sz="1200" dirty="0">
                <a:solidFill>
                  <a:schemeClr val="tx2"/>
                </a:solidFill>
              </a:rPr>
              <a:t>HD-Tree, </a:t>
            </a:r>
            <a:r>
              <a:rPr lang="ko-KR" altLang="en-US" sz="1200" dirty="0">
                <a:solidFill>
                  <a:schemeClr val="tx2"/>
                </a:solidFill>
              </a:rPr>
              <a:t>고성능 </a:t>
            </a:r>
            <a:r>
              <a:rPr lang="en-US" altLang="ko-KR" sz="1200" dirty="0">
                <a:solidFill>
                  <a:schemeClr val="tx2"/>
                </a:solidFill>
              </a:rPr>
              <a:t>Lock-Free NNS KD-Tree</a:t>
            </a:r>
            <a:r>
              <a:rPr lang="ko-KR" altLang="en-US" sz="1200" dirty="0">
                <a:solidFill>
                  <a:schemeClr val="tx2"/>
                </a:solidFill>
              </a:rPr>
              <a:t>입니다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17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차례는 다음과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968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연구 배경입니다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KD-Tree</a:t>
            </a:r>
            <a:r>
              <a:rPr lang="ko-KR" altLang="en-US" dirty="0"/>
              <a:t>는 다차원 데이터를 다루기 위해 자주 사용되고</a:t>
            </a:r>
            <a:r>
              <a:rPr lang="en-US" altLang="ko-KR" dirty="0"/>
              <a:t>, </a:t>
            </a:r>
            <a:r>
              <a:rPr lang="ko-KR" altLang="en-US" dirty="0"/>
              <a:t>가장 가까운 이웃 검색</a:t>
            </a:r>
            <a:r>
              <a:rPr lang="en-US" altLang="ko-KR" dirty="0"/>
              <a:t>, </a:t>
            </a:r>
            <a:r>
              <a:rPr lang="ko-KR" altLang="en-US" dirty="0"/>
              <a:t>줄여서 </a:t>
            </a:r>
            <a:r>
              <a:rPr lang="en-US" altLang="ko-KR" dirty="0"/>
              <a:t>NNS</a:t>
            </a:r>
            <a:r>
              <a:rPr lang="ko-KR" altLang="en-US" dirty="0"/>
              <a:t>는 </a:t>
            </a:r>
            <a:r>
              <a:rPr lang="en-US" altLang="ko-KR" dirty="0"/>
              <a:t>KD-Tree</a:t>
            </a:r>
            <a:r>
              <a:rPr lang="ko-KR" altLang="en-US" dirty="0"/>
              <a:t>에 저장된 데이터들을 활용하기 위해 주로 사용됩니다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현재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44546A"/>
                </a:solidFill>
              </a:rPr>
              <a:t>대부분의 연구자들은 </a:t>
            </a:r>
            <a:r>
              <a:rPr lang="en-US" altLang="ko-KR" dirty="0">
                <a:solidFill>
                  <a:srgbClr val="44546A"/>
                </a:solidFill>
              </a:rPr>
              <a:t>GPU</a:t>
            </a:r>
            <a:r>
              <a:rPr lang="ko-KR" altLang="en-US" dirty="0">
                <a:solidFill>
                  <a:srgbClr val="44546A"/>
                </a:solidFill>
              </a:rPr>
              <a:t>를 사용한 알고리즘의 가속을 주로 연구하고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2020</a:t>
            </a:r>
            <a:r>
              <a:rPr lang="ko-KR" altLang="en-US" dirty="0"/>
              <a:t>년 스팀 하드웨어 </a:t>
            </a:r>
            <a:r>
              <a:rPr lang="ko-KR" altLang="en-US" dirty="0" err="1"/>
              <a:t>서베이에</a:t>
            </a:r>
            <a:r>
              <a:rPr lang="ko-KR" altLang="en-US" dirty="0"/>
              <a:t> 따르면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en-US" altLang="ko-KR" dirty="0"/>
              <a:t>6</a:t>
            </a:r>
            <a:r>
              <a:rPr lang="ko-KR" altLang="en-US" dirty="0"/>
              <a:t>코어 이상의 멀티코어 </a:t>
            </a:r>
            <a:r>
              <a:rPr lang="en-US" altLang="ko-KR" dirty="0"/>
              <a:t>CPU</a:t>
            </a:r>
            <a:r>
              <a:rPr lang="ko-KR" altLang="en-US" dirty="0"/>
              <a:t>가 일반 사용자들에게 급속도로 보급되고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이러한 상황에서 </a:t>
            </a:r>
            <a:r>
              <a:rPr lang="ko-KR" altLang="en-US" dirty="0">
                <a:solidFill>
                  <a:srgbClr val="44546A"/>
                </a:solidFill>
              </a:rPr>
              <a:t>멀티코어 시스템을 충분히 활용하기 위해서는 </a:t>
            </a:r>
            <a:r>
              <a:rPr lang="ko-KR" altLang="en-US" dirty="0" err="1">
                <a:solidFill>
                  <a:srgbClr val="44546A"/>
                </a:solidFill>
              </a:rPr>
              <a:t>멀티스레드를</a:t>
            </a:r>
            <a:r>
              <a:rPr lang="ko-KR" altLang="en-US" dirty="0">
                <a:solidFill>
                  <a:srgbClr val="44546A"/>
                </a:solidFill>
              </a:rPr>
              <a:t> 지원하는 </a:t>
            </a:r>
            <a:r>
              <a:rPr lang="en-US" altLang="ko-KR" dirty="0">
                <a:solidFill>
                  <a:srgbClr val="44546A"/>
                </a:solidFill>
              </a:rPr>
              <a:t>Lock-Free KD-Tree</a:t>
            </a:r>
            <a:r>
              <a:rPr lang="ko-KR" altLang="en-US" dirty="0">
                <a:solidFill>
                  <a:srgbClr val="44546A"/>
                </a:solidFill>
              </a:rPr>
              <a:t>가 필요합니다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이미 개발된 </a:t>
            </a:r>
            <a:r>
              <a:rPr lang="en-US" altLang="ko-KR" dirty="0"/>
              <a:t>lock-free </a:t>
            </a:r>
            <a:r>
              <a:rPr lang="ko-KR" altLang="en-US" dirty="0"/>
              <a:t>알고리즘이 존재하기는 하지만</a:t>
            </a:r>
            <a:r>
              <a:rPr lang="en-US" altLang="ko-KR" dirty="0"/>
              <a:t>, </a:t>
            </a:r>
            <a:r>
              <a:rPr lang="ko-KR" altLang="en-US" dirty="0"/>
              <a:t>성능상의 문제를 가지고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272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KD-Tree</a:t>
            </a:r>
            <a:r>
              <a:rPr lang="ko-KR" altLang="en-US" dirty="0"/>
              <a:t>는 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 노드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K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차원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에 존재하는 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Binary Search Tree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입니다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트리의 깊이마다 키 값의 기준 좌표축을 번갈아 가면서 비교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하여 데이터를 분류합니다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오른쪽 그림은 각각의 키 값이 기준 축이 되어 공간을 나누는 것을 보여주고 있습니다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435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External </a:t>
            </a:r>
            <a:r>
              <a:rPr lang="ko-KR" altLang="en-US" dirty="0"/>
              <a:t>트리는 모든 데이터가 </a:t>
            </a:r>
            <a:r>
              <a:rPr lang="en-US" altLang="ko-KR" dirty="0"/>
              <a:t>leaf</a:t>
            </a:r>
            <a:r>
              <a:rPr lang="ko-KR" altLang="en-US" dirty="0"/>
              <a:t>노드에 저장되는 </a:t>
            </a:r>
            <a:r>
              <a:rPr lang="ko-KR" altLang="en-US" dirty="0" err="1"/>
              <a:t>완전이진트리입니다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데이터를 분류해주는 역할을 하는 </a:t>
            </a:r>
            <a:r>
              <a:rPr lang="en-US" altLang="ko-KR" dirty="0"/>
              <a:t>internal</a:t>
            </a:r>
            <a:r>
              <a:rPr lang="ko-KR" altLang="en-US" dirty="0"/>
              <a:t>노드와 데이터가 저장되는 </a:t>
            </a:r>
            <a:r>
              <a:rPr lang="en-US" altLang="ko-KR" dirty="0"/>
              <a:t>leaf</a:t>
            </a:r>
            <a:r>
              <a:rPr lang="ko-KR" altLang="en-US" dirty="0"/>
              <a:t>노드로 나뉘며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오른쪽 그림에서 </a:t>
            </a:r>
            <a:r>
              <a:rPr lang="en-US" altLang="ko-KR" dirty="0"/>
              <a:t>Initial state</a:t>
            </a:r>
            <a:r>
              <a:rPr lang="ko-KR" altLang="en-US" dirty="0"/>
              <a:t>와 같이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트리를 처음 만들 때 </a:t>
            </a:r>
            <a:r>
              <a:rPr lang="en-US" altLang="ko-KR" dirty="0"/>
              <a:t>Root</a:t>
            </a:r>
            <a:r>
              <a:rPr lang="ko-KR" altLang="en-US" dirty="0"/>
              <a:t>의 </a:t>
            </a:r>
            <a:r>
              <a:rPr lang="en-US" altLang="ko-KR" dirty="0"/>
              <a:t>child</a:t>
            </a:r>
            <a:r>
              <a:rPr lang="ko-KR" altLang="en-US" dirty="0"/>
              <a:t>에 키 값이 무한대인 더미 노드를 넣어</a:t>
            </a:r>
            <a:r>
              <a:rPr lang="en-US" altLang="ko-KR" dirty="0"/>
              <a:t>, </a:t>
            </a:r>
            <a:r>
              <a:rPr lang="ko-KR" altLang="en-US" dirty="0"/>
              <a:t>모든</a:t>
            </a:r>
            <a:r>
              <a:rPr lang="en-US" altLang="ko-KR" dirty="0"/>
              <a:t> Leaf</a:t>
            </a:r>
            <a:r>
              <a:rPr lang="ko-KR" altLang="en-US" dirty="0"/>
              <a:t>노드가 항상 채워져 있는 상태를 유지합니다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그림의 위쪽을 보면</a:t>
            </a:r>
            <a:r>
              <a:rPr lang="en-US" altLang="ko-KR" dirty="0"/>
              <a:t>, </a:t>
            </a:r>
            <a:r>
              <a:rPr lang="ko-KR" altLang="en-US" dirty="0"/>
              <a:t>노드를 삽입할 위치에 다른 노드가 반드시 존재하기 때문에 </a:t>
            </a:r>
            <a:r>
              <a:rPr lang="ko-KR" altLang="en-US" dirty="0" err="1"/>
              <a:t>인터널</a:t>
            </a:r>
            <a:r>
              <a:rPr lang="ko-KR" altLang="en-US" dirty="0"/>
              <a:t> 노드도 같이 생성하여 삽입하고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제거할 때는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완전이진트리를</a:t>
            </a:r>
            <a:r>
              <a:rPr lang="ko-KR" altLang="en-US" dirty="0"/>
              <a:t> 유지해야 하므로</a:t>
            </a:r>
            <a:r>
              <a:rPr lang="en-US" altLang="ko-KR" dirty="0"/>
              <a:t>,</a:t>
            </a:r>
            <a:r>
              <a:rPr lang="ko-KR" altLang="en-US" dirty="0"/>
              <a:t> 무조건 삭제 노드의 부모인 </a:t>
            </a:r>
            <a:r>
              <a:rPr lang="ko-KR" altLang="en-US" dirty="0" err="1"/>
              <a:t>인터널</a:t>
            </a:r>
            <a:r>
              <a:rPr lang="ko-KR" altLang="en-US" dirty="0"/>
              <a:t> 노드를 함께 제거합니다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</a:t>
            </a:r>
            <a:r>
              <a:rPr lang="en-US" altLang="ko-KR" dirty="0"/>
              <a:t>external </a:t>
            </a:r>
            <a:r>
              <a:rPr lang="ko-KR" altLang="en-US" dirty="0"/>
              <a:t>트리를 사용하면</a:t>
            </a:r>
            <a:r>
              <a:rPr lang="en-US" altLang="ko-KR" dirty="0"/>
              <a:t>, </a:t>
            </a:r>
            <a:r>
              <a:rPr lang="ko-KR" altLang="en-US" dirty="0"/>
              <a:t>노드를 제거할 때</a:t>
            </a:r>
            <a:r>
              <a:rPr lang="en-US" altLang="ko-KR" dirty="0"/>
              <a:t>, </a:t>
            </a:r>
            <a:r>
              <a:rPr lang="ko-KR" altLang="en-US" dirty="0"/>
              <a:t>제거할 노드의 </a:t>
            </a:r>
            <a:r>
              <a:rPr lang="en-US" altLang="ko-KR" dirty="0"/>
              <a:t>child</a:t>
            </a:r>
            <a:r>
              <a:rPr lang="ko-KR" altLang="en-US" dirty="0"/>
              <a:t>가 있는지 없는지 등</a:t>
            </a:r>
            <a:r>
              <a:rPr lang="en-US" altLang="ko-KR" dirty="0"/>
              <a:t>, </a:t>
            </a:r>
            <a:r>
              <a:rPr lang="ko-KR" altLang="en-US" dirty="0"/>
              <a:t>여러 케이스를 고려할 필요가 없기 때문에 비동기 알고리즘 구현에 유리합니다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그림의 오른쪽 아래를 보면</a:t>
            </a:r>
            <a:r>
              <a:rPr lang="en-US" altLang="ko-KR" dirty="0"/>
              <a:t>,</a:t>
            </a:r>
            <a:r>
              <a:rPr lang="ko-KR" altLang="en-US" dirty="0"/>
              <a:t> 일반적인 </a:t>
            </a:r>
            <a:r>
              <a:rPr lang="en-US" altLang="ko-KR" dirty="0"/>
              <a:t>KD-Tree</a:t>
            </a:r>
            <a:r>
              <a:rPr lang="ko-KR" altLang="en-US" dirty="0"/>
              <a:t>와는 다르게 </a:t>
            </a:r>
            <a:r>
              <a:rPr lang="ko-KR" altLang="en-US" dirty="0" err="1"/>
              <a:t>인터널</a:t>
            </a:r>
            <a:r>
              <a:rPr lang="ko-KR" altLang="en-US" dirty="0"/>
              <a:t> 노드의 키 값이 기준 축 역할을 하여 공간을 분할하고</a:t>
            </a:r>
            <a:r>
              <a:rPr lang="en-US" altLang="ko-KR" dirty="0"/>
              <a:t>, leaf</a:t>
            </a:r>
            <a:r>
              <a:rPr lang="ko-KR" altLang="en-US" dirty="0"/>
              <a:t>노드의 데이터들이 분할된 공간상에 있는 것을 확인할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401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4000" dirty="0">
                <a:solidFill>
                  <a:srgbClr val="44546A"/>
                </a:solidFill>
              </a:rPr>
              <a:t>NNS</a:t>
            </a:r>
            <a:r>
              <a:rPr lang="ko-KR" altLang="en-US" sz="4000" dirty="0">
                <a:solidFill>
                  <a:srgbClr val="44546A"/>
                </a:solidFill>
              </a:rPr>
              <a:t>는 </a:t>
            </a:r>
            <a:r>
              <a:rPr lang="en-US" altLang="ko-KR" sz="4000" dirty="0">
                <a:solidFill>
                  <a:srgbClr val="44546A"/>
                </a:solidFill>
              </a:rPr>
              <a:t>KD-Tree</a:t>
            </a:r>
            <a:r>
              <a:rPr lang="ko-KR" altLang="en-US" sz="4000" dirty="0">
                <a:solidFill>
                  <a:srgbClr val="44546A"/>
                </a:solidFill>
              </a:rPr>
              <a:t>를 </a:t>
            </a:r>
            <a:r>
              <a:rPr lang="en-US" altLang="ko-KR" sz="4000" dirty="0">
                <a:solidFill>
                  <a:srgbClr val="44546A"/>
                </a:solidFill>
              </a:rPr>
              <a:t>leaf</a:t>
            </a:r>
            <a:r>
              <a:rPr lang="ko-KR" altLang="en-US" sz="4000" dirty="0">
                <a:solidFill>
                  <a:srgbClr val="44546A"/>
                </a:solidFill>
              </a:rPr>
              <a:t>노드에서부터 거슬러 올라가며 </a:t>
            </a:r>
            <a:r>
              <a:rPr lang="en-US" altLang="ko-KR" sz="7200" dirty="0">
                <a:solidFill>
                  <a:srgbClr val="44546A"/>
                </a:solidFill>
              </a:rPr>
              <a:t>Root</a:t>
            </a:r>
            <a:r>
              <a:rPr lang="ko-KR" altLang="en-US" sz="7200" dirty="0">
                <a:solidFill>
                  <a:srgbClr val="44546A"/>
                </a:solidFill>
              </a:rPr>
              <a:t>를 만날 때까지 </a:t>
            </a:r>
            <a:r>
              <a:rPr lang="en-US" altLang="ko-KR" sz="4000" dirty="0">
                <a:solidFill>
                  <a:srgbClr val="44546A"/>
                </a:solidFill>
              </a:rPr>
              <a:t>subtree</a:t>
            </a:r>
            <a:r>
              <a:rPr lang="ko-KR" altLang="en-US" sz="4000" dirty="0">
                <a:solidFill>
                  <a:srgbClr val="44546A"/>
                </a:solidFill>
              </a:rPr>
              <a:t>를 반복 탐색합니다</a:t>
            </a:r>
            <a:r>
              <a:rPr lang="en-US" altLang="ko-KR" sz="4000" dirty="0">
                <a:solidFill>
                  <a:srgbClr val="44546A"/>
                </a:solidFill>
              </a:rPr>
              <a:t>.</a:t>
            </a: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4000" dirty="0">
              <a:solidFill>
                <a:srgbClr val="44546A"/>
              </a:solidFill>
            </a:endParaRP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그림을 보면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처음에 찾는 점 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주어졌을 때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 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값을 키 값으로 하여 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KD-Tree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탐색하면 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그림처럼 데이터가 있는 공간에 도착하고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4000" kern="100" dirty="0">
              <a:solidFill>
                <a:srgbClr val="44546A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공간에 존재하는 점과 거리 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</a:t>
            </a:r>
            <a:r>
              <a:rPr lang="ko-KR" altLang="en-US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구합니다</a:t>
            </a:r>
            <a:r>
              <a:rPr lang="en-US" altLang="ko-KR" sz="40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4000" kern="100" dirty="0">
              <a:solidFill>
                <a:srgbClr val="44546A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 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2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3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4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번 그림과 같이 방금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계산한 노드의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형제노드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부모노드의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형제노드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순으로 트리를 거슬러 올라가며 검색을 하게 됩니다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인터널노드의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키 값과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기준 축 값의 차이가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r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값보다 크면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1270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해당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인터널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노드의 </a:t>
            </a:r>
            <a:r>
              <a:rPr lang="ko-KR" altLang="en-US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서브트리에는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현재 찾은 노드보다 거리가 가까운 노드가 없으므로 탐색하지 않습니다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619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Descriptor </a:t>
            </a:r>
            <a:r>
              <a:rPr lang="ko-KR" altLang="en-US" dirty="0">
                <a:solidFill>
                  <a:srgbClr val="44546A"/>
                </a:solidFill>
              </a:rPr>
              <a:t>기반 동기화는 많은 </a:t>
            </a:r>
            <a:r>
              <a:rPr lang="en-US" altLang="ko-KR" dirty="0">
                <a:solidFill>
                  <a:srgbClr val="44546A"/>
                </a:solidFill>
              </a:rPr>
              <a:t>Lock-Free </a:t>
            </a:r>
            <a:r>
              <a:rPr lang="ko-KR" altLang="en-US" dirty="0">
                <a:solidFill>
                  <a:srgbClr val="44546A"/>
                </a:solidFill>
              </a:rPr>
              <a:t>알고리즘에서 사용하는 방식입니다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포인터의 최하위 비트인 </a:t>
            </a:r>
            <a:r>
              <a:rPr lang="en-US" altLang="ko-KR" dirty="0">
                <a:solidFill>
                  <a:srgbClr val="44546A"/>
                </a:solidFill>
              </a:rPr>
              <a:t>LSB</a:t>
            </a:r>
            <a:r>
              <a:rPr lang="ko-KR" altLang="en-US" dirty="0">
                <a:solidFill>
                  <a:srgbClr val="44546A"/>
                </a:solidFill>
              </a:rPr>
              <a:t>에 해당 포인터가 가리키는 노드의</a:t>
            </a:r>
            <a:r>
              <a:rPr lang="en-US" altLang="ko-KR" dirty="0">
                <a:solidFill>
                  <a:srgbClr val="44546A"/>
                </a:solidFill>
              </a:rPr>
              <a:t>,</a:t>
            </a:r>
            <a:r>
              <a:rPr lang="ko-KR" altLang="en-US" dirty="0">
                <a:solidFill>
                  <a:srgbClr val="44546A"/>
                </a:solidFill>
              </a:rPr>
              <a:t> 상태를 나타내는 </a:t>
            </a:r>
            <a:r>
              <a:rPr lang="en-US" altLang="ko-KR" dirty="0">
                <a:solidFill>
                  <a:srgbClr val="44546A"/>
                </a:solidFill>
              </a:rPr>
              <a:t>flag</a:t>
            </a:r>
            <a:r>
              <a:rPr lang="ko-KR" altLang="en-US" dirty="0">
                <a:solidFill>
                  <a:srgbClr val="44546A"/>
                </a:solidFill>
              </a:rPr>
              <a:t>들을 끼워 넣어서 </a:t>
            </a:r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한 번의 </a:t>
            </a:r>
            <a:r>
              <a:rPr lang="en-US" altLang="ko-KR" dirty="0">
                <a:solidFill>
                  <a:srgbClr val="44546A"/>
                </a:solidFill>
              </a:rPr>
              <a:t>CAS</a:t>
            </a:r>
            <a:r>
              <a:rPr lang="ko-KR" altLang="en-US" dirty="0">
                <a:solidFill>
                  <a:srgbClr val="44546A"/>
                </a:solidFill>
              </a:rPr>
              <a:t>연산으로 포인터 값과 노드의 상태를 동시에 원자적으로 변경합니다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이 방법은 데이터의 중간 값과 데이터레이스가 발생하지 않아서 안전하게 자료구조를 수정할 수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863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Descriptor </a:t>
            </a:r>
            <a:r>
              <a:rPr lang="ko-KR" altLang="en-US" dirty="0">
                <a:solidFill>
                  <a:srgbClr val="44546A"/>
                </a:solidFill>
              </a:rPr>
              <a:t>기반 동기화에 사용되는 </a:t>
            </a:r>
            <a:r>
              <a:rPr lang="en-US" altLang="ko-KR" dirty="0">
                <a:solidFill>
                  <a:srgbClr val="44546A"/>
                </a:solidFill>
              </a:rPr>
              <a:t>LSB</a:t>
            </a:r>
            <a:r>
              <a:rPr lang="ko-KR" altLang="en-US" dirty="0">
                <a:solidFill>
                  <a:srgbClr val="44546A"/>
                </a:solidFill>
              </a:rPr>
              <a:t>는 포인터의 최하위 비트 중 일부는 사용되지 않는다는 특징을 이용하고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44546A"/>
                </a:solidFill>
              </a:rPr>
              <a:t>동기화에 사용되는 포인터는 아래 그림과 같이 포인터와 </a:t>
            </a:r>
            <a:r>
              <a:rPr lang="en-US" altLang="ko-KR" dirty="0">
                <a:solidFill>
                  <a:srgbClr val="44546A"/>
                </a:solidFill>
              </a:rPr>
              <a:t>LSB</a:t>
            </a:r>
            <a:r>
              <a:rPr lang="ko-KR" altLang="en-US" dirty="0">
                <a:solidFill>
                  <a:srgbClr val="44546A"/>
                </a:solidFill>
              </a:rPr>
              <a:t>를 분리하기 위해 비트마스크와 비트연산자 </a:t>
            </a:r>
            <a:r>
              <a:rPr lang="en-US" altLang="ko-KR" dirty="0">
                <a:solidFill>
                  <a:srgbClr val="44546A"/>
                </a:solidFill>
              </a:rPr>
              <a:t>AND</a:t>
            </a:r>
            <a:r>
              <a:rPr lang="ko-KR" altLang="en-US" dirty="0">
                <a:solidFill>
                  <a:srgbClr val="44546A"/>
                </a:solidFill>
              </a:rPr>
              <a:t>를 사용합니다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184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논문은 </a:t>
            </a:r>
            <a:r>
              <a:rPr lang="ko-KR" altLang="en-US" sz="1200" dirty="0">
                <a:solidFill>
                  <a:schemeClr val="tx2"/>
                </a:solidFill>
              </a:rPr>
              <a:t>고성능 </a:t>
            </a:r>
            <a:r>
              <a:rPr lang="en-US" altLang="ko-KR" sz="1200" dirty="0">
                <a:solidFill>
                  <a:schemeClr val="tx2"/>
                </a:solidFill>
              </a:rPr>
              <a:t>Lock-Free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NNS KD-Tree</a:t>
            </a:r>
            <a:r>
              <a:rPr lang="ko-KR" altLang="en-US" sz="1200" dirty="0">
                <a:solidFill>
                  <a:schemeClr val="tx2"/>
                </a:solidFill>
              </a:rPr>
              <a:t>인 </a:t>
            </a:r>
            <a:r>
              <a:rPr lang="en-US" altLang="ko-KR" sz="1200" dirty="0">
                <a:solidFill>
                  <a:schemeClr val="tx2"/>
                </a:solidFill>
              </a:rPr>
              <a:t>HD-Tree</a:t>
            </a:r>
            <a:r>
              <a:rPr lang="ko-KR" altLang="en-US" sz="1200" dirty="0">
                <a:solidFill>
                  <a:schemeClr val="tx2"/>
                </a:solidFill>
              </a:rPr>
              <a:t>를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제작하는 것을 목적으로 하고 있습니다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기존에 제안된 </a:t>
            </a:r>
            <a:r>
              <a:rPr lang="en-US" altLang="ko-KR" sz="1200" dirty="0">
                <a:solidFill>
                  <a:schemeClr val="tx2"/>
                </a:solidFill>
              </a:rPr>
              <a:t>JAVA </a:t>
            </a:r>
            <a:r>
              <a:rPr lang="ko-KR" altLang="en-US" sz="1200" dirty="0">
                <a:solidFill>
                  <a:schemeClr val="tx2"/>
                </a:solidFill>
              </a:rPr>
              <a:t>알고리즘은 성능 문제가 있기 때문에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이것을 </a:t>
            </a:r>
            <a:r>
              <a:rPr lang="en-US" altLang="ko-KR" sz="1200" dirty="0">
                <a:solidFill>
                  <a:schemeClr val="tx2"/>
                </a:solidFill>
              </a:rPr>
              <a:t>C++</a:t>
            </a:r>
            <a:r>
              <a:rPr lang="ko-KR" altLang="en-US" sz="1200" dirty="0">
                <a:solidFill>
                  <a:schemeClr val="tx2"/>
                </a:solidFill>
              </a:rPr>
              <a:t>로 변환하고 메모리 재사용 구조를 추가하고 동기화 방법을 개선하여 기존 알고리즘과 성능 비교를 할 예정입니다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562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chemeClr val="tx2"/>
                </a:solidFill>
              </a:rPr>
              <a:t>관련 연구로는 </a:t>
            </a:r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기존에 제안된 </a:t>
            </a:r>
            <a:r>
              <a:rPr lang="en-US" altLang="ko-KR" sz="1200" dirty="0">
                <a:solidFill>
                  <a:schemeClr val="tx2"/>
                </a:solidFill>
              </a:rPr>
              <a:t>JAVA </a:t>
            </a:r>
            <a:r>
              <a:rPr lang="ko-KR" altLang="en-US" sz="1200" dirty="0">
                <a:solidFill>
                  <a:schemeClr val="tx2"/>
                </a:solidFill>
              </a:rPr>
              <a:t>알고리즘인 </a:t>
            </a:r>
            <a:r>
              <a:rPr lang="en-US" altLang="ko-KR" sz="1200" dirty="0">
                <a:solidFill>
                  <a:schemeClr val="tx2"/>
                </a:solidFill>
              </a:rPr>
              <a:t>Lock-Free NNS KD-Tree</a:t>
            </a: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바이너리 </a:t>
            </a:r>
            <a:r>
              <a:rPr lang="ko-KR" altLang="en-US" sz="1200" dirty="0" err="1">
                <a:solidFill>
                  <a:schemeClr val="tx2"/>
                </a:solidFill>
              </a:rPr>
              <a:t>서치</a:t>
            </a:r>
            <a:r>
              <a:rPr lang="ko-KR" altLang="en-US" sz="1200" dirty="0">
                <a:solidFill>
                  <a:schemeClr val="tx2"/>
                </a:solidFill>
              </a:rPr>
              <a:t> 트리의 개선된 </a:t>
            </a:r>
            <a:r>
              <a:rPr lang="en-US" altLang="ko-KR" sz="1200" dirty="0">
                <a:solidFill>
                  <a:schemeClr val="tx2"/>
                </a:solidFill>
              </a:rPr>
              <a:t>Descriptor</a:t>
            </a:r>
            <a:r>
              <a:rPr lang="ko-KR" altLang="en-US" sz="1200" dirty="0">
                <a:solidFill>
                  <a:schemeClr val="tx2"/>
                </a:solidFill>
              </a:rPr>
              <a:t>기반 동기화 방법을 제시한 </a:t>
            </a:r>
            <a:r>
              <a:rPr lang="en-US" altLang="ko-KR" sz="1200" dirty="0">
                <a:solidFill>
                  <a:schemeClr val="tx2"/>
                </a:solidFill>
              </a:rPr>
              <a:t>FEAST</a:t>
            </a:r>
            <a:r>
              <a:rPr lang="ko-KR" altLang="en-US" sz="1200" dirty="0">
                <a:solidFill>
                  <a:schemeClr val="tx2"/>
                </a:solidFill>
              </a:rPr>
              <a:t>알고리즘</a:t>
            </a:r>
            <a:r>
              <a:rPr lang="en-US" altLang="ko-KR" sz="1200" dirty="0">
                <a:solidFill>
                  <a:schemeClr val="tx2"/>
                </a:solidFill>
              </a:rPr>
              <a:t>,</a:t>
            </a: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en-US" altLang="ko-KR" sz="1200" dirty="0">
                <a:solidFill>
                  <a:schemeClr val="tx2"/>
                </a:solidFill>
              </a:rPr>
              <a:t>C++</a:t>
            </a:r>
            <a:r>
              <a:rPr lang="ko-KR" altLang="en-US" sz="1200" dirty="0">
                <a:solidFill>
                  <a:schemeClr val="tx2"/>
                </a:solidFill>
              </a:rPr>
              <a:t>에서 </a:t>
            </a:r>
            <a:r>
              <a:rPr lang="en-US" altLang="ko-KR" sz="1200" dirty="0">
                <a:solidFill>
                  <a:schemeClr val="tx2"/>
                </a:solidFill>
              </a:rPr>
              <a:t>Lock-Free</a:t>
            </a:r>
            <a:r>
              <a:rPr lang="ko-KR" altLang="en-US" sz="1200" dirty="0">
                <a:solidFill>
                  <a:schemeClr val="tx2"/>
                </a:solidFill>
              </a:rPr>
              <a:t>알고리즘의 메모리 재사용을 할 수 있도록 도와주는 </a:t>
            </a:r>
            <a:r>
              <a:rPr lang="en-US" altLang="ko-KR" sz="1200" dirty="0">
                <a:solidFill>
                  <a:schemeClr val="tx2"/>
                </a:solidFill>
              </a:rPr>
              <a:t>EBR</a:t>
            </a:r>
            <a:r>
              <a:rPr lang="ko-KR" altLang="en-US" sz="1200" dirty="0">
                <a:solidFill>
                  <a:schemeClr val="tx2"/>
                </a:solidFill>
              </a:rPr>
              <a:t>알고리즘으로</a:t>
            </a:r>
            <a:endParaRPr lang="en-US" altLang="ko-KR" sz="1200" dirty="0">
              <a:solidFill>
                <a:schemeClr val="tx2"/>
              </a:solidFill>
            </a:endParaRP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세 가지가 있습니다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341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기존에 제안된 </a:t>
            </a:r>
            <a:r>
              <a:rPr lang="en-US" altLang="ko-KR" sz="1200" dirty="0">
                <a:solidFill>
                  <a:schemeClr val="tx2"/>
                </a:solidFill>
              </a:rPr>
              <a:t>JAVA </a:t>
            </a:r>
            <a:r>
              <a:rPr lang="ko-KR" altLang="en-US" sz="1200" dirty="0">
                <a:solidFill>
                  <a:schemeClr val="tx2"/>
                </a:solidFill>
              </a:rPr>
              <a:t>알고리즘인 </a:t>
            </a:r>
            <a:r>
              <a:rPr lang="en-US" altLang="ko-KR" sz="1200" dirty="0">
                <a:solidFill>
                  <a:schemeClr val="tx2"/>
                </a:solidFill>
              </a:rPr>
              <a:t>Lock-Free NNS KD-Tree</a:t>
            </a:r>
            <a:r>
              <a:rPr lang="ko-KR" altLang="en-US" sz="1200" dirty="0">
                <a:solidFill>
                  <a:schemeClr val="tx2"/>
                </a:solidFill>
              </a:rPr>
              <a:t>는 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개의 </a:t>
            </a:r>
            <a:r>
              <a:rPr lang="en-US" altLang="ko-KR" sz="1200" dirty="0">
                <a:solidFill>
                  <a:schemeClr val="tx2"/>
                </a:solidFill>
              </a:rPr>
              <a:t>descriptor</a:t>
            </a:r>
            <a:r>
              <a:rPr lang="ko-KR" altLang="en-US" sz="1200" dirty="0">
                <a:solidFill>
                  <a:schemeClr val="tx2"/>
                </a:solidFill>
              </a:rPr>
              <a:t>를 이용한 동기화 방법을 사용합니다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제거할 노드를 검색을 통해 찾으면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해당 노드의 </a:t>
            </a:r>
            <a:r>
              <a:rPr lang="en-US" altLang="ko-KR" sz="1200" dirty="0">
                <a:solidFill>
                  <a:schemeClr val="tx2"/>
                </a:solidFill>
              </a:rPr>
              <a:t>LSB</a:t>
            </a:r>
            <a:r>
              <a:rPr lang="ko-KR" altLang="en-US" sz="1200" dirty="0">
                <a:solidFill>
                  <a:schemeClr val="tx2"/>
                </a:solidFill>
              </a:rPr>
              <a:t>에 </a:t>
            </a:r>
            <a:r>
              <a:rPr lang="en-US" altLang="ko-KR" sz="1200" dirty="0">
                <a:solidFill>
                  <a:schemeClr val="tx2"/>
                </a:solidFill>
              </a:rPr>
              <a:t>mark</a:t>
            </a:r>
            <a:r>
              <a:rPr lang="ko-KR" altLang="en-US" sz="1200" dirty="0">
                <a:solidFill>
                  <a:schemeClr val="tx2"/>
                </a:solidFill>
              </a:rPr>
              <a:t>표시를 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함께 </a:t>
            </a:r>
            <a:r>
              <a:rPr lang="ko-KR" altLang="en-US" sz="1200" dirty="0" err="1">
                <a:solidFill>
                  <a:schemeClr val="tx2"/>
                </a:solidFill>
              </a:rPr>
              <a:t>제거해야하는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인터널노드인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부모노드의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LSB</a:t>
            </a:r>
            <a:r>
              <a:rPr lang="ko-KR" altLang="en-US" sz="1200" dirty="0">
                <a:solidFill>
                  <a:schemeClr val="tx2"/>
                </a:solidFill>
              </a:rPr>
              <a:t>에 </a:t>
            </a:r>
            <a:r>
              <a:rPr lang="en-US" altLang="ko-KR" sz="1200" dirty="0">
                <a:solidFill>
                  <a:schemeClr val="tx2"/>
                </a:solidFill>
              </a:rPr>
              <a:t>tag</a:t>
            </a:r>
            <a:r>
              <a:rPr lang="ko-KR" altLang="en-US" sz="1200" dirty="0">
                <a:solidFill>
                  <a:schemeClr val="tx2"/>
                </a:solidFill>
              </a:rPr>
              <a:t>표시를 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위치를 재조정 해야 하는 형제 노드의 </a:t>
            </a:r>
            <a:r>
              <a:rPr lang="en-US" altLang="ko-KR" sz="1200" dirty="0">
                <a:solidFill>
                  <a:schemeClr val="tx2"/>
                </a:solidFill>
              </a:rPr>
              <a:t>LSB</a:t>
            </a:r>
            <a:r>
              <a:rPr lang="ko-KR" altLang="en-US" sz="1200" dirty="0">
                <a:solidFill>
                  <a:schemeClr val="tx2"/>
                </a:solidFill>
              </a:rPr>
              <a:t>에 </a:t>
            </a:r>
            <a:r>
              <a:rPr lang="en-US" altLang="ko-KR" sz="1200" dirty="0">
                <a:solidFill>
                  <a:schemeClr val="tx2"/>
                </a:solidFill>
              </a:rPr>
              <a:t>flag</a:t>
            </a:r>
            <a:r>
              <a:rPr lang="ko-KR" altLang="en-US" sz="1200" dirty="0">
                <a:solidFill>
                  <a:schemeClr val="tx2"/>
                </a:solidFill>
              </a:rPr>
              <a:t>표시를 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모든 표시가 완료되면</a:t>
            </a:r>
            <a:r>
              <a:rPr lang="en-US" altLang="ko-KR" sz="1200" dirty="0">
                <a:solidFill>
                  <a:schemeClr val="tx2"/>
                </a:solidFill>
              </a:rPr>
              <a:t>,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부모노드가</a:t>
            </a:r>
            <a:r>
              <a:rPr lang="ko-KR" altLang="en-US" sz="1200" dirty="0">
                <a:solidFill>
                  <a:schemeClr val="tx2"/>
                </a:solidFill>
              </a:rPr>
              <a:t> 연결된 위치에 </a:t>
            </a:r>
            <a:r>
              <a:rPr lang="ko-KR" altLang="en-US" sz="1200" dirty="0" err="1">
                <a:solidFill>
                  <a:schemeClr val="tx2"/>
                </a:solidFill>
              </a:rPr>
              <a:t>형제노드를</a:t>
            </a:r>
            <a:r>
              <a:rPr lang="ko-KR" altLang="en-US" sz="1200" dirty="0">
                <a:solidFill>
                  <a:schemeClr val="tx2"/>
                </a:solidFill>
              </a:rPr>
              <a:t> 연결하는 재조정 작업을 수행합니다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각각의 단계에서 노드가 삭제된 상태임을 표시하는 </a:t>
            </a:r>
            <a:r>
              <a:rPr lang="en-US" altLang="ko-KR" sz="1200" dirty="0">
                <a:solidFill>
                  <a:schemeClr val="tx2"/>
                </a:solidFill>
              </a:rPr>
              <a:t>mark</a:t>
            </a:r>
            <a:r>
              <a:rPr lang="ko-KR" altLang="en-US" sz="1200" dirty="0">
                <a:solidFill>
                  <a:schemeClr val="tx2"/>
                </a:solidFill>
              </a:rPr>
              <a:t>표시는 성공할 때까지 계속 재시도하고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나머지 </a:t>
            </a:r>
            <a:r>
              <a:rPr lang="en-US" altLang="ko-KR" sz="1200" dirty="0">
                <a:solidFill>
                  <a:schemeClr val="tx2"/>
                </a:solidFill>
              </a:rPr>
              <a:t>descriptor</a:t>
            </a:r>
            <a:r>
              <a:rPr lang="ko-KR" altLang="en-US" sz="1200" dirty="0">
                <a:solidFill>
                  <a:schemeClr val="tx2"/>
                </a:solidFill>
              </a:rPr>
              <a:t> 표시와 노드의 재조정은 각각 한 번씩만 시도하고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표시에 실패하더라도 작업을 종료합니다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이때 미처 끝마치지 못한 작업은 검색도중 발견될 경우 다시 시도합니다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250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 알고리즘의 </a:t>
            </a:r>
            <a:r>
              <a:rPr lang="en-US" altLang="ko-KR" dirty="0"/>
              <a:t>Lock-Free NNS</a:t>
            </a:r>
            <a:r>
              <a:rPr lang="ko-KR" altLang="en-US" dirty="0"/>
              <a:t>는 </a:t>
            </a:r>
            <a:r>
              <a:rPr lang="en-US" altLang="ko-KR" dirty="0">
                <a:solidFill>
                  <a:srgbClr val="44546A"/>
                </a:solidFill>
              </a:rPr>
              <a:t>Nearest Neighbor Collector, </a:t>
            </a:r>
            <a:r>
              <a:rPr lang="ko-KR" altLang="en-US" dirty="0">
                <a:solidFill>
                  <a:srgbClr val="44546A"/>
                </a:solidFill>
              </a:rPr>
              <a:t>줄여서 </a:t>
            </a:r>
            <a:r>
              <a:rPr lang="en-US" altLang="ko-KR" dirty="0">
                <a:solidFill>
                  <a:srgbClr val="44546A"/>
                </a:solidFill>
              </a:rPr>
              <a:t>NNC </a:t>
            </a:r>
            <a:r>
              <a:rPr lang="ko-KR" altLang="en-US" dirty="0">
                <a:solidFill>
                  <a:srgbClr val="44546A"/>
                </a:solidFill>
              </a:rPr>
              <a:t>노드의 리스트를 동기화 자료구조로 사용합니다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en-US" altLang="ko-KR" dirty="0">
                <a:solidFill>
                  <a:srgbClr val="44546A"/>
                </a:solidFill>
              </a:rPr>
              <a:t>NNC </a:t>
            </a:r>
            <a:r>
              <a:rPr lang="ko-KR" altLang="en-US" dirty="0">
                <a:solidFill>
                  <a:srgbClr val="44546A"/>
                </a:solidFill>
              </a:rPr>
              <a:t>노드는 검색을 시도하는 키 값인 타겟과 검색 결과를 저장하는 </a:t>
            </a:r>
            <a:r>
              <a:rPr lang="en-US" altLang="ko-KR" dirty="0">
                <a:solidFill>
                  <a:srgbClr val="44546A"/>
                </a:solidFill>
              </a:rPr>
              <a:t>collected neighbor CN, </a:t>
            </a:r>
            <a:r>
              <a:rPr lang="ko-KR" altLang="en-US" dirty="0">
                <a:solidFill>
                  <a:srgbClr val="44546A"/>
                </a:solidFill>
              </a:rPr>
              <a:t>그리고</a:t>
            </a:r>
            <a:r>
              <a:rPr lang="en-US" altLang="ko-KR" dirty="0">
                <a:solidFill>
                  <a:srgbClr val="44546A"/>
                </a:solidFill>
              </a:rPr>
              <a:t> </a:t>
            </a:r>
            <a:r>
              <a:rPr lang="ko-KR" altLang="en-US" dirty="0">
                <a:solidFill>
                  <a:srgbClr val="44546A"/>
                </a:solidFill>
              </a:rPr>
              <a:t>다른 쓰레드가</a:t>
            </a:r>
            <a:r>
              <a:rPr lang="en-US" altLang="ko-KR" dirty="0">
                <a:solidFill>
                  <a:srgbClr val="44546A"/>
                </a:solidFill>
              </a:rPr>
              <a:t> </a:t>
            </a:r>
            <a:r>
              <a:rPr lang="ko-KR" altLang="en-US" dirty="0">
                <a:solidFill>
                  <a:srgbClr val="44546A"/>
                </a:solidFill>
              </a:rPr>
              <a:t>자료구조를 이용한 결과를 저장하는 </a:t>
            </a:r>
            <a:r>
              <a:rPr lang="en-US" altLang="ko-KR" dirty="0">
                <a:solidFill>
                  <a:srgbClr val="44546A"/>
                </a:solidFill>
              </a:rPr>
              <a:t>reported neighbor RN</a:t>
            </a:r>
            <a:r>
              <a:rPr lang="ko-KR" altLang="en-US" dirty="0">
                <a:solidFill>
                  <a:srgbClr val="44546A"/>
                </a:solidFill>
              </a:rPr>
              <a:t>을 멤버로 가지고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그림은 </a:t>
            </a:r>
            <a:r>
              <a:rPr lang="en-US" altLang="ko-KR" dirty="0">
                <a:solidFill>
                  <a:srgbClr val="44546A"/>
                </a:solidFill>
              </a:rPr>
              <a:t>Lock-Free NNS</a:t>
            </a:r>
            <a:r>
              <a:rPr lang="ko-KR" altLang="en-US" dirty="0">
                <a:solidFill>
                  <a:srgbClr val="44546A"/>
                </a:solidFill>
              </a:rPr>
              <a:t>의 동작방식을 설명하고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먼저 쓰레드</a:t>
            </a:r>
            <a:r>
              <a:rPr lang="en-US" altLang="ko-KR" dirty="0">
                <a:solidFill>
                  <a:srgbClr val="44546A"/>
                </a:solidFill>
              </a:rPr>
              <a:t>A</a:t>
            </a:r>
            <a:r>
              <a:rPr lang="ko-KR" altLang="en-US" dirty="0">
                <a:solidFill>
                  <a:srgbClr val="44546A"/>
                </a:solidFill>
              </a:rPr>
              <a:t>가 </a:t>
            </a:r>
            <a:r>
              <a:rPr lang="en-US" altLang="ko-KR" dirty="0">
                <a:solidFill>
                  <a:srgbClr val="44546A"/>
                </a:solidFill>
              </a:rPr>
              <a:t>NNS</a:t>
            </a:r>
            <a:r>
              <a:rPr lang="ko-KR" altLang="en-US" dirty="0">
                <a:solidFill>
                  <a:srgbClr val="44546A"/>
                </a:solidFill>
              </a:rPr>
              <a:t>를 시작하면 </a:t>
            </a:r>
            <a:r>
              <a:rPr lang="en-US" altLang="ko-KR" dirty="0">
                <a:solidFill>
                  <a:srgbClr val="44546A"/>
                </a:solidFill>
              </a:rPr>
              <a:t>NNC</a:t>
            </a:r>
            <a:r>
              <a:rPr lang="ko-KR" altLang="en-US" dirty="0">
                <a:solidFill>
                  <a:srgbClr val="44546A"/>
                </a:solidFill>
              </a:rPr>
              <a:t>리스트에 새 노드를 할당하고 </a:t>
            </a:r>
            <a:r>
              <a:rPr lang="en-US" altLang="ko-KR" dirty="0">
                <a:solidFill>
                  <a:srgbClr val="44546A"/>
                </a:solidFill>
              </a:rPr>
              <a:t>collect()</a:t>
            </a:r>
            <a:r>
              <a:rPr lang="ko-KR" altLang="en-US" dirty="0">
                <a:solidFill>
                  <a:srgbClr val="44546A"/>
                </a:solidFill>
              </a:rPr>
              <a:t>를 호출하여</a:t>
            </a:r>
            <a:r>
              <a:rPr lang="en-US" altLang="ko-KR" dirty="0">
                <a:solidFill>
                  <a:srgbClr val="44546A"/>
                </a:solidFill>
              </a:rPr>
              <a:t>,</a:t>
            </a:r>
            <a:r>
              <a:rPr lang="ko-KR" altLang="en-US" dirty="0">
                <a:solidFill>
                  <a:srgbClr val="44546A"/>
                </a:solidFill>
              </a:rPr>
              <a:t> 결과 값으로 </a:t>
            </a:r>
            <a:r>
              <a:rPr lang="en-US" altLang="ko-KR" dirty="0">
                <a:solidFill>
                  <a:srgbClr val="44546A"/>
                </a:solidFill>
              </a:rPr>
              <a:t>target</a:t>
            </a:r>
            <a:r>
              <a:rPr lang="ko-KR" altLang="en-US" dirty="0">
                <a:solidFill>
                  <a:srgbClr val="44546A"/>
                </a:solidFill>
              </a:rPr>
              <a:t>과 가장 가까운 노드를 얻고 </a:t>
            </a:r>
            <a:r>
              <a:rPr lang="en-US" altLang="ko-KR" dirty="0">
                <a:solidFill>
                  <a:srgbClr val="44546A"/>
                </a:solidFill>
              </a:rPr>
              <a:t>CN</a:t>
            </a:r>
            <a:r>
              <a:rPr lang="ko-KR" altLang="en-US" dirty="0">
                <a:solidFill>
                  <a:srgbClr val="44546A"/>
                </a:solidFill>
              </a:rPr>
              <a:t>에 저장합니다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다른 쓰레드들은 쓰레드</a:t>
            </a:r>
            <a:r>
              <a:rPr lang="en-US" altLang="ko-KR" dirty="0">
                <a:solidFill>
                  <a:srgbClr val="44546A"/>
                </a:solidFill>
              </a:rPr>
              <a:t>A</a:t>
            </a:r>
            <a:r>
              <a:rPr lang="ko-KR" altLang="en-US" dirty="0">
                <a:solidFill>
                  <a:srgbClr val="44546A"/>
                </a:solidFill>
              </a:rPr>
              <a:t>가 </a:t>
            </a:r>
            <a:r>
              <a:rPr lang="en-US" altLang="ko-KR" dirty="0">
                <a:solidFill>
                  <a:srgbClr val="44546A"/>
                </a:solidFill>
              </a:rPr>
              <a:t>collect()</a:t>
            </a:r>
            <a:r>
              <a:rPr lang="ko-KR" altLang="en-US" dirty="0">
                <a:solidFill>
                  <a:srgbClr val="44546A"/>
                </a:solidFill>
              </a:rPr>
              <a:t>를 진행하는 동안 끝마친 메소드가 있으면</a:t>
            </a:r>
            <a:r>
              <a:rPr lang="en-US" altLang="ko-KR" dirty="0">
                <a:solidFill>
                  <a:srgbClr val="44546A"/>
                </a:solidFill>
              </a:rPr>
              <a:t>, </a:t>
            </a:r>
            <a:r>
              <a:rPr lang="ko-KR" altLang="en-US" dirty="0">
                <a:solidFill>
                  <a:srgbClr val="44546A"/>
                </a:solidFill>
              </a:rPr>
              <a:t>그 결과를 </a:t>
            </a:r>
            <a:r>
              <a:rPr lang="en-US" altLang="ko-KR" dirty="0">
                <a:solidFill>
                  <a:srgbClr val="44546A"/>
                </a:solidFill>
              </a:rPr>
              <a:t>RN</a:t>
            </a:r>
            <a:r>
              <a:rPr lang="ko-KR" altLang="en-US" dirty="0">
                <a:solidFill>
                  <a:srgbClr val="44546A"/>
                </a:solidFill>
              </a:rPr>
              <a:t>에 저장합니다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collect()</a:t>
            </a:r>
            <a:r>
              <a:rPr lang="ko-KR" altLang="en-US" dirty="0">
                <a:solidFill>
                  <a:srgbClr val="44546A"/>
                </a:solidFill>
              </a:rPr>
              <a:t>가 끝나면</a:t>
            </a:r>
            <a:r>
              <a:rPr lang="en-US" altLang="ko-KR" dirty="0">
                <a:solidFill>
                  <a:srgbClr val="44546A"/>
                </a:solidFill>
              </a:rPr>
              <a:t> </a:t>
            </a:r>
            <a:r>
              <a:rPr lang="ko-KR" altLang="en-US" dirty="0">
                <a:solidFill>
                  <a:srgbClr val="44546A"/>
                </a:solidFill>
              </a:rPr>
              <a:t>쓰레드</a:t>
            </a:r>
            <a:r>
              <a:rPr lang="en-US" altLang="ko-KR" dirty="0">
                <a:solidFill>
                  <a:srgbClr val="44546A"/>
                </a:solidFill>
              </a:rPr>
              <a:t>A</a:t>
            </a:r>
            <a:r>
              <a:rPr lang="ko-KR" altLang="en-US" dirty="0">
                <a:solidFill>
                  <a:srgbClr val="44546A"/>
                </a:solidFill>
              </a:rPr>
              <a:t>는 </a:t>
            </a:r>
            <a:r>
              <a:rPr lang="en-US" altLang="ko-KR" dirty="0">
                <a:solidFill>
                  <a:srgbClr val="44546A"/>
                </a:solidFill>
              </a:rPr>
              <a:t>NNS</a:t>
            </a:r>
            <a:r>
              <a:rPr lang="ko-KR" altLang="en-US" dirty="0">
                <a:solidFill>
                  <a:srgbClr val="44546A"/>
                </a:solidFill>
              </a:rPr>
              <a:t>에 사용했던 </a:t>
            </a:r>
            <a:r>
              <a:rPr lang="en-US" altLang="ko-KR" dirty="0">
                <a:solidFill>
                  <a:srgbClr val="44546A"/>
                </a:solidFill>
              </a:rPr>
              <a:t>NNC</a:t>
            </a:r>
            <a:r>
              <a:rPr lang="ko-KR" altLang="en-US" dirty="0">
                <a:solidFill>
                  <a:srgbClr val="44546A"/>
                </a:solidFill>
              </a:rPr>
              <a:t>노드를</a:t>
            </a:r>
            <a:r>
              <a:rPr lang="en-US" altLang="ko-KR" dirty="0">
                <a:solidFill>
                  <a:srgbClr val="44546A"/>
                </a:solidFill>
              </a:rPr>
              <a:t>,</a:t>
            </a:r>
            <a:r>
              <a:rPr lang="ko-KR" altLang="en-US" dirty="0">
                <a:solidFill>
                  <a:srgbClr val="44546A"/>
                </a:solidFill>
              </a:rPr>
              <a:t> </a:t>
            </a:r>
            <a:r>
              <a:rPr lang="en-US" altLang="ko-KR" dirty="0">
                <a:solidFill>
                  <a:srgbClr val="44546A"/>
                </a:solidFill>
              </a:rPr>
              <a:t>NNC</a:t>
            </a:r>
            <a:r>
              <a:rPr lang="ko-KR" altLang="en-US" dirty="0">
                <a:solidFill>
                  <a:srgbClr val="44546A"/>
                </a:solidFill>
              </a:rPr>
              <a:t>리스트에서 제거를 시도하고 </a:t>
            </a:r>
            <a:r>
              <a:rPr lang="en-US" altLang="ko-KR" sz="1200" dirty="0"/>
              <a:t>CN</a:t>
            </a:r>
            <a:r>
              <a:rPr lang="ko-KR" altLang="en-US" sz="1200" dirty="0"/>
              <a:t>와 </a:t>
            </a:r>
            <a:r>
              <a:rPr lang="en-US" altLang="ko-KR" sz="1200" dirty="0"/>
              <a:t>RN</a:t>
            </a:r>
            <a:r>
              <a:rPr lang="ko-KR" altLang="en-US" sz="1200" dirty="0"/>
              <a:t>중 </a:t>
            </a:r>
            <a:r>
              <a:rPr lang="en-US" altLang="ko-KR" sz="1200" dirty="0"/>
              <a:t>target</a:t>
            </a:r>
            <a:r>
              <a:rPr lang="ko-KR" altLang="en-US" sz="1200" dirty="0"/>
              <a:t>과 더 가까운 노드를 반환하는 것으로 </a:t>
            </a:r>
            <a:r>
              <a:rPr lang="en-US" altLang="ko-KR" sz="1200" dirty="0"/>
              <a:t>NNS</a:t>
            </a:r>
            <a:r>
              <a:rPr lang="ko-KR" altLang="en-US" sz="1200" dirty="0"/>
              <a:t>를 종료합니다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770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설명한 </a:t>
            </a:r>
            <a:r>
              <a:rPr lang="en-US" altLang="ko-KR" dirty="0"/>
              <a:t>Lock-Free NNS KD-Tree</a:t>
            </a:r>
            <a:r>
              <a:rPr lang="ko-KR" altLang="en-US" dirty="0"/>
              <a:t>는 </a:t>
            </a:r>
            <a:r>
              <a:rPr lang="en-US" altLang="ko-KR" dirty="0"/>
              <a:t>JAVA</a:t>
            </a:r>
            <a:r>
              <a:rPr lang="ko-KR" altLang="en-US" dirty="0"/>
              <a:t>로 구현되어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게임 개발에는 성능상의 문제로 인해</a:t>
            </a:r>
            <a:r>
              <a:rPr lang="en-US" altLang="ko-KR" dirty="0"/>
              <a:t>,</a:t>
            </a:r>
            <a:r>
              <a:rPr lang="ko-KR" altLang="en-US" dirty="0"/>
              <a:t> 주로 </a:t>
            </a:r>
            <a:r>
              <a:rPr lang="en-US" altLang="ko-KR" dirty="0"/>
              <a:t>C++</a:t>
            </a:r>
            <a:r>
              <a:rPr lang="ko-KR" altLang="en-US" dirty="0"/>
              <a:t>가 사용되고 있기 때문에</a:t>
            </a:r>
            <a:r>
              <a:rPr lang="en-US" altLang="ko-KR" dirty="0"/>
              <a:t>,</a:t>
            </a:r>
            <a:r>
              <a:rPr lang="ko-KR" altLang="en-US" dirty="0"/>
              <a:t> 이 알고리즘을 게임 개발에 사용하려면 알고리즘을 </a:t>
            </a:r>
            <a:r>
              <a:rPr lang="en-US" altLang="ko-KR" dirty="0"/>
              <a:t>C++</a:t>
            </a:r>
            <a:r>
              <a:rPr lang="ko-KR" altLang="en-US" dirty="0"/>
              <a:t>로 구현해야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Lock-Free NNS KD-Tree</a:t>
            </a:r>
            <a:r>
              <a:rPr lang="ko-KR" altLang="en-US" dirty="0"/>
              <a:t>는 모든 메모리 관리를 </a:t>
            </a:r>
            <a:r>
              <a:rPr lang="en-US" altLang="ko-KR" dirty="0"/>
              <a:t>JAVA</a:t>
            </a:r>
            <a:r>
              <a:rPr lang="ko-KR" altLang="en-US" dirty="0"/>
              <a:t>의 </a:t>
            </a:r>
            <a:r>
              <a:rPr lang="ko-KR" altLang="en-US" dirty="0" err="1"/>
              <a:t>가비지컬렉터에</a:t>
            </a:r>
            <a:r>
              <a:rPr lang="ko-KR" altLang="en-US" dirty="0"/>
              <a:t> 의존하고 있기 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그대로 </a:t>
            </a:r>
            <a:r>
              <a:rPr lang="en-US" altLang="ko-KR" dirty="0"/>
              <a:t>C++</a:t>
            </a:r>
            <a:r>
              <a:rPr lang="ko-KR" altLang="en-US" dirty="0"/>
              <a:t>로 구현할 경우 노드의 제거가 제대로 되지 않아 </a:t>
            </a:r>
            <a:r>
              <a:rPr lang="ko-KR" altLang="en-US" dirty="0">
                <a:solidFill>
                  <a:schemeClr val="tx2"/>
                </a:solidFill>
              </a:rPr>
              <a:t>실행시간이 길어질수록 성능이 급격하게 감소합니다</a:t>
            </a:r>
            <a:r>
              <a:rPr lang="en-US" altLang="ko-KR" dirty="0">
                <a:solidFill>
                  <a:schemeClr val="tx2"/>
                </a:solidFill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tx2"/>
                </a:solidFill>
              </a:rPr>
              <a:t>FEAST</a:t>
            </a:r>
            <a:r>
              <a:rPr lang="ko-KR" altLang="en-US" sz="1200" dirty="0">
                <a:solidFill>
                  <a:schemeClr val="tx2"/>
                </a:solidFill>
              </a:rPr>
              <a:t>알고리즘은 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개의 </a:t>
            </a:r>
            <a:r>
              <a:rPr lang="en-US" altLang="ko-KR" sz="1200" dirty="0">
                <a:solidFill>
                  <a:schemeClr val="tx2"/>
                </a:solidFill>
              </a:rPr>
              <a:t>descriptor</a:t>
            </a:r>
            <a:r>
              <a:rPr lang="ko-KR" altLang="en-US" sz="1200" dirty="0">
                <a:solidFill>
                  <a:schemeClr val="tx2"/>
                </a:solidFill>
              </a:rPr>
              <a:t>를 이용한 동기화 방법을 사용합니다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제거할 노드를 검색을 통해 찾으면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해당 노드의 </a:t>
            </a:r>
            <a:r>
              <a:rPr lang="en-US" altLang="ko-KR" sz="1200" dirty="0">
                <a:solidFill>
                  <a:schemeClr val="tx2"/>
                </a:solidFill>
              </a:rPr>
              <a:t>LSB</a:t>
            </a:r>
            <a:r>
              <a:rPr lang="ko-KR" altLang="en-US" sz="1200" dirty="0">
                <a:solidFill>
                  <a:schemeClr val="tx2"/>
                </a:solidFill>
              </a:rPr>
              <a:t>에 </a:t>
            </a:r>
            <a:r>
              <a:rPr lang="en-US" altLang="ko-KR" sz="1200" dirty="0">
                <a:solidFill>
                  <a:schemeClr val="tx2"/>
                </a:solidFill>
              </a:rPr>
              <a:t>mark</a:t>
            </a:r>
            <a:r>
              <a:rPr lang="ko-KR" altLang="en-US" sz="1200" dirty="0">
                <a:solidFill>
                  <a:schemeClr val="tx2"/>
                </a:solidFill>
              </a:rPr>
              <a:t>표시를 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위치를 재조정 해야 하는 형제 노드의 </a:t>
            </a:r>
            <a:r>
              <a:rPr lang="en-US" altLang="ko-KR" sz="1200" dirty="0">
                <a:solidFill>
                  <a:schemeClr val="tx2"/>
                </a:solidFill>
              </a:rPr>
              <a:t>LSB</a:t>
            </a:r>
            <a:r>
              <a:rPr lang="ko-KR" altLang="en-US" sz="1200" dirty="0">
                <a:solidFill>
                  <a:schemeClr val="tx2"/>
                </a:solidFill>
              </a:rPr>
              <a:t>에 </a:t>
            </a:r>
            <a:r>
              <a:rPr lang="en-US" altLang="ko-KR" sz="1200" dirty="0">
                <a:solidFill>
                  <a:schemeClr val="tx2"/>
                </a:solidFill>
              </a:rPr>
              <a:t>flag</a:t>
            </a:r>
            <a:r>
              <a:rPr lang="ko-KR" altLang="en-US" sz="1200" dirty="0">
                <a:solidFill>
                  <a:schemeClr val="tx2"/>
                </a:solidFill>
              </a:rPr>
              <a:t>표시를 합니다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2"/>
                </a:solidFill>
              </a:rPr>
              <a:t>모든 표시가 완료되면 노드 재조정 작업을 수행하는데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기존 알고리즘과 다른 점은</a:t>
            </a:r>
            <a:r>
              <a:rPr lang="en-US" altLang="ko-KR" sz="1200" dirty="0">
                <a:solidFill>
                  <a:schemeClr val="tx2"/>
                </a:solidFill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44546A"/>
                </a:solidFill>
              </a:rPr>
              <a:t>연속적인 노드에 </a:t>
            </a:r>
            <a:r>
              <a:rPr lang="en-US" altLang="ko-KR" sz="1200" dirty="0">
                <a:solidFill>
                  <a:srgbClr val="44546A"/>
                </a:solidFill>
              </a:rPr>
              <a:t>LSB</a:t>
            </a:r>
            <a:r>
              <a:rPr lang="ko-KR" altLang="en-US" sz="1200" dirty="0">
                <a:solidFill>
                  <a:srgbClr val="44546A"/>
                </a:solidFill>
              </a:rPr>
              <a:t>표시가 되어 있다면 해당 노드들을 한번에 재조정하여 여러 번 일을 하지 않도록 만들어 준다는 장점을 가지고 있습니다</a:t>
            </a:r>
            <a:r>
              <a:rPr lang="en-US" altLang="ko-KR" sz="1200" dirty="0">
                <a:solidFill>
                  <a:srgbClr val="44546A"/>
                </a:solidFill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7451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tx2"/>
                </a:solidFill>
              </a:rPr>
              <a:t>EBR</a:t>
            </a:r>
            <a:r>
              <a:rPr lang="ko-KR" altLang="en-US" sz="1200" dirty="0">
                <a:solidFill>
                  <a:schemeClr val="tx2"/>
                </a:solidFill>
              </a:rPr>
              <a:t>알고리즘은 </a:t>
            </a:r>
            <a:r>
              <a:rPr lang="ko-KR" altLang="en-US" dirty="0">
                <a:solidFill>
                  <a:srgbClr val="44546A"/>
                </a:solidFill>
              </a:rPr>
              <a:t>자료구조에서 노드를 제거할 때 모든 스레드가 제거하는 노드를 참조하지 않을 때까지 유예기간을 두어 노드를 안전하게 제거하도록 도와줍니다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tx2"/>
                </a:solidFill>
              </a:rPr>
              <a:t>EBR</a:t>
            </a:r>
            <a:r>
              <a:rPr lang="ko-KR" altLang="en-US" sz="1200" dirty="0">
                <a:solidFill>
                  <a:schemeClr val="tx2"/>
                </a:solidFill>
              </a:rPr>
              <a:t>알고리즘을 사용하면 </a:t>
            </a:r>
            <a:r>
              <a:rPr lang="ko-KR" altLang="en-US" dirty="0">
                <a:solidFill>
                  <a:srgbClr val="44546A"/>
                </a:solidFill>
              </a:rPr>
              <a:t>노드를 제거하는 시점에 발생할 수 있는 제거 타이밍 문제</a:t>
            </a:r>
            <a:r>
              <a:rPr lang="en-US" altLang="ko-KR" dirty="0">
                <a:solidFill>
                  <a:srgbClr val="44546A"/>
                </a:solidFill>
              </a:rPr>
              <a:t>, ABA</a:t>
            </a:r>
            <a:r>
              <a:rPr lang="ko-KR" altLang="en-US" dirty="0">
                <a:solidFill>
                  <a:srgbClr val="44546A"/>
                </a:solidFill>
              </a:rPr>
              <a:t> 문제를 방지할 수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44546A"/>
                </a:solidFill>
              </a:rPr>
              <a:t>그림은 쓰레드</a:t>
            </a:r>
            <a:r>
              <a:rPr lang="en-US" altLang="ko-KR" dirty="0">
                <a:solidFill>
                  <a:srgbClr val="44546A"/>
                </a:solidFill>
              </a:rPr>
              <a:t>1</a:t>
            </a:r>
            <a:r>
              <a:rPr lang="ko-KR" altLang="en-US" dirty="0">
                <a:solidFill>
                  <a:srgbClr val="44546A"/>
                </a:solidFill>
              </a:rPr>
              <a:t>이 </a:t>
            </a:r>
            <a:r>
              <a:rPr lang="en-US" altLang="ko-KR" dirty="0">
                <a:solidFill>
                  <a:srgbClr val="44546A"/>
                </a:solidFill>
              </a:rPr>
              <a:t>Delete</a:t>
            </a:r>
            <a:r>
              <a:rPr lang="ko-KR" altLang="en-US" dirty="0">
                <a:solidFill>
                  <a:srgbClr val="44546A"/>
                </a:solidFill>
              </a:rPr>
              <a:t>를 통해 </a:t>
            </a:r>
            <a:r>
              <a:rPr lang="en-US" altLang="ko-KR" dirty="0">
                <a:solidFill>
                  <a:srgbClr val="44546A"/>
                </a:solidFill>
              </a:rPr>
              <a:t>Node A</a:t>
            </a:r>
            <a:r>
              <a:rPr lang="ko-KR" altLang="en-US" dirty="0">
                <a:solidFill>
                  <a:srgbClr val="44546A"/>
                </a:solidFill>
              </a:rPr>
              <a:t>를 자료구조에서 제거했을 때</a:t>
            </a:r>
            <a:r>
              <a:rPr lang="en-US" altLang="ko-KR" dirty="0">
                <a:solidFill>
                  <a:srgbClr val="44546A"/>
                </a:solidFill>
              </a:rPr>
              <a:t>,</a:t>
            </a:r>
            <a:r>
              <a:rPr lang="ko-KR" altLang="en-US" dirty="0">
                <a:solidFill>
                  <a:srgbClr val="44546A"/>
                </a:solidFill>
              </a:rPr>
              <a:t> 유예기간을 두어 </a:t>
            </a:r>
            <a:r>
              <a:rPr lang="en-US" altLang="ko-KR" dirty="0">
                <a:solidFill>
                  <a:srgbClr val="44546A"/>
                </a:solidFill>
              </a:rPr>
              <a:t>Node A</a:t>
            </a:r>
            <a:r>
              <a:rPr lang="ko-KR" altLang="en-US" dirty="0">
                <a:solidFill>
                  <a:srgbClr val="44546A"/>
                </a:solidFill>
              </a:rPr>
              <a:t>에 접근 중이던 쓰레드들이 안전하게 하던 일을 마무리 하는것과 </a:t>
            </a: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44546A"/>
                </a:solidFill>
              </a:rPr>
              <a:t>유예기간 동안과 그 이후에는</a:t>
            </a:r>
            <a:r>
              <a:rPr lang="en-US" altLang="ko-KR" dirty="0">
                <a:solidFill>
                  <a:srgbClr val="44546A"/>
                </a:solidFill>
              </a:rPr>
              <a:t>, </a:t>
            </a:r>
            <a:r>
              <a:rPr lang="ko-KR" altLang="en-US" dirty="0">
                <a:solidFill>
                  <a:srgbClr val="44546A"/>
                </a:solidFill>
              </a:rPr>
              <a:t>노드가 물리적으로 제거되어</a:t>
            </a:r>
            <a:r>
              <a:rPr lang="en-US" altLang="ko-KR" dirty="0">
                <a:solidFill>
                  <a:srgbClr val="44546A"/>
                </a:solidFill>
              </a:rPr>
              <a:t>,</a:t>
            </a:r>
            <a:r>
              <a:rPr lang="ko-KR" altLang="en-US" dirty="0">
                <a:solidFill>
                  <a:srgbClr val="44546A"/>
                </a:solidFill>
              </a:rPr>
              <a:t> 더 이상 노드에 쓰레드들이 접근하지 못하는 것을 보여주고 있습니다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ABA</a:t>
            </a:r>
            <a:r>
              <a:rPr lang="ko-KR" altLang="en-US" dirty="0"/>
              <a:t>문제 정의 보조자료 필요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367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다음은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의 구현에 대해 설명하겠습니다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에서의 검색은 기본적으로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 일반적인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KD-Tree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와 같이 주어진 다차원 키를 사용해 트리를 탐색합니다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spc="-50" dirty="0">
                <a:solidFill>
                  <a:srgbClr val="000000"/>
                </a:solidFill>
                <a:effectLst/>
              </a:rPr>
              <a:t>일반적인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KD-Tree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와 다른 점은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, 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키 값을 확인할 때 </a:t>
            </a:r>
            <a:r>
              <a:rPr lang="ko-KR" altLang="en-US" dirty="0">
                <a:solidFill>
                  <a:srgbClr val="44546A"/>
                </a:solidFill>
              </a:rPr>
              <a:t>노드들의 </a:t>
            </a:r>
            <a:r>
              <a:rPr lang="en-US" altLang="ko-KR" dirty="0">
                <a:solidFill>
                  <a:srgbClr val="44546A"/>
                </a:solidFill>
              </a:rPr>
              <a:t>LSB</a:t>
            </a:r>
            <a:r>
              <a:rPr lang="ko-KR" altLang="en-US" dirty="0">
                <a:solidFill>
                  <a:srgbClr val="44546A"/>
                </a:solidFill>
              </a:rPr>
              <a:t>를 같이 확인하면서 진행하며</a:t>
            </a:r>
            <a:r>
              <a:rPr lang="en-US" altLang="ko-KR" dirty="0">
                <a:solidFill>
                  <a:srgbClr val="44546A"/>
                </a:solidFill>
              </a:rPr>
              <a:t>, </a:t>
            </a:r>
            <a:r>
              <a:rPr lang="ko-KR" altLang="en-US" dirty="0">
                <a:solidFill>
                  <a:srgbClr val="44546A"/>
                </a:solidFill>
              </a:rPr>
              <a:t>검색 결과로</a:t>
            </a:r>
            <a:r>
              <a:rPr lang="en-US" altLang="ko-KR" dirty="0">
                <a:solidFill>
                  <a:srgbClr val="44546A"/>
                </a:solidFill>
              </a:rPr>
              <a:t> </a:t>
            </a:r>
            <a:r>
              <a:rPr lang="ko-KR" altLang="en-US" dirty="0">
                <a:solidFill>
                  <a:srgbClr val="44546A"/>
                </a:solidFill>
              </a:rPr>
              <a:t>네 가지의 노드를 찾아 반환합니다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44546A"/>
                </a:solidFill>
              </a:rPr>
              <a:t>왼쪽 그림의 위쪽에 있는 </a:t>
            </a:r>
            <a:r>
              <a:rPr lang="en-US" altLang="ko-KR" dirty="0">
                <a:solidFill>
                  <a:srgbClr val="44546A"/>
                </a:solidFill>
              </a:rPr>
              <a:t>Ancestor</a:t>
            </a:r>
            <a:r>
              <a:rPr lang="ko-KR" altLang="en-US" dirty="0">
                <a:solidFill>
                  <a:srgbClr val="44546A"/>
                </a:solidFill>
              </a:rPr>
              <a:t>는</a:t>
            </a:r>
            <a:r>
              <a:rPr lang="en-US" altLang="ko-KR" dirty="0">
                <a:solidFill>
                  <a:srgbClr val="44546A"/>
                </a:solidFill>
              </a:rPr>
              <a:t> Parent</a:t>
            </a:r>
            <a:r>
              <a:rPr lang="ko-KR" altLang="en-US" dirty="0">
                <a:solidFill>
                  <a:srgbClr val="44546A"/>
                </a:solidFill>
              </a:rPr>
              <a:t>의 유효한 </a:t>
            </a:r>
            <a:r>
              <a:rPr lang="ko-KR" altLang="en-US" dirty="0" err="1">
                <a:solidFill>
                  <a:srgbClr val="44546A"/>
                </a:solidFill>
              </a:rPr>
              <a:t>부모노드</a:t>
            </a:r>
            <a:r>
              <a:rPr lang="ko-KR" altLang="en-US" dirty="0">
                <a:solidFill>
                  <a:srgbClr val="44546A"/>
                </a:solidFill>
              </a:rPr>
              <a:t> 입니다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Successor</a:t>
            </a:r>
            <a:r>
              <a:rPr lang="ko-KR" altLang="en-US" dirty="0">
                <a:solidFill>
                  <a:srgbClr val="44546A"/>
                </a:solidFill>
              </a:rPr>
              <a:t>는 </a:t>
            </a:r>
            <a:r>
              <a:rPr lang="en-US" altLang="ko-KR" dirty="0">
                <a:solidFill>
                  <a:srgbClr val="44546A"/>
                </a:solidFill>
              </a:rPr>
              <a:t>Ancestor</a:t>
            </a:r>
            <a:r>
              <a:rPr lang="ko-KR" altLang="en-US" dirty="0">
                <a:solidFill>
                  <a:srgbClr val="44546A"/>
                </a:solidFill>
              </a:rPr>
              <a:t>의 검색 </a:t>
            </a:r>
            <a:r>
              <a:rPr lang="en-US" altLang="ko-KR" dirty="0">
                <a:solidFill>
                  <a:srgbClr val="44546A"/>
                </a:solidFill>
              </a:rPr>
              <a:t>key</a:t>
            </a:r>
            <a:r>
              <a:rPr lang="ko-KR" altLang="en-US" dirty="0">
                <a:solidFill>
                  <a:srgbClr val="44546A"/>
                </a:solidFill>
              </a:rPr>
              <a:t>방향 </a:t>
            </a:r>
            <a:r>
              <a:rPr lang="en-US" altLang="ko-KR" dirty="0">
                <a:solidFill>
                  <a:srgbClr val="44546A"/>
                </a:solidFill>
              </a:rPr>
              <a:t>child</a:t>
            </a:r>
            <a:r>
              <a:rPr lang="ko-KR" altLang="en-US" dirty="0">
                <a:solidFill>
                  <a:srgbClr val="44546A"/>
                </a:solidFill>
              </a:rPr>
              <a:t>이고</a:t>
            </a: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44546A"/>
                </a:solidFill>
              </a:rPr>
              <a:t>아래에 있는 </a:t>
            </a:r>
            <a:r>
              <a:rPr lang="en-US" altLang="ko-KR" dirty="0">
                <a:solidFill>
                  <a:srgbClr val="44546A"/>
                </a:solidFill>
              </a:rPr>
              <a:t>Parent</a:t>
            </a:r>
            <a:r>
              <a:rPr lang="ko-KR" altLang="en-US" dirty="0">
                <a:solidFill>
                  <a:srgbClr val="44546A"/>
                </a:solidFill>
              </a:rPr>
              <a:t>는</a:t>
            </a:r>
            <a:r>
              <a:rPr lang="en-US" altLang="ko-KR" dirty="0">
                <a:solidFill>
                  <a:srgbClr val="44546A"/>
                </a:solidFill>
              </a:rPr>
              <a:t> Leaf</a:t>
            </a:r>
            <a:r>
              <a:rPr lang="ko-KR" altLang="en-US" dirty="0">
                <a:solidFill>
                  <a:srgbClr val="44546A"/>
                </a:solidFill>
              </a:rPr>
              <a:t>노드의 </a:t>
            </a:r>
            <a:r>
              <a:rPr lang="ko-KR" altLang="en-US" dirty="0" err="1">
                <a:solidFill>
                  <a:srgbClr val="44546A"/>
                </a:solidFill>
              </a:rPr>
              <a:t>부모노드</a:t>
            </a: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Current</a:t>
            </a:r>
            <a:r>
              <a:rPr lang="ko-KR" altLang="en-US" dirty="0">
                <a:solidFill>
                  <a:srgbClr val="44546A"/>
                </a:solidFill>
              </a:rPr>
              <a:t>는</a:t>
            </a:r>
            <a:r>
              <a:rPr lang="en-US" altLang="ko-KR" dirty="0">
                <a:solidFill>
                  <a:srgbClr val="44546A"/>
                </a:solidFill>
              </a:rPr>
              <a:t> key</a:t>
            </a:r>
            <a:r>
              <a:rPr lang="ko-KR" altLang="en-US" dirty="0">
                <a:solidFill>
                  <a:srgbClr val="44546A"/>
                </a:solidFill>
              </a:rPr>
              <a:t>값을 통해 찾고자 하는 </a:t>
            </a:r>
            <a:r>
              <a:rPr lang="en-US" altLang="ko-KR" dirty="0">
                <a:solidFill>
                  <a:srgbClr val="44546A"/>
                </a:solidFill>
              </a:rPr>
              <a:t>Leaf</a:t>
            </a:r>
            <a:r>
              <a:rPr lang="ko-KR" altLang="en-US" dirty="0">
                <a:solidFill>
                  <a:srgbClr val="44546A"/>
                </a:solidFill>
              </a:rPr>
              <a:t>노드입니다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Current</a:t>
            </a:r>
            <a:r>
              <a:rPr lang="ko-KR" altLang="en-US" dirty="0">
                <a:solidFill>
                  <a:srgbClr val="44546A"/>
                </a:solidFill>
              </a:rPr>
              <a:t>와 </a:t>
            </a:r>
            <a:r>
              <a:rPr lang="en-US" altLang="ko-KR" dirty="0">
                <a:solidFill>
                  <a:srgbClr val="44546A"/>
                </a:solidFill>
              </a:rPr>
              <a:t>Parent</a:t>
            </a:r>
            <a:r>
              <a:rPr lang="ko-KR" altLang="en-US" dirty="0">
                <a:solidFill>
                  <a:srgbClr val="44546A"/>
                </a:solidFill>
              </a:rPr>
              <a:t>는 </a:t>
            </a:r>
            <a:r>
              <a:rPr lang="en-US" altLang="ko-KR" dirty="0">
                <a:solidFill>
                  <a:srgbClr val="44546A"/>
                </a:solidFill>
              </a:rPr>
              <a:t>Insert/Remove</a:t>
            </a:r>
            <a:r>
              <a:rPr lang="ko-KR" altLang="en-US" dirty="0">
                <a:solidFill>
                  <a:srgbClr val="44546A"/>
                </a:solidFill>
              </a:rPr>
              <a:t>에서 모두 사용되고</a:t>
            </a:r>
            <a:r>
              <a:rPr lang="en-US" altLang="ko-KR" dirty="0">
                <a:solidFill>
                  <a:srgbClr val="44546A"/>
                </a:solidFill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44546A"/>
                </a:solidFill>
              </a:rPr>
              <a:t>Ancestor</a:t>
            </a:r>
            <a:r>
              <a:rPr lang="ko-KR" altLang="en-US" dirty="0">
                <a:solidFill>
                  <a:srgbClr val="44546A"/>
                </a:solidFill>
              </a:rPr>
              <a:t>와 </a:t>
            </a:r>
            <a:r>
              <a:rPr lang="en-US" altLang="ko-KR" dirty="0">
                <a:solidFill>
                  <a:srgbClr val="44546A"/>
                </a:solidFill>
              </a:rPr>
              <a:t>Successor</a:t>
            </a:r>
            <a:r>
              <a:rPr lang="ko-KR" altLang="en-US" dirty="0">
                <a:solidFill>
                  <a:srgbClr val="44546A"/>
                </a:solidFill>
              </a:rPr>
              <a:t>는 노드를 재조정할 때 사용합니다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>
              <a:solidFill>
                <a:srgbClr val="44546A"/>
              </a:solidFill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에서 노드의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LSB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에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Descriptor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가 삽입되어 있다면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해당 노드는 자료구조에서 제거해야 하거나 재조정이 필요하여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노드가 유효하지 않은 것을 의미합니다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한양신명조"/>
              </a:rPr>
              <a:t>그림의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(a)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에서는 검색도중 유효하지 않은 노드들이 연속적으로 나타날 경우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Ancestor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Parent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의 사이가 떨어져 있는 모습을 보이고 있고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(b)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에서는 유효하지 않은 노드들이 연속적으로 나타나더라도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Parent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의 </a:t>
            </a:r>
            <a:r>
              <a:rPr lang="ko-KR" altLang="en-US" sz="1800" kern="0" spc="-50" dirty="0" err="1">
                <a:solidFill>
                  <a:srgbClr val="000000"/>
                </a:solidFill>
                <a:effectLst/>
                <a:ea typeface="한양신명조"/>
              </a:rPr>
              <a:t>부모노드가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유효할 경우의 검색결과를 나타내고 있습니다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dirty="0"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dirty="0">
                <a:solidFill>
                  <a:srgbClr val="000000"/>
                </a:solidFill>
                <a:effectLst/>
              </a:rPr>
              <a:t>==========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한양신명조"/>
              </a:rPr>
              <a:t>다음으로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한양신명조"/>
              </a:rPr>
              <a:t>에서의 삽입은 오른쪽 그림과 같이 진행됩니다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.</a:t>
            </a:r>
            <a:endParaRPr lang="en-US" altLang="ko-KR" sz="1800" kern="0" dirty="0"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한양신명조"/>
              </a:rPr>
              <a:t>오른쪽 그림의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(a), (b)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는 검색을 통해 얻은 노드의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LSB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에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descriptor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가 표시되어 있어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노드가 유효하지 않을 경우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Cleanup()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을 호출하여 후처리를 하는 모습을 나타내고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(c)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는 앞에서 설명했던 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external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트리 방식으로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삽입이 정상적으로 진행되는 경우를 보여주고 있습니다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  <a:endParaRPr lang="ko-KR" altLang="en-US" sz="1800" kern="0" dirty="0"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800" kern="0" dirty="0">
              <a:solidFill>
                <a:srgbClr val="000000"/>
              </a:solidFill>
              <a:effectLst/>
            </a:endParaRPr>
          </a:p>
          <a:p>
            <a:pPr marL="0" marR="0" indent="127000" algn="just" fontAlgn="base" latinLnBrk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343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에서의 삭제는 검색을 통해 지울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Leaf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노드를 찾고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노드의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LSB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에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mark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표시를 한 후 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Cleanup()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을 호출합니다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Cleanup()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은 후처리를 하는 메소드입니다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Cleanup()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이 호출되었을 때는 노드의 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LSB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에 항상 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mark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나 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tag</a:t>
            </a:r>
            <a:r>
              <a:rPr lang="ko-KR" altLang="en-US" sz="1200" kern="0" spc="-50" dirty="0">
                <a:solidFill>
                  <a:srgbClr val="000000"/>
                </a:solidFill>
                <a:effectLst/>
                <a:ea typeface="한양신명조"/>
              </a:rPr>
              <a:t>가 표시되어 있습니다</a:t>
            </a:r>
            <a:r>
              <a:rPr lang="en-US" altLang="ko-KR" sz="1200" kern="0" spc="-50" dirty="0">
                <a:solidFill>
                  <a:srgbClr val="000000"/>
                </a:solidFill>
                <a:effectLst/>
                <a:ea typeface="한양신명조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Mark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가 표시되어 있는 경우에는 오른쪽 그림의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(a)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처럼 후처리를 진행하는 노드의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한양신명조"/>
              </a:rPr>
              <a:t>형제노드에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tag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표시를 하고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, tag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표시가 되어있는 경우에는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한양신명조"/>
              </a:rPr>
              <a:t>(b)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한양신명조"/>
              </a:rPr>
              <a:t>처럼 재조정 작업을 진행하여 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kern="0" dirty="0">
                <a:solidFill>
                  <a:srgbClr val="000000"/>
                </a:solidFill>
                <a:effectLst/>
              </a:rPr>
              <a:t>검색을 통해 얻은 </a:t>
            </a:r>
            <a:r>
              <a:rPr lang="en-US" altLang="ko-KR" sz="1200" kern="0" dirty="0">
                <a:solidFill>
                  <a:srgbClr val="000000"/>
                </a:solidFill>
                <a:effectLst/>
              </a:rPr>
              <a:t>Successor</a:t>
            </a:r>
            <a:r>
              <a:rPr lang="ko-KR" altLang="en-US" sz="1200" kern="0" dirty="0">
                <a:solidFill>
                  <a:srgbClr val="000000"/>
                </a:solidFill>
                <a:effectLst/>
              </a:rPr>
              <a:t>자리에</a:t>
            </a:r>
            <a:r>
              <a:rPr lang="en-US" altLang="ko-KR" sz="1200" kern="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200" kern="0" dirty="0" err="1">
                <a:solidFill>
                  <a:srgbClr val="000000"/>
                </a:solidFill>
                <a:effectLst/>
              </a:rPr>
              <a:t>형제노드를</a:t>
            </a:r>
            <a:r>
              <a:rPr lang="ko-KR" altLang="en-US" sz="1200" kern="0" dirty="0">
                <a:solidFill>
                  <a:srgbClr val="000000"/>
                </a:solidFill>
                <a:effectLst/>
              </a:rPr>
              <a:t> 연결하여</a:t>
            </a:r>
            <a:r>
              <a:rPr lang="en-US" altLang="ko-KR" sz="1200" kern="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effectLst/>
              </a:rPr>
              <a:t>그 사이에 있던 재조정이 필요한 노드들을 모두 한번에 처리합니다</a:t>
            </a:r>
            <a:r>
              <a:rPr lang="en-US" altLang="ko-KR" sz="1200" kern="0" dirty="0">
                <a:solidFill>
                  <a:srgbClr val="000000"/>
                </a:solidFill>
                <a:effectLst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378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schemeClr val="tx2"/>
                </a:solidFill>
              </a:rPr>
              <a:t>NNS</a:t>
            </a:r>
            <a:r>
              <a:rPr lang="ko-KR" altLang="en-US" sz="4000" dirty="0">
                <a:solidFill>
                  <a:schemeClr val="tx2"/>
                </a:solidFill>
              </a:rPr>
              <a:t> 동기화 방법은</a:t>
            </a:r>
            <a:r>
              <a:rPr lang="en-US" altLang="ko-KR" sz="4000" dirty="0">
                <a:solidFill>
                  <a:schemeClr val="tx2"/>
                </a:solidFill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기존 알고리즘에서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를 한 번 실행할 때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NNC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한양신명조"/>
              </a:rPr>
              <a:t>노드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는 스레드당 하나만 사용되므로 </a:t>
            </a: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모든 스레드가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를 동시에 실행한다고 하더라도 사용되는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NNC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노드의 수는 스레드의 수를 넘지 않는다는 아이디어를 통해 개선하였습니다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800" kern="0" dirty="0"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개선된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NNC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리스트 대신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 스레드의 수만큼의 크기를 가지는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NNC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의 고정크기 배열을 사용하여 </a:t>
            </a: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활성화된 노드를 찾는 검색시간을 상수 시간으로 제한 시켰으며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, 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를 끝마쳤을 때 사용한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NNC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노드를 제거하지 않고 </a:t>
            </a: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새로운 노드를 생성해서 배열에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CAS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를 통해 추가하는 경우에 이전 노드를 제거하여 기존 알고리즘이 가진 문제를 해결하였다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.</a:t>
            </a:r>
            <a:endParaRPr lang="ko-KR" altLang="en-US" sz="1800" kern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116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127000" algn="just" fontAlgn="base" latinLnBrk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의 실험은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AMD Ryzen 7 2700X 3.7GHz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8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코어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16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스레드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, 16G RAM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환경에서 진행되었으며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, </a:t>
            </a:r>
          </a:p>
          <a:p>
            <a:pPr marL="0" marR="0" indent="127000" algn="just" fontAlgn="base" latinLnBrk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indent="127000" algn="just" fontAlgn="base" latinLnBrk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기존의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JAVA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알고리즘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, 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기존 알고리즘에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EBR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을 추가하여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C++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로 구현한 버전과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HD-Tree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한양신명조"/>
              </a:rPr>
              <a:t>를 비교하였습니다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.</a:t>
            </a:r>
          </a:p>
          <a:p>
            <a:pPr marL="0" marR="0" indent="127000" algn="just" fontAlgn="base" latinLnBrk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벤치마크는 각 스레드가 임의의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2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차원 점을 키 값으로 사용하여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2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초 동안 실행하는 것을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5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번씩 반복하여 실행시간의 평균값으로 초당 실행된 작업 수를 계산해서 비교하였습니다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-50" dirty="0">
              <a:solidFill>
                <a:srgbClr val="000000"/>
              </a:solidFill>
              <a:effectLst/>
              <a:ea typeface="+mn-ea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+mn-ea"/>
              </a:rPr>
              <a:t>벤치마크에서</a:t>
            </a:r>
            <a:endParaRPr lang="en-US" altLang="ko-KR" sz="1800" kern="0" spc="-50" dirty="0">
              <a:solidFill>
                <a:srgbClr val="000000"/>
              </a:solidFill>
              <a:effectLst/>
              <a:ea typeface="+mn-ea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삽입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/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삭제 비율이 낮고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비율이 높은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Read Domain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의 성능을 측정하기 용이하고 </a:t>
            </a:r>
            <a:endParaRPr lang="en-US" altLang="ko-KR" sz="1800" kern="0" spc="-50" dirty="0">
              <a:solidFill>
                <a:srgbClr val="000000"/>
              </a:solidFill>
              <a:effectLst/>
              <a:ea typeface="한양신명조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-5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를 실행하지 않는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Write Domain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은 삽입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/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삭제 알고리즘의 성능을 측정할 때 사용할 수 있습니다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800" kern="0" spc="0" dirty="0">
              <a:solidFill>
                <a:srgbClr val="000000"/>
              </a:solidFill>
              <a:effectLst/>
              <a:latin typeface="한양신명조"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Balanced Domain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은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Read/Write Domain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와 함께 비교하여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NNS/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삽입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한양신명조"/>
              </a:rPr>
              <a:t>/</a:t>
            </a:r>
            <a:r>
              <a:rPr lang="ko-KR" altLang="en-US" sz="1800" kern="0" spc="-50" dirty="0">
                <a:solidFill>
                  <a:srgbClr val="000000"/>
                </a:solidFill>
                <a:effectLst/>
                <a:ea typeface="한양신명조"/>
              </a:rPr>
              <a:t>삭제 알고리즘이 전체 성능에 얼마나 영향을 미치는지 알 수 있습니다</a:t>
            </a:r>
            <a:r>
              <a:rPr lang="en-US" altLang="ko-KR" sz="1800" kern="0" spc="-50" dirty="0">
                <a:solidFill>
                  <a:srgbClr val="000000"/>
                </a:solidFill>
                <a:effectLst/>
                <a:ea typeface="한양신명조"/>
              </a:rPr>
              <a:t>.</a:t>
            </a:r>
            <a:endParaRPr lang="ko-KR" altLang="en-US" sz="1800" kern="0" dirty="0">
              <a:solidFill>
                <a:srgbClr val="000000"/>
              </a:solidFill>
              <a:effectLst/>
            </a:endParaRPr>
          </a:p>
          <a:p>
            <a:pPr marL="0" marR="0" lvl="0" indent="127000" algn="just" defTabSz="914400" rtl="0" eaLnBrk="1" fontAlgn="base" latinLnBrk="1" hangingPunct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800" kern="0" dirty="0">
              <a:solidFill>
                <a:srgbClr val="000000"/>
              </a:solidFill>
              <a:effectLst/>
            </a:endParaRPr>
          </a:p>
          <a:p>
            <a:pPr marL="0" marR="0" indent="127000" algn="just" fontAlgn="base" latinLnBrk="1">
              <a:lnSpc>
                <a:spcPct val="164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한양신명조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38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 그래프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전체적으로 주황색의 </a:t>
            </a:r>
            <a:r>
              <a:rPr lang="en-US" altLang="ko-KR" dirty="0"/>
              <a:t>HD-Tree</a:t>
            </a:r>
            <a:r>
              <a:rPr lang="ko-KR" altLang="en-US" dirty="0"/>
              <a:t>가 다른 알고리즘에 비해 성능이 좋은 것을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 그래프에서 키</a:t>
            </a:r>
            <a:r>
              <a:rPr lang="en-US" altLang="ko-KR" dirty="0"/>
              <a:t> </a:t>
            </a:r>
            <a:r>
              <a:rPr lang="ko-KR" altLang="en-US" dirty="0"/>
              <a:t>스페이스가 클 경우</a:t>
            </a:r>
            <a:r>
              <a:rPr lang="en-US" altLang="ko-KR" dirty="0"/>
              <a:t>, C++</a:t>
            </a:r>
            <a:r>
              <a:rPr lang="ko-KR" altLang="en-US" dirty="0"/>
              <a:t>알고리즘의 성능이 떨어진 것을 볼 수 있는데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이것은 자료구조에서 사용하는 키 스페이스가 커진 만큼</a:t>
            </a:r>
            <a:r>
              <a:rPr lang="en-US" altLang="ko-KR" dirty="0"/>
              <a:t>, EBR</a:t>
            </a:r>
            <a:r>
              <a:rPr lang="ko-KR" altLang="en-US" dirty="0"/>
              <a:t>알고리즘이 관리하는 노드의 수가 늘어나 성능이 떨어지기 때문입니다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63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44546A"/>
                </a:solidFill>
              </a:rPr>
              <a:t>기존 알고리즘에 </a:t>
            </a:r>
            <a:r>
              <a:rPr lang="en-US" altLang="ko-KR" dirty="0">
                <a:solidFill>
                  <a:srgbClr val="44546A"/>
                </a:solidFill>
              </a:rPr>
              <a:t>EBR</a:t>
            </a:r>
            <a:r>
              <a:rPr lang="ko-KR" altLang="en-US" dirty="0">
                <a:solidFill>
                  <a:srgbClr val="44546A"/>
                </a:solidFill>
              </a:rPr>
              <a:t>을 추가 적용하여 </a:t>
            </a:r>
            <a:r>
              <a:rPr lang="en-US" altLang="ko-KR" dirty="0">
                <a:solidFill>
                  <a:srgbClr val="44546A"/>
                </a:solidFill>
              </a:rPr>
              <a:t>C++</a:t>
            </a:r>
            <a:r>
              <a:rPr lang="ko-KR" altLang="en-US" dirty="0">
                <a:solidFill>
                  <a:srgbClr val="44546A"/>
                </a:solidFill>
              </a:rPr>
              <a:t>로 변환한 결과 성능이 </a:t>
            </a:r>
            <a:r>
              <a:rPr lang="en-US" altLang="ko-KR" dirty="0">
                <a:solidFill>
                  <a:srgbClr val="44546A"/>
                </a:solidFill>
              </a:rPr>
              <a:t>Insert/Remove</a:t>
            </a:r>
            <a:r>
              <a:rPr lang="ko-KR" altLang="en-US" dirty="0">
                <a:solidFill>
                  <a:srgbClr val="44546A"/>
                </a:solidFill>
              </a:rPr>
              <a:t>는 최대 </a:t>
            </a:r>
            <a:r>
              <a:rPr lang="en-US" altLang="ko-KR" dirty="0">
                <a:solidFill>
                  <a:srgbClr val="44546A"/>
                </a:solidFill>
              </a:rPr>
              <a:t>252%</a:t>
            </a:r>
            <a:r>
              <a:rPr lang="ko-KR" altLang="en-US" dirty="0">
                <a:solidFill>
                  <a:srgbClr val="44546A"/>
                </a:solidFill>
              </a:rPr>
              <a:t>만큼 좋아졌고</a:t>
            </a:r>
            <a:r>
              <a:rPr lang="en-US" altLang="ko-KR" dirty="0">
                <a:solidFill>
                  <a:srgbClr val="44546A"/>
                </a:solidFill>
              </a:rPr>
              <a:t>, NNS</a:t>
            </a:r>
            <a:r>
              <a:rPr lang="ko-KR" altLang="en-US" dirty="0">
                <a:solidFill>
                  <a:srgbClr val="44546A"/>
                </a:solidFill>
              </a:rPr>
              <a:t>는 성능이 최대 </a:t>
            </a:r>
            <a:r>
              <a:rPr lang="en-US" altLang="ko-KR" dirty="0">
                <a:solidFill>
                  <a:srgbClr val="44546A"/>
                </a:solidFill>
              </a:rPr>
              <a:t>79%</a:t>
            </a:r>
            <a:r>
              <a:rPr lang="ko-KR" altLang="en-US" dirty="0">
                <a:solidFill>
                  <a:srgbClr val="44546A"/>
                </a:solidFill>
              </a:rPr>
              <a:t>만큼 좋아졌습니다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개선된 </a:t>
            </a:r>
            <a:r>
              <a:rPr lang="en-US" altLang="ko-KR" dirty="0">
                <a:solidFill>
                  <a:srgbClr val="44546A"/>
                </a:solidFill>
              </a:rPr>
              <a:t>Descriptor</a:t>
            </a:r>
            <a:r>
              <a:rPr lang="ko-KR" altLang="en-US" dirty="0">
                <a:solidFill>
                  <a:srgbClr val="44546A"/>
                </a:solidFill>
              </a:rPr>
              <a:t>기반 동기화 방법을 적용한 결과</a:t>
            </a:r>
            <a:r>
              <a:rPr lang="en-US" altLang="ko-KR" dirty="0">
                <a:solidFill>
                  <a:srgbClr val="44546A"/>
                </a:solidFill>
              </a:rPr>
              <a:t>, Insert/ Remove</a:t>
            </a:r>
            <a:r>
              <a:rPr lang="ko-KR" altLang="en-US" dirty="0">
                <a:solidFill>
                  <a:srgbClr val="44546A"/>
                </a:solidFill>
              </a:rPr>
              <a:t>성능이 </a:t>
            </a:r>
            <a:r>
              <a:rPr lang="en-US" altLang="ko-KR" dirty="0">
                <a:solidFill>
                  <a:srgbClr val="44546A"/>
                </a:solidFill>
              </a:rPr>
              <a:t>oversubscription</a:t>
            </a:r>
            <a:r>
              <a:rPr lang="ko-KR" altLang="en-US" dirty="0">
                <a:solidFill>
                  <a:srgbClr val="44546A"/>
                </a:solidFill>
              </a:rPr>
              <a:t>상황에서 최대 </a:t>
            </a:r>
            <a:r>
              <a:rPr lang="en-US" altLang="ko-KR" dirty="0">
                <a:solidFill>
                  <a:srgbClr val="44546A"/>
                </a:solidFill>
              </a:rPr>
              <a:t>15% </a:t>
            </a:r>
            <a:r>
              <a:rPr lang="ko-KR" altLang="en-US" dirty="0">
                <a:solidFill>
                  <a:srgbClr val="44546A"/>
                </a:solidFill>
              </a:rPr>
              <a:t>만큼 좋아졌습니다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en-US" altLang="ko-KR" dirty="0">
                <a:solidFill>
                  <a:srgbClr val="44546A"/>
                </a:solidFill>
              </a:rPr>
              <a:t>Lock-Free NNS</a:t>
            </a:r>
            <a:r>
              <a:rPr lang="ko-KR" altLang="en-US" dirty="0">
                <a:solidFill>
                  <a:srgbClr val="44546A"/>
                </a:solidFill>
              </a:rPr>
              <a:t>의 동기화 방법을 개선한 결과 </a:t>
            </a:r>
            <a:r>
              <a:rPr lang="en-US" altLang="ko-KR" dirty="0">
                <a:solidFill>
                  <a:srgbClr val="44546A"/>
                </a:solidFill>
              </a:rPr>
              <a:t>C++ </a:t>
            </a:r>
            <a:r>
              <a:rPr lang="ko-KR" altLang="en-US" dirty="0">
                <a:solidFill>
                  <a:srgbClr val="44546A"/>
                </a:solidFill>
              </a:rPr>
              <a:t>구현보다 성능이 최대 </a:t>
            </a:r>
            <a:r>
              <a:rPr lang="en-US" altLang="ko-KR" dirty="0">
                <a:solidFill>
                  <a:srgbClr val="44546A"/>
                </a:solidFill>
              </a:rPr>
              <a:t>95%</a:t>
            </a:r>
            <a:r>
              <a:rPr lang="ko-KR" altLang="en-US" dirty="0">
                <a:solidFill>
                  <a:srgbClr val="44546A"/>
                </a:solidFill>
              </a:rPr>
              <a:t>만큼 좋아졌습니다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  <a:endParaRPr lang="ko-KR" altLang="en-US" dirty="0">
              <a:solidFill>
                <a:srgbClr val="44546A"/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672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향후 연구과제로는 게임 개발에 유용한 기능을 추가하거나 개선한 동기화 방법을 최적화하는 것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78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논문은</a:t>
            </a:r>
            <a:r>
              <a:rPr lang="en-US" altLang="ko-KR" dirty="0"/>
              <a:t>,</a:t>
            </a:r>
            <a:r>
              <a:rPr lang="ko-KR" altLang="en-US" dirty="0"/>
              <a:t> 현재 한국게임학회 </a:t>
            </a:r>
            <a:r>
              <a:rPr lang="ko-KR" altLang="en-US" dirty="0" err="1"/>
              <a:t>논문지</a:t>
            </a:r>
            <a:r>
              <a:rPr lang="ko-KR" altLang="en-US" dirty="0"/>
              <a:t> 제 </a:t>
            </a:r>
            <a:r>
              <a:rPr lang="en-US" altLang="ko-KR" dirty="0"/>
              <a:t>20</a:t>
            </a:r>
            <a:r>
              <a:rPr lang="ko-KR" altLang="en-US" dirty="0"/>
              <a:t>권 </a:t>
            </a:r>
            <a:r>
              <a:rPr lang="en-US" altLang="ko-KR" dirty="0"/>
              <a:t>5</a:t>
            </a:r>
            <a:r>
              <a:rPr lang="ko-KR" altLang="en-US" dirty="0"/>
              <a:t>호에 등재되어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B718E-B2A2-4B4E-B991-8AF099B4A83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357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31C07-42BD-4895-8716-91BEA85D5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EECE6F-AEE6-449D-8DBC-34E6DABBB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D3E33-6183-41E5-AB29-43401607A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323F-3D63-45E8-BCF7-22924C5D0044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80AD38-EA5E-46A4-A1E6-02C89B3D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F3150E-DA98-472F-9CA6-BD89CDA9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56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8BC011-FC0F-4095-98E3-1FF32A34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7638F2-37C1-4386-B33A-52173F18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C51155-BAFA-47AF-B6E7-5C9ACA68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18E7-E40B-468E-ACCC-A6D819E62187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C26C6-01C5-4FC9-BE66-DF6B82B39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01947-FF8D-4766-AC6D-B513E2C7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5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6F966-0A1A-4D52-A6A6-2E826777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0D309A-33DF-4DFE-A656-2B17F5DF3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E7CA46-F45F-4358-AA3D-D4F9EFD0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95E4-9695-4173-A3AA-C6FAD1AC4C96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60C063-214C-4767-98E6-99DD2923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99CF3-8F44-459B-A1D1-4A3A0506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03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21269-8486-4DD5-8F2C-1E954FC0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0796FF-2817-45D1-BF67-94F2B7774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181870-7219-4E71-A67C-41013ADA9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B4A6F-7118-46B4-BA9C-E706F7D6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743FD-DF55-449E-9C7E-369EBB89BC85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CF8D17-3B1A-49C2-BC0D-58BA9928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ED6850-59B6-466B-A3F3-BF8E5A3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02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9271D-020C-4D89-8E38-8B3A2E0B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985082-6032-4C3A-B9AE-066DE94A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1A34CD-0B6C-46CE-ABE3-1914795EB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22EFFD-C93A-40DC-A656-62CA6F373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FAAAA0-B209-4FEE-AD05-99D5EFBB9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87AE3-A5DB-43D6-953B-12403F31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3F58B-216E-44F8-BC26-3D40658DBBD6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4E4FDF-24EC-46D3-8C9E-7611018C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9A54A4-2B76-404C-B106-CF38FB7B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392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2A51C9-34CF-41FF-B857-09B8B7BD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6F744A-8128-451A-AF0F-58BC3C04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299DB-E1D5-4AF9-A529-BDE07310F99F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00F5A0-EF10-4754-8C4E-FE110F6D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E6B292-A29B-4A42-8CC5-1F7861AA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85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161735-7C4F-42A3-8568-1ABEE3E10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20C-4B6A-45AE-B33F-0D61D3C07767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713CE4-27FE-4C24-810B-68B12A0E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90FBE-FBF3-4C20-8740-81AB4787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80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EB3C7-E2C9-4725-ADCF-750265853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7FD47-871E-4926-8377-B0887400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7E199A-70DC-46E8-8481-7ACE3FCA2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4EF88C-8FFE-43A3-AF2D-854B2873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51395-0CD7-4488-882F-C46A055CF67B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D757D1-BD44-493C-A96B-F6A8C432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A29412-2BDF-47A7-86AE-A360ED5F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6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B7336-4B3E-46D6-9063-C87F5B1A4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94034E-C5E8-4EC6-872A-F1B2A15D04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A8BF9-2F6E-4FA1-98BE-1E1B6C7EE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8001D7-A2B3-4412-89C5-747A7699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05CC-2D97-4DBC-B37F-CC3CC6B5AFC4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3FF7BB-107A-4C32-B07F-FB0A3C44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0063D9-C1F5-4FBE-9593-8121A1CF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53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45B4CD-EEC6-421C-A002-A000A0A3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0E45E6-B36D-4722-A148-F93E025C6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F01029-6DA3-4B10-ACCA-F904AF57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F899-14CE-485F-B428-0445E162BC72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D0F87-91E0-4577-B519-AB49747C5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9D0EE-7263-484D-B7B5-636B9DD6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33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7D94BF-7C9B-4B9D-AAA4-65D58B9AF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9DB44D-0063-4045-B77C-45FF601E0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72480-F5FB-4BFE-BD65-8A3FF11FE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B2452-DAB6-412E-B0F5-BD464DAA5C51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20ABA-ECD3-4893-95EA-FD362B82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776298-034C-4F90-9686-F4FBDB21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51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6F3574-0AD1-4B50-B4CC-2B3C59E3C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DF0E4D-8292-4160-A999-0BA7F4745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804526-1CC6-4EE2-BDE6-600478118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92974-83E0-42D8-8FD1-98237B99EA77}" type="datetime1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AA48CD-CFDD-4676-88E7-8CC31BF0C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A4E77-E7FD-4D5C-A6D2-6A725EF9C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669BE-68BC-48AB-9EB7-9CE94E4B6E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86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9D96E3F-159B-4733-BE61-1AAB43A59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202B2A-E3B3-4965-8D55-B58E5405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39D61B-B5EB-4C27-A94A-E3F7C86A4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940391"/>
            <a:ext cx="10462768" cy="2535769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4400" dirty="0">
                <a:solidFill>
                  <a:schemeClr val="tx2"/>
                </a:solidFill>
              </a:rPr>
              <a:t>HD-Tree: </a:t>
            </a:r>
            <a:r>
              <a:rPr lang="ko-KR" altLang="en-US" sz="4400" dirty="0">
                <a:solidFill>
                  <a:schemeClr val="tx2"/>
                </a:solidFill>
              </a:rPr>
              <a:t>고성능 </a:t>
            </a:r>
            <a:r>
              <a:rPr lang="en-US" altLang="ko-KR" sz="4400" dirty="0">
                <a:solidFill>
                  <a:schemeClr val="tx2"/>
                </a:solidFill>
              </a:rPr>
              <a:t>Lock-Free NNS KD-Tree</a:t>
            </a:r>
            <a:endParaRPr lang="ko-KR" altLang="en-US" sz="4400" dirty="0">
              <a:solidFill>
                <a:schemeClr val="tx2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35C216-2B02-414E-B702-5CCAE5994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792" y="3502120"/>
            <a:ext cx="9529953" cy="723670"/>
          </a:xfrm>
        </p:spPr>
        <p:txBody>
          <a:bodyPr anchor="ctr">
            <a:normAutofit fontScale="925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schemeClr val="tx2"/>
                </a:solidFill>
              </a:rPr>
              <a:t>HD-Tree: </a:t>
            </a:r>
            <a:r>
              <a:rPr lang="en-US" altLang="ko-KR" sz="2400" kern="0" spc="-20" dirty="0">
                <a:solidFill>
                  <a:srgbClr val="44546A"/>
                </a:solidFill>
                <a:effectLst/>
              </a:rPr>
              <a:t>High performance Lock-Free Nearest Neighbor Search KD-Tree</a:t>
            </a:r>
            <a:endParaRPr lang="en-US" altLang="ko-KR" sz="2400" kern="0" dirty="0">
              <a:solidFill>
                <a:srgbClr val="44546A"/>
              </a:solidFill>
              <a:effectLst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505F6D-25F2-479B-AEEE-66F34B3FB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298"/>
            <a:ext cx="2514948" cy="2174333"/>
            <a:chOff x="-305" y="-4155"/>
            <a:chExt cx="2514948" cy="2174333"/>
          </a:xfrm>
        </p:grpSpPr>
        <p:sp>
          <p:nvSpPr>
            <p:cNvPr id="34" name="Freeform: Shape 41">
              <a:extLst>
                <a:ext uri="{FF2B5EF4-FFF2-40B4-BE49-F238E27FC236}">
                  <a16:creationId xmlns:a16="http://schemas.microsoft.com/office/drawing/2014/main" id="{95C49ED7-EC50-4D2C-A945-D4907F081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42">
              <a:extLst>
                <a:ext uri="{FF2B5EF4-FFF2-40B4-BE49-F238E27FC236}">
                  <a16:creationId xmlns:a16="http://schemas.microsoft.com/office/drawing/2014/main" id="{29A8266C-3886-4618-B2EB-EA7FE32CE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43">
              <a:extLst>
                <a:ext uri="{FF2B5EF4-FFF2-40B4-BE49-F238E27FC236}">
                  <a16:creationId xmlns:a16="http://schemas.microsoft.com/office/drawing/2014/main" id="{AB4610CF-D689-4B1B-A7FB-1CE14209E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8" name="Freeform: Shape 44">
              <a:extLst>
                <a:ext uri="{FF2B5EF4-FFF2-40B4-BE49-F238E27FC236}">
                  <a16:creationId xmlns:a16="http://schemas.microsoft.com/office/drawing/2014/main" id="{8DA7C44F-B555-41AC-95A7-645015293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C0A542E-DBAB-412E-9F06-247CFE5FB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8304973" y="939510"/>
            <a:ext cx="4826538" cy="2947516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40" name="Freeform: Shape 47">
              <a:extLst>
                <a:ext uri="{FF2B5EF4-FFF2-40B4-BE49-F238E27FC236}">
                  <a16:creationId xmlns:a16="http://schemas.microsoft.com/office/drawing/2014/main" id="{B41E2FAC-3A8F-4977-ACC1-92B455FD4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8">
              <a:extLst>
                <a:ext uri="{FF2B5EF4-FFF2-40B4-BE49-F238E27FC236}">
                  <a16:creationId xmlns:a16="http://schemas.microsoft.com/office/drawing/2014/main" id="{5264E774-D8C6-4806-9911-955DD8039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49">
              <a:extLst>
                <a:ext uri="{FF2B5EF4-FFF2-40B4-BE49-F238E27FC236}">
                  <a16:creationId xmlns:a16="http://schemas.microsoft.com/office/drawing/2014/main" id="{8450CBAC-6145-4598-BA48-1EB500923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0">
              <a:extLst>
                <a:ext uri="{FF2B5EF4-FFF2-40B4-BE49-F238E27FC236}">
                  <a16:creationId xmlns:a16="http://schemas.microsoft.com/office/drawing/2014/main" id="{C1451637-F91B-479F-8251-660E2281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DDF611A-C516-4167-8C8E-A2DB60C21901}"/>
              </a:ext>
            </a:extLst>
          </p:cNvPr>
          <p:cNvSpPr txBox="1"/>
          <p:nvPr/>
        </p:nvSpPr>
        <p:spPr>
          <a:xfrm>
            <a:off x="10119360" y="5476039"/>
            <a:ext cx="17245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ko-KR" altLang="en-US" dirty="0">
                <a:solidFill>
                  <a:srgbClr val="44546A"/>
                </a:solidFill>
              </a:rPr>
              <a:t>학위논문심사</a:t>
            </a:r>
            <a:endParaRPr lang="en-US" altLang="ko-KR" dirty="0">
              <a:solidFill>
                <a:srgbClr val="44546A"/>
              </a:solidFill>
            </a:endParaRPr>
          </a:p>
          <a:p>
            <a:pPr algn="r">
              <a:spcAft>
                <a:spcPts val="600"/>
              </a:spcAft>
            </a:pPr>
            <a:r>
              <a:rPr lang="en-US" altLang="ko-KR" dirty="0">
                <a:solidFill>
                  <a:srgbClr val="44546A"/>
                </a:solidFill>
              </a:rPr>
              <a:t>2020.12.21</a:t>
            </a:r>
          </a:p>
          <a:p>
            <a:pPr algn="r">
              <a:spcAft>
                <a:spcPts val="600"/>
              </a:spcAft>
            </a:pPr>
            <a:r>
              <a:rPr lang="ko-KR" altLang="en-US" dirty="0">
                <a:solidFill>
                  <a:srgbClr val="44546A"/>
                </a:solidFill>
              </a:rPr>
              <a:t>이상기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DB627-551A-46DA-AB7E-D25A52C68F46}"/>
              </a:ext>
            </a:extLst>
          </p:cNvPr>
          <p:cNvSpPr txBox="1"/>
          <p:nvPr/>
        </p:nvSpPr>
        <p:spPr>
          <a:xfrm>
            <a:off x="4191141" y="5829982"/>
            <a:ext cx="324850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ko-KR" altLang="en-US" dirty="0">
                <a:solidFill>
                  <a:srgbClr val="44546A"/>
                </a:solidFill>
              </a:rPr>
              <a:t>한국산업기술대학교 </a:t>
            </a:r>
            <a:endParaRPr lang="en-US" altLang="ko-KR" dirty="0">
              <a:solidFill>
                <a:srgbClr val="44546A"/>
              </a:solidFill>
            </a:endParaRPr>
          </a:p>
          <a:p>
            <a:pPr algn="ctr">
              <a:spcAft>
                <a:spcPts val="600"/>
              </a:spcAft>
            </a:pPr>
            <a:r>
              <a:rPr lang="ko-KR" altLang="en-US" dirty="0">
                <a:solidFill>
                  <a:srgbClr val="44546A"/>
                </a:solidFill>
              </a:rPr>
              <a:t>디지털엔터테인먼트 대학원</a:t>
            </a:r>
            <a:endParaRPr lang="en-US" altLang="ko-KR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46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44546A"/>
                </a:solidFill>
              </a:rPr>
              <a:t>차례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b="0" i="0" u="none" strike="noStrike">
                <a:solidFill>
                  <a:srgbClr val="44546A"/>
                </a:solidFill>
                <a:effectLst/>
              </a:rPr>
              <a:t>연구배경</a:t>
            </a:r>
            <a:endParaRPr lang="en-US" altLang="ko-KR" b="0" i="0" u="none" strike="noStrike">
              <a:solidFill>
                <a:srgbClr val="44546A"/>
              </a:solidFill>
              <a:effectLst/>
            </a:endParaRPr>
          </a:p>
          <a:p>
            <a:r>
              <a:rPr lang="ko-KR" altLang="en-US">
                <a:solidFill>
                  <a:srgbClr val="44546A"/>
                </a:solidFill>
              </a:rPr>
              <a:t>연구목적</a:t>
            </a:r>
            <a:endParaRPr lang="en-US" altLang="ko-KR">
              <a:solidFill>
                <a:srgbClr val="44546A"/>
              </a:solidFill>
            </a:endParaRPr>
          </a:p>
          <a:p>
            <a:r>
              <a:rPr lang="ko-KR" altLang="en-US">
                <a:solidFill>
                  <a:srgbClr val="44546A"/>
                </a:solidFill>
              </a:rPr>
              <a:t>관련연구</a:t>
            </a:r>
            <a:endParaRPr lang="en-US" altLang="ko-KR">
              <a:solidFill>
                <a:srgbClr val="44546A"/>
              </a:solidFill>
            </a:endParaRPr>
          </a:p>
          <a:p>
            <a:r>
              <a:rPr lang="ko-KR" altLang="en-US">
                <a:solidFill>
                  <a:srgbClr val="44546A"/>
                </a:solidFill>
              </a:rPr>
              <a:t>구현</a:t>
            </a:r>
            <a:endParaRPr lang="en-US" altLang="ko-KR">
              <a:solidFill>
                <a:srgbClr val="44546A"/>
              </a:solidFill>
            </a:endParaRPr>
          </a:p>
          <a:p>
            <a:r>
              <a:rPr lang="ko-KR" altLang="en-US">
                <a:solidFill>
                  <a:srgbClr val="44546A"/>
                </a:solidFill>
              </a:rPr>
              <a:t>결과</a:t>
            </a:r>
            <a:endParaRPr lang="en-US" altLang="ko-KR">
              <a:solidFill>
                <a:srgbClr val="44546A"/>
              </a:solidFill>
            </a:endParaRPr>
          </a:p>
          <a:p>
            <a:r>
              <a:rPr lang="ko-KR" altLang="en-US">
                <a:solidFill>
                  <a:srgbClr val="44546A"/>
                </a:solidFill>
              </a:rPr>
              <a:t>결론</a:t>
            </a:r>
            <a:endParaRPr lang="en-US" altLang="ko-KR">
              <a:solidFill>
                <a:srgbClr val="44546A"/>
              </a:solidFill>
            </a:endParaRPr>
          </a:p>
          <a:p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875F3-F22E-4423-B4F2-262BAE70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53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b="0" i="0" u="none" strike="noStrike" dirty="0">
                <a:solidFill>
                  <a:srgbClr val="44546A"/>
                </a:solidFill>
                <a:effectLst/>
              </a:rPr>
              <a:t>KD-Tree</a:t>
            </a:r>
            <a:r>
              <a:rPr lang="ko-KR" altLang="en-US" b="0" i="0" u="none" strike="noStrike" dirty="0">
                <a:solidFill>
                  <a:srgbClr val="44546A"/>
                </a:solidFill>
                <a:effectLst/>
              </a:rPr>
              <a:t>는 </a:t>
            </a:r>
            <a:r>
              <a:rPr lang="ko-KR" altLang="en-US" dirty="0">
                <a:solidFill>
                  <a:srgbClr val="44546A"/>
                </a:solidFill>
              </a:rPr>
              <a:t>다차원 데이터를 다루기 위해 자주 사용</a:t>
            </a:r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b="0" i="0" u="none" strike="noStrike" dirty="0">
                <a:solidFill>
                  <a:srgbClr val="44546A"/>
                </a:solidFill>
                <a:effectLst/>
              </a:rPr>
              <a:t>가장 가까운 이웃 검색</a:t>
            </a:r>
            <a:r>
              <a:rPr lang="en-US" altLang="ko-KR" b="0" i="0" u="none" strike="noStrike" dirty="0">
                <a:solidFill>
                  <a:srgbClr val="44546A"/>
                </a:solidFill>
                <a:effectLst/>
              </a:rPr>
              <a:t>(</a:t>
            </a:r>
            <a:r>
              <a:rPr lang="en-US" altLang="ko-KR" dirty="0">
                <a:solidFill>
                  <a:srgbClr val="44546A"/>
                </a:solidFill>
              </a:rPr>
              <a:t>Nearest Neighbor Search, </a:t>
            </a:r>
            <a:r>
              <a:rPr lang="en-US" altLang="ko-KR" b="0" i="0" u="none" strike="noStrike" dirty="0">
                <a:solidFill>
                  <a:srgbClr val="44546A"/>
                </a:solidFill>
                <a:effectLst/>
              </a:rPr>
              <a:t>NNS)</a:t>
            </a:r>
            <a:r>
              <a:rPr lang="ko-KR" altLang="en-US" b="0" i="0" u="none" strike="noStrike" dirty="0">
                <a:solidFill>
                  <a:srgbClr val="44546A"/>
                </a:solidFill>
                <a:effectLst/>
              </a:rPr>
              <a:t>은 </a:t>
            </a:r>
            <a:r>
              <a:rPr lang="en-US" altLang="ko-KR" b="0" i="0" u="none" strike="noStrike" dirty="0">
                <a:solidFill>
                  <a:srgbClr val="44546A"/>
                </a:solidFill>
                <a:effectLst/>
              </a:rPr>
              <a:t>KD-Tree</a:t>
            </a:r>
            <a:r>
              <a:rPr lang="ko-KR" altLang="en-US" b="0" i="0" u="none" strike="noStrike" dirty="0">
                <a:solidFill>
                  <a:srgbClr val="44546A"/>
                </a:solidFill>
                <a:effectLst/>
              </a:rPr>
              <a:t>에 저장된 데이터를 활용하기 위해 주로 사용됨</a:t>
            </a:r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대부분의 연구자들은 </a:t>
            </a:r>
            <a:r>
              <a:rPr lang="en-US" altLang="ko-KR" dirty="0">
                <a:solidFill>
                  <a:srgbClr val="44546A"/>
                </a:solidFill>
              </a:rPr>
              <a:t>GPU</a:t>
            </a:r>
            <a:r>
              <a:rPr lang="ko-KR" altLang="en-US" dirty="0">
                <a:solidFill>
                  <a:srgbClr val="44546A"/>
                </a:solidFill>
              </a:rPr>
              <a:t>를 사용한 알고리즘의 가속을 연구</a:t>
            </a:r>
            <a:endParaRPr lang="en-US" altLang="ko-KR" dirty="0">
              <a:solidFill>
                <a:srgbClr val="44546A"/>
              </a:solidFill>
            </a:endParaRPr>
          </a:p>
          <a:p>
            <a:pPr lvl="1"/>
            <a:r>
              <a:rPr lang="ko-KR" altLang="en-US" dirty="0">
                <a:solidFill>
                  <a:srgbClr val="44546A"/>
                </a:solidFill>
              </a:rPr>
              <a:t>게임 분야에서는 여전히 </a:t>
            </a:r>
            <a:r>
              <a:rPr lang="en-US" altLang="ko-KR" dirty="0">
                <a:solidFill>
                  <a:srgbClr val="44546A"/>
                </a:solidFill>
              </a:rPr>
              <a:t>KD-Tree</a:t>
            </a:r>
            <a:r>
              <a:rPr lang="ko-KR" altLang="en-US" dirty="0">
                <a:solidFill>
                  <a:srgbClr val="44546A"/>
                </a:solidFill>
              </a:rPr>
              <a:t>의 </a:t>
            </a:r>
            <a:r>
              <a:rPr lang="en-US" altLang="ko-KR" dirty="0">
                <a:solidFill>
                  <a:srgbClr val="44546A"/>
                </a:solidFill>
              </a:rPr>
              <a:t>CPU</a:t>
            </a:r>
            <a:r>
              <a:rPr lang="ko-KR" altLang="en-US" dirty="0">
                <a:solidFill>
                  <a:srgbClr val="44546A"/>
                </a:solidFill>
              </a:rPr>
              <a:t>작업이 필요함</a:t>
            </a:r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멀티코어 시스템을 충분히 활용하기 위해서는 멀티스레드를 지원하는 </a:t>
            </a:r>
            <a:r>
              <a:rPr lang="en-US" altLang="ko-KR" dirty="0">
                <a:solidFill>
                  <a:srgbClr val="44546A"/>
                </a:solidFill>
              </a:rPr>
              <a:t>Lock-Free KD-Tree</a:t>
            </a:r>
            <a:r>
              <a:rPr lang="ko-KR" altLang="en-US" dirty="0">
                <a:solidFill>
                  <a:srgbClr val="44546A"/>
                </a:solidFill>
              </a:rPr>
              <a:t>가 필요</a:t>
            </a:r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기존의 알고리즘들은 성능상의 여러 문제들을 가지고 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875F3-F22E-4423-B4F2-262BAE70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28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연구배경</a:t>
            </a:r>
            <a:r>
              <a:rPr lang="en-US" altLang="ko-KR" dirty="0">
                <a:solidFill>
                  <a:srgbClr val="44546A"/>
                </a:solidFill>
              </a:rPr>
              <a:t>: KD-Tree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573411" cy="4351338"/>
          </a:xfrm>
        </p:spPr>
        <p:txBody>
          <a:bodyPr>
            <a:normAutofit/>
          </a:bodyPr>
          <a:lstStyle/>
          <a:p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모든 노드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K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차원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(K-Dimension, KD) 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공간에 존재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하는 </a:t>
            </a:r>
            <a:r>
              <a:rPr lang="en-US" altLang="ko-KR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BST</a:t>
            </a:r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트리의 깊이마다 키 값의 기준 좌표축을 번갈아 가면서 비교하여 노드를 분류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한다</a:t>
            </a:r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dirty="0">
              <a:solidFill>
                <a:srgbClr val="44546A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F89D7B-25F6-43AF-AA08-6FADA4CB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3DCF7F-1A32-46BF-8F44-5084657B2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792" y="2319337"/>
            <a:ext cx="505777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8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연구배경</a:t>
            </a:r>
            <a:r>
              <a:rPr lang="en-US" altLang="ko-KR" dirty="0">
                <a:solidFill>
                  <a:srgbClr val="44546A"/>
                </a:solidFill>
              </a:rPr>
              <a:t>: </a:t>
            </a:r>
            <a:r>
              <a:rPr lang="en-US" altLang="ko-KR" dirty="0">
                <a:solidFill>
                  <a:schemeClr val="tx2"/>
                </a:solidFill>
              </a:rPr>
              <a:t>External Tree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7219BC-72CA-4E76-8DB0-354E8E90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208B93-B21A-4F6F-B001-FC6F7A70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857" y="1750911"/>
            <a:ext cx="7153275" cy="4486275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2B6CB90-CC90-4009-8D20-73F6E398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481252" cy="4330731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Data</a:t>
            </a:r>
            <a:r>
              <a:rPr lang="ko-KR" altLang="en-US" dirty="0">
                <a:solidFill>
                  <a:srgbClr val="44546A"/>
                </a:solidFill>
              </a:rPr>
              <a:t>를</a:t>
            </a:r>
            <a:r>
              <a:rPr lang="en-US" altLang="ko-KR" dirty="0">
                <a:solidFill>
                  <a:srgbClr val="44546A"/>
                </a:solidFill>
              </a:rPr>
              <a:t> Leaf Node</a:t>
            </a:r>
            <a:r>
              <a:rPr lang="ko-KR" altLang="en-US" dirty="0">
                <a:solidFill>
                  <a:srgbClr val="44546A"/>
                </a:solidFill>
              </a:rPr>
              <a:t>에만 저장하는 </a:t>
            </a:r>
            <a:r>
              <a:rPr lang="en-US" altLang="ko-KR" dirty="0">
                <a:solidFill>
                  <a:srgbClr val="44546A"/>
                </a:solidFill>
              </a:rPr>
              <a:t>Tree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 err="1">
                <a:solidFill>
                  <a:srgbClr val="44546A"/>
                </a:solidFill>
              </a:rPr>
              <a:t>완전이진트리</a:t>
            </a:r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비동기 알고리즘 구현에 유리</a:t>
            </a:r>
            <a:endParaRPr lang="en-US" altLang="ko-KR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49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03194" cy="1325563"/>
          </a:xfrm>
        </p:spPr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연구배경</a:t>
            </a:r>
            <a:r>
              <a:rPr lang="en-US" altLang="ko-KR" dirty="0">
                <a:solidFill>
                  <a:srgbClr val="44546A"/>
                </a:solidFill>
              </a:rPr>
              <a:t>: Nearest Neighbor Search (NNS)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F89D7B-25F6-43AF-AA08-6FADA4CB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2B6CB90-CC90-4009-8D20-73F6E398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379230" cy="4667250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KD-Tree</a:t>
            </a:r>
            <a:r>
              <a:rPr lang="ko-KR" altLang="en-US" dirty="0">
                <a:solidFill>
                  <a:srgbClr val="44546A"/>
                </a:solidFill>
              </a:rPr>
              <a:t>를 </a:t>
            </a:r>
            <a:r>
              <a:rPr lang="en-US" altLang="ko-KR" dirty="0">
                <a:solidFill>
                  <a:srgbClr val="44546A"/>
                </a:solidFill>
              </a:rPr>
              <a:t>leaf</a:t>
            </a:r>
            <a:r>
              <a:rPr lang="ko-KR" altLang="en-US" dirty="0">
                <a:solidFill>
                  <a:srgbClr val="44546A"/>
                </a:solidFill>
              </a:rPr>
              <a:t>노드에서부터 거슬러 올라가며 </a:t>
            </a:r>
            <a:r>
              <a:rPr lang="en-US" altLang="ko-KR" dirty="0">
                <a:solidFill>
                  <a:srgbClr val="44546A"/>
                </a:solidFill>
              </a:rPr>
              <a:t>Root</a:t>
            </a:r>
            <a:r>
              <a:rPr lang="ko-KR" altLang="en-US" dirty="0">
                <a:solidFill>
                  <a:srgbClr val="44546A"/>
                </a:solidFill>
              </a:rPr>
              <a:t>를 만날 때까지 </a:t>
            </a:r>
            <a:r>
              <a:rPr lang="en-US" altLang="ko-KR" dirty="0">
                <a:solidFill>
                  <a:srgbClr val="44546A"/>
                </a:solidFill>
              </a:rPr>
              <a:t>subtree</a:t>
            </a:r>
            <a:r>
              <a:rPr lang="ko-KR" altLang="en-US" dirty="0">
                <a:solidFill>
                  <a:srgbClr val="44546A"/>
                </a:solidFill>
              </a:rPr>
              <a:t>를 반복 탐색</a:t>
            </a:r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en-US" altLang="ko-KR" dirty="0">
                <a:solidFill>
                  <a:srgbClr val="44546A"/>
                </a:solidFill>
              </a:rPr>
              <a:t>Leaf</a:t>
            </a:r>
            <a:r>
              <a:rPr lang="ko-KR" altLang="en-US" dirty="0">
                <a:solidFill>
                  <a:srgbClr val="44546A"/>
                </a:solidFill>
              </a:rPr>
              <a:t>노드와 만날 때마다 거리를 계산하여 </a:t>
            </a:r>
            <a:r>
              <a:rPr lang="en-US" altLang="ko-KR" dirty="0">
                <a:solidFill>
                  <a:srgbClr val="44546A"/>
                </a:solidFill>
              </a:rPr>
              <a:t>r</a:t>
            </a:r>
            <a:r>
              <a:rPr lang="ko-KR" altLang="en-US" dirty="0">
                <a:solidFill>
                  <a:srgbClr val="44546A"/>
                </a:solidFill>
              </a:rPr>
              <a:t>값보다 작으면 갱신</a:t>
            </a:r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현재 찾은 노드와의 거리보다 키 값이 큰 </a:t>
            </a:r>
            <a:r>
              <a:rPr lang="en-US" altLang="ko-KR" dirty="0">
                <a:solidFill>
                  <a:srgbClr val="44546A"/>
                </a:solidFill>
              </a:rPr>
              <a:t>internal</a:t>
            </a:r>
            <a:r>
              <a:rPr lang="ko-KR" altLang="en-US" dirty="0">
                <a:solidFill>
                  <a:srgbClr val="44546A"/>
                </a:solidFill>
              </a:rPr>
              <a:t>노드의 </a:t>
            </a:r>
            <a:r>
              <a:rPr lang="en-US" altLang="ko-KR" dirty="0">
                <a:solidFill>
                  <a:srgbClr val="44546A"/>
                </a:solidFill>
              </a:rPr>
              <a:t>subtree</a:t>
            </a:r>
            <a:r>
              <a:rPr lang="ko-KR" altLang="en-US" dirty="0">
                <a:solidFill>
                  <a:srgbClr val="44546A"/>
                </a:solidFill>
              </a:rPr>
              <a:t>는 검색하지 않는다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  <a:r>
              <a:rPr lang="ko-KR" altLang="en-US" dirty="0">
                <a:solidFill>
                  <a:srgbClr val="44546A"/>
                </a:solidFill>
              </a:rPr>
              <a:t> </a:t>
            </a:r>
            <a:endParaRPr lang="en-US" altLang="ko-KR" dirty="0">
              <a:solidFill>
                <a:srgbClr val="44546A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00AF9A-28FA-43E5-BCD6-DC032679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182" y="1775619"/>
            <a:ext cx="509587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4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연구배경</a:t>
            </a:r>
            <a:r>
              <a:rPr lang="en-US" altLang="ko-KR" dirty="0">
                <a:solidFill>
                  <a:srgbClr val="44546A"/>
                </a:solidFill>
              </a:rPr>
              <a:t>: Descriptor </a:t>
            </a:r>
            <a:r>
              <a:rPr lang="ko-KR" altLang="en-US" dirty="0">
                <a:solidFill>
                  <a:srgbClr val="44546A"/>
                </a:solidFill>
              </a:rPr>
              <a:t>기반 동기화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298950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44546A"/>
                </a:solidFill>
              </a:rPr>
              <a:t>많은 </a:t>
            </a:r>
            <a:r>
              <a:rPr lang="en-US" altLang="ko-KR" dirty="0">
                <a:solidFill>
                  <a:srgbClr val="44546A"/>
                </a:solidFill>
              </a:rPr>
              <a:t>Lock-Free </a:t>
            </a:r>
            <a:r>
              <a:rPr lang="ko-KR" altLang="en-US" dirty="0">
                <a:solidFill>
                  <a:srgbClr val="44546A"/>
                </a:solidFill>
              </a:rPr>
              <a:t>알고리즘에서 사용하는 방식</a:t>
            </a:r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en-US" altLang="ko-KR" dirty="0">
                <a:solidFill>
                  <a:srgbClr val="44546A"/>
                </a:solidFill>
              </a:rPr>
              <a:t>LSB</a:t>
            </a:r>
            <a:r>
              <a:rPr lang="ko-KR" altLang="en-US" dirty="0">
                <a:solidFill>
                  <a:srgbClr val="44546A"/>
                </a:solidFill>
              </a:rPr>
              <a:t>에 </a:t>
            </a:r>
            <a:r>
              <a:rPr lang="en-US" altLang="ko-KR" dirty="0">
                <a:solidFill>
                  <a:srgbClr val="44546A"/>
                </a:solidFill>
              </a:rPr>
              <a:t>Flag</a:t>
            </a:r>
            <a:r>
              <a:rPr lang="ko-KR" altLang="en-US" dirty="0">
                <a:solidFill>
                  <a:srgbClr val="44546A"/>
                </a:solidFill>
              </a:rPr>
              <a:t>들을 끼워 넣어서 한 번의 </a:t>
            </a:r>
            <a:r>
              <a:rPr lang="en-US" altLang="ko-KR" dirty="0">
                <a:solidFill>
                  <a:srgbClr val="44546A"/>
                </a:solidFill>
              </a:rPr>
              <a:t>CAS</a:t>
            </a:r>
            <a:r>
              <a:rPr lang="ko-KR" altLang="en-US" dirty="0">
                <a:solidFill>
                  <a:srgbClr val="44546A"/>
                </a:solidFill>
              </a:rPr>
              <a:t>연산으로 포인터 값과 노드의</a:t>
            </a:r>
            <a:r>
              <a:rPr lang="en-US" altLang="ko-KR" dirty="0">
                <a:solidFill>
                  <a:srgbClr val="44546A"/>
                </a:solidFill>
              </a:rPr>
              <a:t> </a:t>
            </a:r>
            <a:r>
              <a:rPr lang="ko-KR" altLang="en-US" dirty="0">
                <a:solidFill>
                  <a:srgbClr val="44546A"/>
                </a:solidFill>
              </a:rPr>
              <a:t>상태를 동시에 원자적으로 변경</a:t>
            </a:r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sz="2800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데이터의 중간 값과 </a:t>
            </a:r>
            <a:r>
              <a:rPr lang="en-US" altLang="ko-KR" dirty="0">
                <a:solidFill>
                  <a:srgbClr val="44546A"/>
                </a:solidFill>
              </a:rPr>
              <a:t>data race</a:t>
            </a:r>
            <a:r>
              <a:rPr lang="ko-KR" altLang="en-US" dirty="0">
                <a:solidFill>
                  <a:srgbClr val="44546A"/>
                </a:solidFill>
              </a:rPr>
              <a:t>가 발생하지 않아서 안전하게 자료구조를 수정할 수 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endParaRPr lang="en-US" altLang="ko-KR" sz="2800" dirty="0">
              <a:solidFill>
                <a:srgbClr val="44546A"/>
              </a:solidFill>
            </a:endParaRPr>
          </a:p>
          <a:p>
            <a:endParaRPr lang="ko-KR" altLang="en-US" sz="2800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24A9D-A1CB-4851-8805-86250CF2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40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연구배경</a:t>
            </a:r>
            <a:r>
              <a:rPr lang="en-US" altLang="ko-KR" dirty="0">
                <a:solidFill>
                  <a:srgbClr val="44546A"/>
                </a:solidFill>
              </a:rPr>
              <a:t>: Descriptor </a:t>
            </a:r>
            <a:r>
              <a:rPr lang="ko-KR" altLang="en-US" dirty="0">
                <a:solidFill>
                  <a:srgbClr val="44546A"/>
                </a:solidFill>
              </a:rPr>
              <a:t>기반 동기화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5990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Least Significant Bit (LSB)</a:t>
            </a:r>
          </a:p>
          <a:p>
            <a:pPr lvl="1"/>
            <a:r>
              <a:rPr lang="ko-KR" altLang="en-US" dirty="0">
                <a:solidFill>
                  <a:srgbClr val="44546A"/>
                </a:solidFill>
              </a:rPr>
              <a:t>포인터의 최하위 비트 중 일부는 사용되지 않는다</a:t>
            </a:r>
            <a:r>
              <a:rPr lang="en-US" altLang="ko-KR" dirty="0">
                <a:solidFill>
                  <a:srgbClr val="44546A"/>
                </a:solidFill>
              </a:rPr>
              <a:t>. </a:t>
            </a:r>
          </a:p>
          <a:p>
            <a:pPr lvl="1"/>
            <a:r>
              <a:rPr lang="en-US" altLang="ko-KR" dirty="0">
                <a:solidFill>
                  <a:srgbClr val="44546A"/>
                </a:solidFill>
              </a:rPr>
              <a:t>32bit </a:t>
            </a:r>
            <a:r>
              <a:rPr lang="ko-KR" altLang="en-US" dirty="0">
                <a:solidFill>
                  <a:srgbClr val="44546A"/>
                </a:solidFill>
              </a:rPr>
              <a:t>아키텍처에서 </a:t>
            </a:r>
            <a:r>
              <a:rPr lang="en-US" altLang="ko-KR" dirty="0">
                <a:solidFill>
                  <a:srgbClr val="44546A"/>
                </a:solidFill>
              </a:rPr>
              <a:t>4byte</a:t>
            </a:r>
            <a:r>
              <a:rPr lang="ko-KR" altLang="en-US" dirty="0">
                <a:solidFill>
                  <a:srgbClr val="44546A"/>
                </a:solidFill>
              </a:rPr>
              <a:t>인 워드 크기로 정렬된 메모리의 주소 값은 항상 </a:t>
            </a:r>
            <a:r>
              <a:rPr lang="en-US" altLang="ko-KR" dirty="0">
                <a:solidFill>
                  <a:srgbClr val="44546A"/>
                </a:solidFill>
              </a:rPr>
              <a:t>4</a:t>
            </a:r>
            <a:r>
              <a:rPr lang="ko-KR" altLang="en-US" dirty="0">
                <a:solidFill>
                  <a:srgbClr val="44546A"/>
                </a:solidFill>
              </a:rPr>
              <a:t>의 배수이므로 마지막 </a:t>
            </a:r>
            <a:r>
              <a:rPr lang="en-US" altLang="ko-KR" dirty="0">
                <a:solidFill>
                  <a:srgbClr val="44546A"/>
                </a:solidFill>
              </a:rPr>
              <a:t>2bit</a:t>
            </a:r>
            <a:r>
              <a:rPr lang="ko-KR" altLang="en-US" dirty="0">
                <a:solidFill>
                  <a:srgbClr val="44546A"/>
                </a:solidFill>
              </a:rPr>
              <a:t>를 사용할 수 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pPr lvl="1"/>
            <a:r>
              <a:rPr lang="en-US" altLang="ko-KR" dirty="0">
                <a:solidFill>
                  <a:srgbClr val="44546A"/>
                </a:solidFill>
              </a:rPr>
              <a:t>64bit</a:t>
            </a:r>
            <a:r>
              <a:rPr lang="ko-KR" altLang="en-US" dirty="0">
                <a:solidFill>
                  <a:srgbClr val="44546A"/>
                </a:solidFill>
              </a:rPr>
              <a:t> 아키텍처에서는 </a:t>
            </a:r>
            <a:r>
              <a:rPr lang="en-US" altLang="ko-KR" dirty="0">
                <a:solidFill>
                  <a:srgbClr val="44546A"/>
                </a:solidFill>
              </a:rPr>
              <a:t>3bit </a:t>
            </a:r>
            <a:r>
              <a:rPr lang="ko-KR" altLang="en-US" dirty="0">
                <a:solidFill>
                  <a:srgbClr val="44546A"/>
                </a:solidFill>
              </a:rPr>
              <a:t>사용가능</a:t>
            </a:r>
            <a:endParaRPr lang="en-US" altLang="ko-KR" dirty="0">
              <a:solidFill>
                <a:srgbClr val="44546A"/>
              </a:solidFill>
            </a:endParaRPr>
          </a:p>
          <a:p>
            <a:pPr lvl="1"/>
            <a:endParaRPr lang="ko-KR" altLang="en-US" dirty="0">
              <a:solidFill>
                <a:srgbClr val="44546A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57C1606-E078-474E-BD0A-1403FAE21B38}"/>
              </a:ext>
            </a:extLst>
          </p:cNvPr>
          <p:cNvGrpSpPr/>
          <p:nvPr/>
        </p:nvGrpSpPr>
        <p:grpSpPr>
          <a:xfrm>
            <a:off x="3769519" y="4056915"/>
            <a:ext cx="4652962" cy="559923"/>
            <a:chOff x="1314450" y="4384326"/>
            <a:chExt cx="4652962" cy="55992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E7693F0-F03F-4B8A-A4D0-877098B12CC7}"/>
                </a:ext>
              </a:extLst>
            </p:cNvPr>
            <p:cNvSpPr/>
            <p:nvPr/>
          </p:nvSpPr>
          <p:spPr>
            <a:xfrm>
              <a:off x="1314450" y="4676775"/>
              <a:ext cx="4581525" cy="2667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B0A1FD5-1757-4461-8DD3-57519BD8434A}"/>
                </a:ext>
              </a:extLst>
            </p:cNvPr>
            <p:cNvSpPr/>
            <p:nvPr/>
          </p:nvSpPr>
          <p:spPr>
            <a:xfrm>
              <a:off x="5514976" y="4676775"/>
              <a:ext cx="380999" cy="266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9116C2-5489-4A55-8D00-BDD17D70BD8A}"/>
                </a:ext>
              </a:extLst>
            </p:cNvPr>
            <p:cNvSpPr txBox="1"/>
            <p:nvPr/>
          </p:nvSpPr>
          <p:spPr>
            <a:xfrm>
              <a:off x="5481637" y="4667250"/>
              <a:ext cx="485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2bit</a:t>
              </a:r>
              <a:endParaRPr lang="ko-KR" altLang="en-US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911BBB-2776-4AEA-9DB2-06972D677E37}"/>
                </a:ext>
              </a:extLst>
            </p:cNvPr>
            <p:cNvSpPr txBox="1"/>
            <p:nvPr/>
          </p:nvSpPr>
          <p:spPr>
            <a:xfrm>
              <a:off x="3114673" y="4666475"/>
              <a:ext cx="6405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30bit</a:t>
              </a:r>
              <a:endParaRPr lang="ko-KR" altLang="en-US" sz="12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C5CD93-C314-43A0-BAF6-42F0BE90E21B}"/>
                </a:ext>
              </a:extLst>
            </p:cNvPr>
            <p:cNvSpPr txBox="1"/>
            <p:nvPr/>
          </p:nvSpPr>
          <p:spPr>
            <a:xfrm>
              <a:off x="2940842" y="4384326"/>
              <a:ext cx="15430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32bit Pointer Field</a:t>
              </a:r>
              <a:endParaRPr lang="ko-KR" altLang="en-US" sz="1200" b="1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13309D4-48BA-43C7-984C-58787CB4F69F}"/>
              </a:ext>
            </a:extLst>
          </p:cNvPr>
          <p:cNvSpPr txBox="1"/>
          <p:nvPr/>
        </p:nvSpPr>
        <p:spPr>
          <a:xfrm>
            <a:off x="6460834" y="4657662"/>
            <a:ext cx="956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Bit </a:t>
            </a:r>
            <a:r>
              <a:rPr lang="ko-KR" altLang="en-US" sz="1200" dirty="0"/>
              <a:t>연산자 </a:t>
            </a:r>
            <a:r>
              <a:rPr lang="en-US" altLang="ko-KR" sz="1200" dirty="0"/>
              <a:t>and </a:t>
            </a:r>
            <a:r>
              <a:rPr lang="ko-KR" altLang="en-US" sz="1200" dirty="0"/>
              <a:t>사용</a:t>
            </a:r>
          </a:p>
        </p:txBody>
      </p:sp>
      <p:sp>
        <p:nvSpPr>
          <p:cNvPr id="33" name="화살표: 아래쪽 32">
            <a:extLst>
              <a:ext uri="{FF2B5EF4-FFF2-40B4-BE49-F238E27FC236}">
                <a16:creationId xmlns:a16="http://schemas.microsoft.com/office/drawing/2014/main" id="{E10279A6-CEAE-4C9E-99C0-0C1BF7736DE7}"/>
              </a:ext>
            </a:extLst>
          </p:cNvPr>
          <p:cNvSpPr/>
          <p:nvPr/>
        </p:nvSpPr>
        <p:spPr>
          <a:xfrm>
            <a:off x="5577546" y="4809408"/>
            <a:ext cx="867835" cy="342398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&amp;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B8D4C1C-9C29-4962-8418-E7216EA47B44}"/>
              </a:ext>
            </a:extLst>
          </p:cNvPr>
          <p:cNvGrpSpPr/>
          <p:nvPr/>
        </p:nvGrpSpPr>
        <p:grpSpPr>
          <a:xfrm>
            <a:off x="2540426" y="5234625"/>
            <a:ext cx="3519855" cy="1154393"/>
            <a:chOff x="1359876" y="5092391"/>
            <a:chExt cx="3519855" cy="115439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27D7E5-12D1-4E38-8A55-5E0E1A95A312}"/>
                </a:ext>
              </a:extLst>
            </p:cNvPr>
            <p:cNvSpPr txBox="1"/>
            <p:nvPr/>
          </p:nvSpPr>
          <p:spPr>
            <a:xfrm>
              <a:off x="1359876" y="5315144"/>
              <a:ext cx="3519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11111111 11111111 11111111 11111100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6A4B2C-0E24-4D25-BBB1-2A6B2BF566AD}"/>
                </a:ext>
              </a:extLst>
            </p:cNvPr>
            <p:cNvSpPr txBox="1"/>
            <p:nvPr/>
          </p:nvSpPr>
          <p:spPr>
            <a:xfrm>
              <a:off x="2305415" y="5092391"/>
              <a:ext cx="16287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32bit Pointer MASK</a:t>
              </a:r>
              <a:endParaRPr lang="ko-KR" altLang="en-US" sz="12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9FC31AC-5746-409E-91E2-8A8C8995D61E}"/>
                </a:ext>
              </a:extLst>
            </p:cNvPr>
            <p:cNvSpPr txBox="1"/>
            <p:nvPr/>
          </p:nvSpPr>
          <p:spPr>
            <a:xfrm>
              <a:off x="2790199" y="5969785"/>
              <a:ext cx="743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Pointer</a:t>
              </a:r>
              <a:endParaRPr lang="ko-KR" altLang="en-US" sz="1200" b="1" dirty="0"/>
            </a:p>
          </p:txBody>
        </p:sp>
        <p:sp>
          <p:nvSpPr>
            <p:cNvPr id="37" name="화살표: 아래쪽 36">
              <a:extLst>
                <a:ext uri="{FF2B5EF4-FFF2-40B4-BE49-F238E27FC236}">
                  <a16:creationId xmlns:a16="http://schemas.microsoft.com/office/drawing/2014/main" id="{40D12ED3-03F3-4397-AC2D-7FDF2E945B55}"/>
                </a:ext>
              </a:extLst>
            </p:cNvPr>
            <p:cNvSpPr/>
            <p:nvPr/>
          </p:nvSpPr>
          <p:spPr>
            <a:xfrm>
              <a:off x="2867339" y="5677717"/>
              <a:ext cx="504926" cy="298003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8687A77-F69E-4DFC-B47B-EEA1747097F1}"/>
              </a:ext>
            </a:extLst>
          </p:cNvPr>
          <p:cNvGrpSpPr/>
          <p:nvPr/>
        </p:nvGrpSpPr>
        <p:grpSpPr>
          <a:xfrm>
            <a:off x="6011461" y="5208393"/>
            <a:ext cx="3519855" cy="1203397"/>
            <a:chOff x="6487121" y="4943106"/>
            <a:chExt cx="3519855" cy="12033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570F0EB-BD10-4943-A9F2-2CEC311B49CA}"/>
                </a:ext>
              </a:extLst>
            </p:cNvPr>
            <p:cNvSpPr txBox="1"/>
            <p:nvPr/>
          </p:nvSpPr>
          <p:spPr>
            <a:xfrm>
              <a:off x="6487121" y="5185349"/>
              <a:ext cx="35198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00000000 00000000 00000000 00000011</a:t>
              </a:r>
              <a:endParaRPr lang="ko-KR" alt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700C6F-BF91-4FAB-8E71-08735593C7E7}"/>
                </a:ext>
              </a:extLst>
            </p:cNvPr>
            <p:cNvSpPr txBox="1"/>
            <p:nvPr/>
          </p:nvSpPr>
          <p:spPr>
            <a:xfrm>
              <a:off x="7274308" y="4943106"/>
              <a:ext cx="19454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32bit Pointer LSB MASK</a:t>
              </a:r>
              <a:endParaRPr lang="ko-KR" altLang="en-US" sz="1200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DD27828-D7DE-423E-B509-4E6CFDA9F93B}"/>
                </a:ext>
              </a:extLst>
            </p:cNvPr>
            <p:cNvSpPr txBox="1"/>
            <p:nvPr/>
          </p:nvSpPr>
          <p:spPr>
            <a:xfrm>
              <a:off x="8045226" y="5869504"/>
              <a:ext cx="5049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LSB</a:t>
              </a:r>
              <a:endParaRPr lang="ko-KR" altLang="en-US" sz="1200" b="1" dirty="0"/>
            </a:p>
          </p:txBody>
        </p: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C4BF8041-FD56-49F8-ACAC-A09684F3BFEA}"/>
                </a:ext>
              </a:extLst>
            </p:cNvPr>
            <p:cNvSpPr/>
            <p:nvPr/>
          </p:nvSpPr>
          <p:spPr>
            <a:xfrm>
              <a:off x="7994585" y="5546535"/>
              <a:ext cx="504926" cy="298003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EC3AD2-ADBD-45D5-A975-835E5A9A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348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연구목적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solidFill>
                  <a:schemeClr val="tx2"/>
                </a:solidFill>
              </a:rPr>
              <a:t>고성능 </a:t>
            </a:r>
            <a:r>
              <a:rPr lang="en-US" altLang="ko-KR" sz="3200" dirty="0">
                <a:solidFill>
                  <a:schemeClr val="tx2"/>
                </a:solidFill>
              </a:rPr>
              <a:t>Lock-Free</a:t>
            </a:r>
            <a:r>
              <a:rPr lang="ko-KR" altLang="en-US" sz="3200" dirty="0">
                <a:solidFill>
                  <a:schemeClr val="tx2"/>
                </a:solidFill>
              </a:rPr>
              <a:t> </a:t>
            </a:r>
            <a:r>
              <a:rPr lang="en-US" altLang="ko-KR" sz="3200" dirty="0">
                <a:solidFill>
                  <a:schemeClr val="tx2"/>
                </a:solidFill>
              </a:rPr>
              <a:t>NNS KD-Tree </a:t>
            </a:r>
            <a:r>
              <a:rPr lang="ko-KR" altLang="en-US" sz="3200" dirty="0">
                <a:solidFill>
                  <a:schemeClr val="tx2"/>
                </a:solidFill>
              </a:rPr>
              <a:t>제작</a:t>
            </a:r>
            <a:r>
              <a:rPr lang="en-US" altLang="ko-KR" sz="3200" dirty="0">
                <a:solidFill>
                  <a:schemeClr val="tx2"/>
                </a:solidFill>
              </a:rPr>
              <a:t> =&gt; </a:t>
            </a:r>
            <a:r>
              <a:rPr lang="en-US" altLang="ko-KR" sz="3200" dirty="0" err="1">
                <a:solidFill>
                  <a:schemeClr val="tx2"/>
                </a:solidFill>
              </a:rPr>
              <a:t>HD_Tree</a:t>
            </a:r>
            <a:endParaRPr lang="en-US" altLang="ko-KR" sz="3200" dirty="0">
              <a:solidFill>
                <a:schemeClr val="tx2"/>
              </a:solidFill>
            </a:endParaRPr>
          </a:p>
          <a:p>
            <a:pPr lvl="1"/>
            <a:r>
              <a:rPr lang="ko-KR" altLang="en-US" sz="2800" dirty="0">
                <a:solidFill>
                  <a:schemeClr val="tx2"/>
                </a:solidFill>
              </a:rPr>
              <a:t>기존 알고리즘의 </a:t>
            </a:r>
            <a:r>
              <a:rPr lang="en-US" altLang="ko-KR" sz="2800" dirty="0">
                <a:solidFill>
                  <a:schemeClr val="tx2"/>
                </a:solidFill>
              </a:rPr>
              <a:t>C++</a:t>
            </a:r>
            <a:r>
              <a:rPr lang="ko-KR" altLang="en-US" sz="2800" dirty="0">
                <a:solidFill>
                  <a:schemeClr val="tx2"/>
                </a:solidFill>
              </a:rPr>
              <a:t>변환 및 메모리 재사용 구조 추가</a:t>
            </a:r>
            <a:endParaRPr lang="en-US" altLang="ko-KR" sz="2800" dirty="0">
              <a:solidFill>
                <a:schemeClr val="tx2"/>
              </a:solidFill>
            </a:endParaRPr>
          </a:p>
          <a:p>
            <a:pPr lvl="1"/>
            <a:r>
              <a:rPr lang="ko-KR" altLang="en-US" sz="2800" dirty="0">
                <a:solidFill>
                  <a:schemeClr val="tx2"/>
                </a:solidFill>
              </a:rPr>
              <a:t>개선된 </a:t>
            </a:r>
            <a:r>
              <a:rPr lang="en-US" altLang="ko-KR" sz="2800" dirty="0">
                <a:solidFill>
                  <a:schemeClr val="tx2"/>
                </a:solidFill>
              </a:rPr>
              <a:t>Descriptor </a:t>
            </a:r>
            <a:r>
              <a:rPr lang="ko-KR" altLang="en-US" sz="2800" dirty="0">
                <a:solidFill>
                  <a:schemeClr val="tx2"/>
                </a:solidFill>
              </a:rPr>
              <a:t>기반 동기화 방법 적용</a:t>
            </a:r>
            <a:endParaRPr lang="en-US" altLang="ko-KR" sz="2800" dirty="0">
              <a:solidFill>
                <a:schemeClr val="tx2"/>
              </a:solidFill>
            </a:endParaRPr>
          </a:p>
          <a:p>
            <a:pPr lvl="1"/>
            <a:r>
              <a:rPr lang="ko-KR" altLang="en-US" sz="2800" dirty="0">
                <a:solidFill>
                  <a:schemeClr val="tx2"/>
                </a:solidFill>
              </a:rPr>
              <a:t>성능 문제가 있는 기존 </a:t>
            </a:r>
            <a:r>
              <a:rPr lang="en-US" altLang="ko-KR" sz="2800" dirty="0">
                <a:solidFill>
                  <a:schemeClr val="tx2"/>
                </a:solidFill>
              </a:rPr>
              <a:t>NNS </a:t>
            </a:r>
            <a:r>
              <a:rPr lang="ko-KR" altLang="en-US" sz="2800" dirty="0">
                <a:solidFill>
                  <a:schemeClr val="tx2"/>
                </a:solidFill>
              </a:rPr>
              <a:t>동기화 방법 개선</a:t>
            </a:r>
            <a:endParaRPr lang="en-US" altLang="ko-KR" sz="2800" dirty="0">
              <a:solidFill>
                <a:schemeClr val="tx2"/>
              </a:solidFill>
            </a:endParaRPr>
          </a:p>
          <a:p>
            <a:endParaRPr lang="en-US" altLang="ko-KR" sz="3200" dirty="0">
              <a:solidFill>
                <a:schemeClr val="tx2"/>
              </a:solidFill>
            </a:endParaRPr>
          </a:p>
          <a:p>
            <a:r>
              <a:rPr lang="ko-KR" altLang="en-US" sz="3200" dirty="0">
                <a:solidFill>
                  <a:schemeClr val="tx2"/>
                </a:solidFill>
              </a:rPr>
              <a:t>성능 비교</a:t>
            </a:r>
            <a:endParaRPr lang="en-US" altLang="ko-KR" sz="3200" dirty="0">
              <a:solidFill>
                <a:schemeClr val="tx2"/>
              </a:solidFill>
            </a:endParaRPr>
          </a:p>
          <a:p>
            <a:pPr lvl="1"/>
            <a:r>
              <a:rPr lang="en-US" altLang="ko-KR" sz="2800" dirty="0">
                <a:solidFill>
                  <a:schemeClr val="tx2"/>
                </a:solidFill>
              </a:rPr>
              <a:t>Original JAVA, C++ </a:t>
            </a:r>
            <a:r>
              <a:rPr lang="ko-KR" altLang="en-US" sz="2800" dirty="0">
                <a:solidFill>
                  <a:schemeClr val="tx2"/>
                </a:solidFill>
              </a:rPr>
              <a:t>구현</a:t>
            </a:r>
            <a:r>
              <a:rPr lang="en-US" altLang="ko-KR" sz="2800" dirty="0">
                <a:solidFill>
                  <a:schemeClr val="tx2"/>
                </a:solidFill>
              </a:rPr>
              <a:t>, HD-Tree</a:t>
            </a:r>
          </a:p>
          <a:p>
            <a:pPr lvl="1"/>
            <a:r>
              <a:rPr lang="en-US" altLang="ko-KR" sz="2800" dirty="0">
                <a:solidFill>
                  <a:srgbClr val="44546A"/>
                </a:solidFill>
              </a:rPr>
              <a:t>Read/Write </a:t>
            </a:r>
            <a:r>
              <a:rPr lang="ko-KR" altLang="en-US" sz="2800" dirty="0">
                <a:solidFill>
                  <a:srgbClr val="44546A"/>
                </a:solidFill>
              </a:rPr>
              <a:t>비율과 </a:t>
            </a:r>
            <a:r>
              <a:rPr lang="en-US" altLang="ko-KR" sz="2800" dirty="0">
                <a:solidFill>
                  <a:srgbClr val="44546A"/>
                </a:solidFill>
              </a:rPr>
              <a:t>Key range</a:t>
            </a:r>
            <a:r>
              <a:rPr lang="ko-KR" altLang="en-US" sz="2800" dirty="0">
                <a:solidFill>
                  <a:srgbClr val="44546A"/>
                </a:solidFill>
              </a:rPr>
              <a:t>를 조정해가며 성능비교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727F2-3A90-4FCD-BC60-B50DA738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144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44546A"/>
                </a:solidFill>
              </a:rPr>
              <a:t>관련연구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solidFill>
                  <a:srgbClr val="44546A"/>
                </a:solidFill>
              </a:rPr>
              <a:t>LF NNS KD-Tree</a:t>
            </a:r>
          </a:p>
          <a:p>
            <a:pPr lvl="1"/>
            <a:r>
              <a:rPr lang="en-US" altLang="ko-KR" sz="2800" dirty="0">
                <a:solidFill>
                  <a:srgbClr val="44546A"/>
                </a:solidFill>
              </a:rPr>
              <a:t>“Concurrent Linearizable Nearest </a:t>
            </a:r>
            <a:r>
              <a:rPr lang="en-US" altLang="ko-KR" sz="2800" dirty="0" err="1">
                <a:solidFill>
                  <a:srgbClr val="44546A"/>
                </a:solidFill>
              </a:rPr>
              <a:t>Neighbour</a:t>
            </a:r>
            <a:r>
              <a:rPr lang="en-US" altLang="ko-KR" sz="2800" dirty="0">
                <a:solidFill>
                  <a:srgbClr val="44546A"/>
                </a:solidFill>
              </a:rPr>
              <a:t> Search in Lock Free KD-tree “, 2018</a:t>
            </a:r>
          </a:p>
          <a:p>
            <a:r>
              <a:rPr lang="en-US" altLang="ko-KR" sz="3200" dirty="0">
                <a:solidFill>
                  <a:srgbClr val="44546A"/>
                </a:solidFill>
              </a:rPr>
              <a:t>FEAST</a:t>
            </a:r>
          </a:p>
          <a:p>
            <a:pPr lvl="1"/>
            <a:r>
              <a:rPr lang="en-US" altLang="ko-KR" sz="2800" dirty="0">
                <a:solidFill>
                  <a:srgbClr val="44546A"/>
                </a:solidFill>
              </a:rPr>
              <a:t>“FEAST: A Lightweight Lock Free Concurrent Binary Search Tree”</a:t>
            </a:r>
            <a:r>
              <a:rPr lang="en-US" altLang="ko-KR" sz="3200" dirty="0">
                <a:solidFill>
                  <a:srgbClr val="44546A"/>
                </a:solidFill>
              </a:rPr>
              <a:t> , 2020</a:t>
            </a:r>
          </a:p>
          <a:p>
            <a:r>
              <a:rPr lang="en-US" altLang="ko-KR" sz="3200" dirty="0">
                <a:solidFill>
                  <a:schemeClr val="tx2"/>
                </a:solidFill>
              </a:rPr>
              <a:t>Epoch Based memory Reclamation (</a:t>
            </a:r>
            <a:r>
              <a:rPr lang="en-US" altLang="ko-KR" sz="3200" dirty="0">
                <a:solidFill>
                  <a:srgbClr val="44546A"/>
                </a:solidFill>
              </a:rPr>
              <a:t>EBR)</a:t>
            </a:r>
          </a:p>
          <a:p>
            <a:pPr lvl="1"/>
            <a:r>
              <a:rPr lang="en-US" altLang="ko-KR" sz="2800" dirty="0">
                <a:solidFill>
                  <a:schemeClr val="tx2"/>
                </a:solidFill>
              </a:rPr>
              <a:t>“</a:t>
            </a:r>
            <a:r>
              <a:rPr lang="en-US" altLang="ko-KR" sz="2800" dirty="0">
                <a:solidFill>
                  <a:srgbClr val="44546A"/>
                </a:solidFill>
              </a:rPr>
              <a:t>Interval-Based Memory Reclamation</a:t>
            </a:r>
            <a:r>
              <a:rPr lang="en-US" altLang="ko-KR" sz="2800" dirty="0">
                <a:solidFill>
                  <a:schemeClr val="tx2"/>
                </a:solidFill>
              </a:rPr>
              <a:t>”, 2018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727F2-3A90-4FCD-BC60-B50DA738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06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4546A"/>
                </a:solidFill>
              </a:rPr>
              <a:t>LF NNS KD-Tree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3200" dirty="0">
                <a:solidFill>
                  <a:srgbClr val="44546A"/>
                </a:solidFill>
              </a:rPr>
              <a:t>Descriptor </a:t>
            </a:r>
            <a:r>
              <a:rPr lang="ko-KR" altLang="en-US" sz="3200" dirty="0">
                <a:solidFill>
                  <a:srgbClr val="44546A"/>
                </a:solidFill>
              </a:rPr>
              <a:t>기반 동기화</a:t>
            </a:r>
            <a:endParaRPr lang="en-US" altLang="ko-KR" sz="3200" dirty="0">
              <a:solidFill>
                <a:srgbClr val="44546A"/>
              </a:solidFill>
            </a:endParaRPr>
          </a:p>
          <a:p>
            <a:pPr lvl="1"/>
            <a:r>
              <a:rPr lang="en-US" altLang="ko-KR" sz="2800" dirty="0">
                <a:solidFill>
                  <a:srgbClr val="44546A"/>
                </a:solidFill>
              </a:rPr>
              <a:t>3</a:t>
            </a:r>
            <a:r>
              <a:rPr lang="ko-KR" altLang="en-US" sz="2800" dirty="0">
                <a:solidFill>
                  <a:srgbClr val="44546A"/>
                </a:solidFill>
              </a:rPr>
              <a:t>개의 </a:t>
            </a:r>
            <a:r>
              <a:rPr lang="en-US" altLang="ko-KR" sz="2800" i="0" dirty="0">
                <a:solidFill>
                  <a:srgbClr val="44546A"/>
                </a:solidFill>
                <a:effectLst/>
              </a:rPr>
              <a:t>descriptor</a:t>
            </a:r>
            <a:r>
              <a:rPr lang="ko-KR" altLang="en-US" sz="2800" i="0" dirty="0">
                <a:solidFill>
                  <a:srgbClr val="44546A"/>
                </a:solidFill>
                <a:effectLst/>
              </a:rPr>
              <a:t>를 이용한 동기화 방법 사용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</a:rPr>
              <a:t>지워야 하는 노드가 결정되면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해당 노드의 </a:t>
            </a:r>
            <a:r>
              <a:rPr lang="en-US" altLang="ko-KR" sz="2400" dirty="0">
                <a:solidFill>
                  <a:srgbClr val="44546A"/>
                </a:solidFill>
              </a:rPr>
              <a:t>LSB</a:t>
            </a:r>
            <a:r>
              <a:rPr lang="ko-KR" altLang="en-US" sz="2400" dirty="0">
                <a:solidFill>
                  <a:srgbClr val="44546A"/>
                </a:solidFill>
              </a:rPr>
              <a:t>에 </a:t>
            </a:r>
            <a:r>
              <a:rPr lang="en-US" altLang="ko-KR" sz="2400" dirty="0">
                <a:solidFill>
                  <a:srgbClr val="44546A"/>
                </a:solidFill>
              </a:rPr>
              <a:t>mark</a:t>
            </a:r>
            <a:r>
              <a:rPr lang="ko-KR" altLang="en-US" sz="2400" dirty="0">
                <a:solidFill>
                  <a:srgbClr val="44546A"/>
                </a:solidFill>
              </a:rPr>
              <a:t>표시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부모 노드의 </a:t>
            </a:r>
            <a:r>
              <a:rPr lang="en-US" altLang="ko-KR" sz="2400" dirty="0">
                <a:solidFill>
                  <a:srgbClr val="44546A"/>
                </a:solidFill>
              </a:rPr>
              <a:t>LSB</a:t>
            </a:r>
            <a:r>
              <a:rPr lang="ko-KR" altLang="en-US" sz="2400" dirty="0">
                <a:solidFill>
                  <a:srgbClr val="44546A"/>
                </a:solidFill>
              </a:rPr>
              <a:t>에 </a:t>
            </a:r>
            <a:r>
              <a:rPr lang="en-US" altLang="ko-KR" sz="2400" dirty="0">
                <a:solidFill>
                  <a:srgbClr val="44546A"/>
                </a:solidFill>
              </a:rPr>
              <a:t>tag</a:t>
            </a:r>
            <a:r>
              <a:rPr lang="ko-KR" altLang="en-US" sz="2400" dirty="0">
                <a:solidFill>
                  <a:srgbClr val="44546A"/>
                </a:solidFill>
              </a:rPr>
              <a:t>표시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형제 노드의 </a:t>
            </a:r>
            <a:r>
              <a:rPr lang="en-US" altLang="ko-KR" sz="2400" dirty="0">
                <a:solidFill>
                  <a:srgbClr val="44546A"/>
                </a:solidFill>
              </a:rPr>
              <a:t>LSB</a:t>
            </a:r>
            <a:r>
              <a:rPr lang="ko-KR" altLang="en-US" sz="2400" dirty="0">
                <a:solidFill>
                  <a:srgbClr val="44546A"/>
                </a:solidFill>
              </a:rPr>
              <a:t>에 </a:t>
            </a:r>
            <a:r>
              <a:rPr lang="en-US" altLang="ko-KR" sz="2400" dirty="0">
                <a:solidFill>
                  <a:srgbClr val="44546A"/>
                </a:solidFill>
              </a:rPr>
              <a:t>flag</a:t>
            </a:r>
            <a:r>
              <a:rPr lang="ko-KR" altLang="en-US" sz="2400" dirty="0">
                <a:solidFill>
                  <a:srgbClr val="44546A"/>
                </a:solidFill>
              </a:rPr>
              <a:t>표시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</a:rPr>
              <a:t>모든 표시가 완료되면 노드 재조정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</a:rPr>
              <a:t>각각의 단계에서 </a:t>
            </a:r>
            <a:r>
              <a:rPr lang="en-US" altLang="ko-KR" sz="2800" dirty="0">
                <a:solidFill>
                  <a:srgbClr val="44546A"/>
                </a:solidFill>
              </a:rPr>
              <a:t>mark</a:t>
            </a:r>
            <a:r>
              <a:rPr lang="ko-KR" altLang="en-US" sz="2800" dirty="0">
                <a:solidFill>
                  <a:srgbClr val="44546A"/>
                </a:solidFill>
              </a:rPr>
              <a:t>표시를 제외한 나머지는 한 번만 시도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후처리는 검색도중 발견될 경우에 시도한다</a:t>
            </a:r>
            <a:r>
              <a:rPr lang="en-US" altLang="ko-KR" sz="2400" dirty="0">
                <a:solidFill>
                  <a:srgbClr val="44546A"/>
                </a:solidFill>
              </a:rPr>
              <a:t>.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875F3-F22E-4423-B4F2-262BAE70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1319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4546A"/>
                </a:solidFill>
              </a:rPr>
              <a:t>LF NNS KD-Tree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5009472-6F89-4536-B907-E0E53D1A8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915151" cy="922666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Lock-Free NNS</a:t>
            </a:r>
          </a:p>
          <a:p>
            <a:pPr lvl="1"/>
            <a:r>
              <a:rPr lang="en-US" altLang="ko-KR" dirty="0">
                <a:solidFill>
                  <a:srgbClr val="44546A"/>
                </a:solidFill>
              </a:rPr>
              <a:t>Nearest Neighbor Collector (NNC) list </a:t>
            </a:r>
            <a:r>
              <a:rPr lang="ko-KR" altLang="en-US" dirty="0">
                <a:solidFill>
                  <a:srgbClr val="44546A"/>
                </a:solidFill>
              </a:rPr>
              <a:t>사용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7219BC-72CA-4E76-8DB0-354E8E90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B31411A-FEC9-47DB-9077-C94D550D793A}"/>
              </a:ext>
            </a:extLst>
          </p:cNvPr>
          <p:cNvSpPr/>
          <p:nvPr/>
        </p:nvSpPr>
        <p:spPr>
          <a:xfrm>
            <a:off x="5827660" y="3974812"/>
            <a:ext cx="305991" cy="26893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94544C6-4563-4FD8-AA83-2F5E362FEEF0}"/>
              </a:ext>
            </a:extLst>
          </p:cNvPr>
          <p:cNvSpPr/>
          <p:nvPr/>
        </p:nvSpPr>
        <p:spPr>
          <a:xfrm>
            <a:off x="5920822" y="3589810"/>
            <a:ext cx="629003" cy="26893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target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F574E0B-4789-4C0B-AC37-BC107361B74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6235324" y="3858741"/>
            <a:ext cx="268151" cy="11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7E375B0-53A9-493C-B287-75004C3814D4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 flipH="1">
            <a:off x="5980656" y="3858741"/>
            <a:ext cx="254668" cy="11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A0161F64-04FE-4BDB-90F0-1B8DF675E4F3}"/>
              </a:ext>
            </a:extLst>
          </p:cNvPr>
          <p:cNvSpPr/>
          <p:nvPr/>
        </p:nvSpPr>
        <p:spPr>
          <a:xfrm>
            <a:off x="6350479" y="3974813"/>
            <a:ext cx="305991" cy="26893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D7BFB78-0CF7-41DC-B1E8-59036591EDE9}"/>
              </a:ext>
            </a:extLst>
          </p:cNvPr>
          <p:cNvSpPr/>
          <p:nvPr/>
        </p:nvSpPr>
        <p:spPr>
          <a:xfrm>
            <a:off x="2500873" y="3587615"/>
            <a:ext cx="629003" cy="2757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Head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38ECA50-9638-4B98-B6C6-3275E0F018D1}"/>
              </a:ext>
            </a:extLst>
          </p:cNvPr>
          <p:cNvSpPr/>
          <p:nvPr/>
        </p:nvSpPr>
        <p:spPr>
          <a:xfrm>
            <a:off x="3333983" y="3582962"/>
            <a:ext cx="629003" cy="2757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Tail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36DFD04-58A2-4BC5-BF73-BCA13E1FD9F4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3129876" y="3720852"/>
            <a:ext cx="204107" cy="4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8B4A221-F496-4C37-B47A-20FE35F85A1D}"/>
              </a:ext>
            </a:extLst>
          </p:cNvPr>
          <p:cNvSpPr/>
          <p:nvPr/>
        </p:nvSpPr>
        <p:spPr>
          <a:xfrm>
            <a:off x="5087712" y="3586386"/>
            <a:ext cx="629003" cy="2757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Head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8521AAC-8559-47C3-8D16-1D6287E35F8D}"/>
              </a:ext>
            </a:extLst>
          </p:cNvPr>
          <p:cNvSpPr/>
          <p:nvPr/>
        </p:nvSpPr>
        <p:spPr>
          <a:xfrm>
            <a:off x="6754614" y="3582962"/>
            <a:ext cx="629003" cy="2757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Tail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210904C-40A1-4898-880A-A827E13D2866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>
            <a:off x="5716715" y="3724276"/>
            <a:ext cx="2041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5EC86E9-AB2E-48E5-99A2-72F4F9D65158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6549825" y="3720852"/>
            <a:ext cx="204789" cy="3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A2A241D-E6D8-46FC-A97A-DFDCEA3DE817}"/>
              </a:ext>
            </a:extLst>
          </p:cNvPr>
          <p:cNvSpPr/>
          <p:nvPr/>
        </p:nvSpPr>
        <p:spPr>
          <a:xfrm>
            <a:off x="8509717" y="3587615"/>
            <a:ext cx="629003" cy="2757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Head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5F4813B-AE85-453B-8813-3EC974386A58}"/>
              </a:ext>
            </a:extLst>
          </p:cNvPr>
          <p:cNvSpPr/>
          <p:nvPr/>
        </p:nvSpPr>
        <p:spPr>
          <a:xfrm>
            <a:off x="9343509" y="3582962"/>
            <a:ext cx="629003" cy="2757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Tail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8134B46-C0D9-4A37-A409-5611F786BB45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9138720" y="3720852"/>
            <a:ext cx="204789" cy="4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0B9DA7BF-91E2-410F-872E-363D95D225EA}"/>
              </a:ext>
            </a:extLst>
          </p:cNvPr>
          <p:cNvSpPr/>
          <p:nvPr/>
        </p:nvSpPr>
        <p:spPr>
          <a:xfrm>
            <a:off x="4371667" y="3590808"/>
            <a:ext cx="305991" cy="2679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41ED06-875C-4780-89F8-AD090B102985}"/>
              </a:ext>
            </a:extLst>
          </p:cNvPr>
          <p:cNvSpPr/>
          <p:nvPr/>
        </p:nvSpPr>
        <p:spPr>
          <a:xfrm>
            <a:off x="3849236" y="5228051"/>
            <a:ext cx="1272862" cy="2689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Contains()</a:t>
            </a:r>
            <a:endParaRPr lang="ko-KR" altLang="en-US" sz="12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F9FC36D-BA9A-4BA8-A3F9-DA0EC235D981}"/>
              </a:ext>
            </a:extLst>
          </p:cNvPr>
          <p:cNvCxnSpPr>
            <a:cxnSpLocks/>
          </p:cNvCxnSpPr>
          <p:nvPr/>
        </p:nvCxnSpPr>
        <p:spPr>
          <a:xfrm>
            <a:off x="2488446" y="3429000"/>
            <a:ext cx="749375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E5936A18-2BF3-4C64-8916-BD166329E905}"/>
              </a:ext>
            </a:extLst>
          </p:cNvPr>
          <p:cNvSpPr/>
          <p:nvPr/>
        </p:nvSpPr>
        <p:spPr>
          <a:xfrm>
            <a:off x="7792513" y="3590808"/>
            <a:ext cx="305991" cy="2679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5AC8513-9075-4F65-BA57-81870D796506}"/>
              </a:ext>
            </a:extLst>
          </p:cNvPr>
          <p:cNvCxnSpPr>
            <a:cxnSpLocks/>
          </p:cNvCxnSpPr>
          <p:nvPr/>
        </p:nvCxnSpPr>
        <p:spPr>
          <a:xfrm>
            <a:off x="4524662" y="4457700"/>
            <a:ext cx="34208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4E99407-E2B0-4159-A9F2-5B8A0C966C86}"/>
              </a:ext>
            </a:extLst>
          </p:cNvPr>
          <p:cNvSpPr txBox="1"/>
          <p:nvPr/>
        </p:nvSpPr>
        <p:spPr>
          <a:xfrm>
            <a:off x="2175735" y="3118191"/>
            <a:ext cx="6502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NNS</a:t>
            </a:r>
            <a:r>
              <a:rPr lang="ko-KR" altLang="en-US" sz="900" dirty="0"/>
              <a:t>시작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1D485E-32FF-42E7-A043-9B0E319AFE99}"/>
              </a:ext>
            </a:extLst>
          </p:cNvPr>
          <p:cNvSpPr txBox="1"/>
          <p:nvPr/>
        </p:nvSpPr>
        <p:spPr>
          <a:xfrm>
            <a:off x="9658010" y="3107420"/>
            <a:ext cx="6502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NNS</a:t>
            </a:r>
            <a:r>
              <a:rPr lang="ko-KR" altLang="en-US" sz="900" dirty="0"/>
              <a:t>종료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B3E4A3-5C1A-458C-B0D3-A0B58100A0A3}"/>
              </a:ext>
            </a:extLst>
          </p:cNvPr>
          <p:cNvSpPr txBox="1"/>
          <p:nvPr/>
        </p:nvSpPr>
        <p:spPr>
          <a:xfrm>
            <a:off x="4200749" y="3898612"/>
            <a:ext cx="745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NNC</a:t>
            </a:r>
            <a:r>
              <a:rPr lang="ko-KR" altLang="en-US" sz="900" dirty="0"/>
              <a:t>할당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5567F5-ADEA-4188-9942-0B1B4F4847A8}"/>
              </a:ext>
            </a:extLst>
          </p:cNvPr>
          <p:cNvSpPr txBox="1"/>
          <p:nvPr/>
        </p:nvSpPr>
        <p:spPr>
          <a:xfrm>
            <a:off x="7629889" y="3899786"/>
            <a:ext cx="7455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NNC</a:t>
            </a:r>
            <a:r>
              <a:rPr lang="ko-KR" altLang="en-US" sz="900" dirty="0"/>
              <a:t>제거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9E0A88-AD1C-4C22-A850-342445CD58F1}"/>
              </a:ext>
            </a:extLst>
          </p:cNvPr>
          <p:cNvSpPr txBox="1"/>
          <p:nvPr/>
        </p:nvSpPr>
        <p:spPr>
          <a:xfrm>
            <a:off x="5706486" y="4248478"/>
            <a:ext cx="10952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NNC</a:t>
            </a:r>
            <a:r>
              <a:rPr lang="ko-KR" altLang="en-US" sz="900" dirty="0"/>
              <a:t> </a:t>
            </a:r>
            <a:r>
              <a:rPr lang="en-US" altLang="ko-KR" sz="900" dirty="0"/>
              <a:t>active</a:t>
            </a:r>
            <a:r>
              <a:rPr lang="ko-KR" altLang="en-US" sz="900" dirty="0"/>
              <a:t> 기간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FB0CB2-ED7C-4EFB-9A3C-744A065E82E4}"/>
              </a:ext>
            </a:extLst>
          </p:cNvPr>
          <p:cNvSpPr txBox="1"/>
          <p:nvPr/>
        </p:nvSpPr>
        <p:spPr>
          <a:xfrm>
            <a:off x="1770047" y="3298195"/>
            <a:ext cx="811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Thread A</a:t>
            </a:r>
            <a:endParaRPr lang="ko-KR" altLang="en-US" sz="11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1BBC891-DB3B-440B-8062-ADF08EC5E588}"/>
              </a:ext>
            </a:extLst>
          </p:cNvPr>
          <p:cNvSpPr/>
          <p:nvPr/>
        </p:nvSpPr>
        <p:spPr>
          <a:xfrm>
            <a:off x="4677659" y="4488833"/>
            <a:ext cx="3075692" cy="2689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Collect()</a:t>
            </a:r>
            <a:endParaRPr lang="ko-KR" altLang="en-US" sz="12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66A8A8D-7C64-4A10-BE62-4F49CCE519C1}"/>
              </a:ext>
            </a:extLst>
          </p:cNvPr>
          <p:cNvCxnSpPr>
            <a:cxnSpLocks/>
          </p:cNvCxnSpPr>
          <p:nvPr/>
        </p:nvCxnSpPr>
        <p:spPr>
          <a:xfrm>
            <a:off x="2500873" y="5200650"/>
            <a:ext cx="749375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EAEAAA3-4399-45DA-B9A2-CE0B6563D0BD}"/>
              </a:ext>
            </a:extLst>
          </p:cNvPr>
          <p:cNvCxnSpPr>
            <a:cxnSpLocks/>
          </p:cNvCxnSpPr>
          <p:nvPr/>
        </p:nvCxnSpPr>
        <p:spPr>
          <a:xfrm>
            <a:off x="2500873" y="5667375"/>
            <a:ext cx="749375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EC55255-8675-4C45-9155-AB1FE6454477}"/>
              </a:ext>
            </a:extLst>
          </p:cNvPr>
          <p:cNvSpPr txBox="1"/>
          <p:nvPr/>
        </p:nvSpPr>
        <p:spPr>
          <a:xfrm>
            <a:off x="1770046" y="5073375"/>
            <a:ext cx="811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Thread B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221AAD-2C2B-4E36-A0D1-D42104120B13}"/>
              </a:ext>
            </a:extLst>
          </p:cNvPr>
          <p:cNvSpPr txBox="1"/>
          <p:nvPr/>
        </p:nvSpPr>
        <p:spPr>
          <a:xfrm>
            <a:off x="1770045" y="5565145"/>
            <a:ext cx="811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Thread C</a:t>
            </a:r>
            <a:endParaRPr lang="ko-KR" altLang="en-US" sz="11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8F7A39-472C-4E34-B109-52317A120A04}"/>
              </a:ext>
            </a:extLst>
          </p:cNvPr>
          <p:cNvSpPr/>
          <p:nvPr/>
        </p:nvSpPr>
        <p:spPr>
          <a:xfrm>
            <a:off x="3333983" y="5691080"/>
            <a:ext cx="2586839" cy="2689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Insert()</a:t>
            </a:r>
            <a:endParaRPr lang="ko-KR" altLang="en-US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2C2BFAE-485B-4692-B13A-018426B9E1B3}"/>
              </a:ext>
            </a:extLst>
          </p:cNvPr>
          <p:cNvSpPr/>
          <p:nvPr/>
        </p:nvSpPr>
        <p:spPr>
          <a:xfrm>
            <a:off x="6805584" y="5703112"/>
            <a:ext cx="1272862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Contains()</a:t>
            </a:r>
            <a:endParaRPr lang="ko-KR" altLang="en-US" sz="12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E7AAE45-B3CC-4FEB-8191-2C29E95FA447}"/>
              </a:ext>
            </a:extLst>
          </p:cNvPr>
          <p:cNvSpPr/>
          <p:nvPr/>
        </p:nvSpPr>
        <p:spPr>
          <a:xfrm>
            <a:off x="6188672" y="5226994"/>
            <a:ext cx="1272862" cy="2689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Contains()</a:t>
            </a:r>
            <a:endParaRPr lang="ko-KR" altLang="en-US" sz="1200" dirty="0"/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9F1E825-8E73-4629-82B5-80256E250865}"/>
              </a:ext>
            </a:extLst>
          </p:cNvPr>
          <p:cNvCxnSpPr>
            <a:cxnSpLocks/>
          </p:cNvCxnSpPr>
          <p:nvPr/>
        </p:nvCxnSpPr>
        <p:spPr>
          <a:xfrm>
            <a:off x="7461534" y="4457700"/>
            <a:ext cx="0" cy="10382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F714404D-E885-4016-B15B-1CABC2D454F3}"/>
              </a:ext>
            </a:extLst>
          </p:cNvPr>
          <p:cNvCxnSpPr>
            <a:cxnSpLocks/>
          </p:cNvCxnSpPr>
          <p:nvPr/>
        </p:nvCxnSpPr>
        <p:spPr>
          <a:xfrm>
            <a:off x="5122098" y="4457700"/>
            <a:ext cx="0" cy="10382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43650C3-73B6-485B-B1D6-6D05DA38648E}"/>
              </a:ext>
            </a:extLst>
          </p:cNvPr>
          <p:cNvCxnSpPr>
            <a:cxnSpLocks/>
          </p:cNvCxnSpPr>
          <p:nvPr/>
        </p:nvCxnSpPr>
        <p:spPr>
          <a:xfrm>
            <a:off x="5920822" y="4457700"/>
            <a:ext cx="0" cy="150231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461C1B7-A535-4DC4-AB91-2970DA9E908E}"/>
              </a:ext>
            </a:extLst>
          </p:cNvPr>
          <p:cNvSpPr txBox="1"/>
          <p:nvPr/>
        </p:nvSpPr>
        <p:spPr>
          <a:xfrm>
            <a:off x="7994104" y="4302165"/>
            <a:ext cx="13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CN</a:t>
            </a:r>
            <a:r>
              <a:rPr lang="ko-KR" altLang="en-US" sz="900" dirty="0"/>
              <a:t>와 </a:t>
            </a:r>
            <a:r>
              <a:rPr lang="en-US" altLang="ko-KR" sz="900" dirty="0"/>
              <a:t>RN</a:t>
            </a:r>
            <a:r>
              <a:rPr lang="ko-KR" altLang="en-US" sz="900" dirty="0"/>
              <a:t>중 </a:t>
            </a:r>
            <a:r>
              <a:rPr lang="en-US" altLang="ko-KR" sz="900" dirty="0"/>
              <a:t>target</a:t>
            </a:r>
            <a:r>
              <a:rPr lang="ko-KR" altLang="en-US" sz="900" dirty="0"/>
              <a:t>과 더 가까운 노드를 반환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6E4A4A9-A160-4223-B6F6-E67927895709}"/>
              </a:ext>
            </a:extLst>
          </p:cNvPr>
          <p:cNvCxnSpPr>
            <a:cxnSpLocks/>
          </p:cNvCxnSpPr>
          <p:nvPr/>
        </p:nvCxnSpPr>
        <p:spPr>
          <a:xfrm>
            <a:off x="7945508" y="4457700"/>
            <a:ext cx="0" cy="151434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608950D-7421-433D-A900-5C7C0763434C}"/>
              </a:ext>
            </a:extLst>
          </p:cNvPr>
          <p:cNvGrpSpPr/>
          <p:nvPr/>
        </p:nvGrpSpPr>
        <p:grpSpPr>
          <a:xfrm>
            <a:off x="2518026" y="4172280"/>
            <a:ext cx="1522664" cy="728861"/>
            <a:chOff x="2826010" y="4249539"/>
            <a:chExt cx="1443889" cy="728861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BF53193-1902-4D31-B26C-F8393692E03A}"/>
                </a:ext>
              </a:extLst>
            </p:cNvPr>
            <p:cNvSpPr/>
            <p:nvPr/>
          </p:nvSpPr>
          <p:spPr>
            <a:xfrm>
              <a:off x="2886863" y="4309997"/>
              <a:ext cx="335229" cy="16302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7AF1751-4753-46D4-84A8-DD2C245855BF}"/>
                </a:ext>
              </a:extLst>
            </p:cNvPr>
            <p:cNvSpPr/>
            <p:nvPr/>
          </p:nvSpPr>
          <p:spPr>
            <a:xfrm>
              <a:off x="2886863" y="4534926"/>
              <a:ext cx="335229" cy="163023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88214A0-BA12-424E-8B61-2D0A318BBB1A}"/>
                </a:ext>
              </a:extLst>
            </p:cNvPr>
            <p:cNvSpPr txBox="1"/>
            <p:nvPr/>
          </p:nvSpPr>
          <p:spPr>
            <a:xfrm>
              <a:off x="3180732" y="4267017"/>
              <a:ext cx="103007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Update Node CN</a:t>
              </a:r>
              <a:endParaRPr lang="ko-KR" altLang="en-US" sz="9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DD306FC-69F1-4100-B7A6-6F3FBF5928DE}"/>
                </a:ext>
              </a:extLst>
            </p:cNvPr>
            <p:cNvSpPr txBox="1"/>
            <p:nvPr/>
          </p:nvSpPr>
          <p:spPr>
            <a:xfrm>
              <a:off x="3184031" y="4497513"/>
              <a:ext cx="10858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Update Node RN</a:t>
              </a:r>
              <a:endParaRPr lang="ko-KR" altLang="en-US" sz="900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BBD7CE-51BD-42EF-86E1-904BECF246BB}"/>
                </a:ext>
              </a:extLst>
            </p:cNvPr>
            <p:cNvSpPr/>
            <p:nvPr/>
          </p:nvSpPr>
          <p:spPr>
            <a:xfrm>
              <a:off x="2826010" y="4249539"/>
              <a:ext cx="1338714" cy="72886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F32C11-CE28-4AB1-B5F5-67919E63ED30}"/>
                </a:ext>
              </a:extLst>
            </p:cNvPr>
            <p:cNvSpPr txBox="1"/>
            <p:nvPr/>
          </p:nvSpPr>
          <p:spPr>
            <a:xfrm>
              <a:off x="3201626" y="4722007"/>
              <a:ext cx="8916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Call Sync()</a:t>
              </a:r>
              <a:endParaRPr lang="ko-KR" altLang="en-US" sz="900" dirty="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38E7D69-7746-4C3A-A8F4-028CECADBC7B}"/>
                </a:ext>
              </a:extLst>
            </p:cNvPr>
            <p:cNvCxnSpPr>
              <a:cxnSpLocks/>
              <a:stCxn id="53" idx="1"/>
            </p:cNvCxnSpPr>
            <p:nvPr/>
          </p:nvCxnSpPr>
          <p:spPr>
            <a:xfrm flipH="1">
              <a:off x="2886864" y="4837423"/>
              <a:ext cx="31476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EF98A9D-D510-4AB5-ABE0-D8B3EF378F62}"/>
              </a:ext>
            </a:extLst>
          </p:cNvPr>
          <p:cNvSpPr txBox="1"/>
          <p:nvPr/>
        </p:nvSpPr>
        <p:spPr>
          <a:xfrm>
            <a:off x="5800927" y="3989183"/>
            <a:ext cx="379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CN</a:t>
            </a:r>
            <a:endParaRPr lang="ko-KR" altLang="en-US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226CDA-74ED-4684-9819-92F10B2249D4}"/>
              </a:ext>
            </a:extLst>
          </p:cNvPr>
          <p:cNvSpPr txBox="1"/>
          <p:nvPr/>
        </p:nvSpPr>
        <p:spPr>
          <a:xfrm>
            <a:off x="6313867" y="3993425"/>
            <a:ext cx="379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RN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84675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4546A"/>
                </a:solidFill>
              </a:rPr>
              <a:t>LF NNS KD-Tree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C++ </a:t>
            </a:r>
            <a:r>
              <a:rPr lang="ko-KR" altLang="en-US" dirty="0">
                <a:solidFill>
                  <a:srgbClr val="44546A"/>
                </a:solidFill>
              </a:rPr>
              <a:t>구현</a:t>
            </a:r>
            <a:r>
              <a:rPr lang="en-US" altLang="ko-KR" dirty="0">
                <a:solidFill>
                  <a:srgbClr val="44546A"/>
                </a:solidFill>
              </a:rPr>
              <a:t> </a:t>
            </a:r>
            <a:r>
              <a:rPr lang="ko-KR" altLang="en-US" dirty="0">
                <a:solidFill>
                  <a:srgbClr val="44546A"/>
                </a:solidFill>
              </a:rPr>
              <a:t>문제점</a:t>
            </a:r>
            <a:endParaRPr lang="en-US" altLang="ko-KR" sz="2800" dirty="0">
              <a:solidFill>
                <a:schemeClr val="tx2"/>
              </a:solidFill>
            </a:endParaRPr>
          </a:p>
          <a:p>
            <a:pPr lvl="1"/>
            <a:r>
              <a:rPr lang="ko-KR" altLang="en-US" dirty="0">
                <a:solidFill>
                  <a:schemeClr val="tx2"/>
                </a:solidFill>
              </a:rPr>
              <a:t>성능을 위해서는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가 아닌 </a:t>
            </a:r>
            <a:r>
              <a:rPr lang="en-US" altLang="ko-KR" dirty="0">
                <a:solidFill>
                  <a:schemeClr val="tx2"/>
                </a:solidFill>
              </a:rPr>
              <a:t>C++</a:t>
            </a:r>
            <a:r>
              <a:rPr lang="ko-KR" altLang="en-US" dirty="0">
                <a:solidFill>
                  <a:schemeClr val="tx2"/>
                </a:solidFill>
              </a:rPr>
              <a:t>로 구현되어야 한다</a:t>
            </a:r>
            <a:r>
              <a:rPr lang="en-US" altLang="ko-KR" dirty="0">
                <a:solidFill>
                  <a:schemeClr val="tx2"/>
                </a:solidFill>
              </a:rPr>
              <a:t>. </a:t>
            </a:r>
          </a:p>
          <a:p>
            <a:pPr lvl="1"/>
            <a:endParaRPr lang="en-US" altLang="ko-KR" dirty="0">
              <a:solidFill>
                <a:schemeClr val="tx2"/>
              </a:solidFill>
            </a:endParaRPr>
          </a:p>
          <a:p>
            <a:pPr lvl="1"/>
            <a:r>
              <a:rPr lang="en-US" altLang="ko-KR" dirty="0">
                <a:solidFill>
                  <a:schemeClr val="tx2"/>
                </a:solidFill>
              </a:rPr>
              <a:t>LF</a:t>
            </a:r>
            <a:r>
              <a:rPr lang="ko-KR" altLang="en-US" dirty="0">
                <a:solidFill>
                  <a:schemeClr val="tx2"/>
                </a:solidFill>
              </a:rPr>
              <a:t> </a:t>
            </a:r>
            <a:r>
              <a:rPr lang="en-US" altLang="ko-KR" dirty="0">
                <a:solidFill>
                  <a:schemeClr val="tx2"/>
                </a:solidFill>
              </a:rPr>
              <a:t>NNS KD-Tree </a:t>
            </a:r>
            <a:r>
              <a:rPr lang="ko-KR" altLang="en-US" dirty="0">
                <a:solidFill>
                  <a:schemeClr val="tx2"/>
                </a:solidFill>
              </a:rPr>
              <a:t>논문에서 제공하는 샘플 코드는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로 구현되어 있기 때문에 </a:t>
            </a:r>
            <a:r>
              <a:rPr lang="en-US" altLang="ko-KR" dirty="0">
                <a:solidFill>
                  <a:schemeClr val="tx2"/>
                </a:solidFill>
              </a:rPr>
              <a:t>C++</a:t>
            </a:r>
            <a:r>
              <a:rPr lang="ko-KR" altLang="en-US" dirty="0">
                <a:solidFill>
                  <a:schemeClr val="tx2"/>
                </a:solidFill>
              </a:rPr>
              <a:t>에 필요한 메모리 관리에 대한 내용이 없다</a:t>
            </a:r>
            <a:r>
              <a:rPr lang="en-US" altLang="ko-KR" dirty="0">
                <a:solidFill>
                  <a:schemeClr val="tx2"/>
                </a:solidFill>
              </a:rPr>
              <a:t>. </a:t>
            </a:r>
          </a:p>
          <a:p>
            <a:pPr lvl="2"/>
            <a:r>
              <a:rPr lang="ko-KR" altLang="en-US" dirty="0">
                <a:solidFill>
                  <a:schemeClr val="tx2"/>
                </a:solidFill>
              </a:rPr>
              <a:t>모든 메모리 관리를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의 </a:t>
            </a:r>
            <a:r>
              <a:rPr lang="en-US" altLang="ko-KR" dirty="0">
                <a:solidFill>
                  <a:schemeClr val="tx2"/>
                </a:solidFill>
              </a:rPr>
              <a:t>garbage collection</a:t>
            </a:r>
            <a:r>
              <a:rPr lang="ko-KR" altLang="en-US" dirty="0">
                <a:solidFill>
                  <a:schemeClr val="tx2"/>
                </a:solidFill>
              </a:rPr>
              <a:t>에 의존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endParaRPr lang="en-US" altLang="ko-KR" dirty="0">
              <a:solidFill>
                <a:schemeClr val="tx2"/>
              </a:solidFill>
            </a:endParaRPr>
          </a:p>
          <a:p>
            <a:pPr lvl="1"/>
            <a:r>
              <a:rPr lang="en-US" altLang="ko-KR" dirty="0">
                <a:solidFill>
                  <a:schemeClr val="tx2"/>
                </a:solidFill>
              </a:rPr>
              <a:t>NNS </a:t>
            </a:r>
            <a:r>
              <a:rPr lang="ko-KR" altLang="en-US" dirty="0">
                <a:solidFill>
                  <a:schemeClr val="tx2"/>
                </a:solidFill>
              </a:rPr>
              <a:t>알고리즘을 그대로 </a:t>
            </a:r>
            <a:r>
              <a:rPr lang="en-US" altLang="ko-KR" dirty="0">
                <a:solidFill>
                  <a:schemeClr val="tx2"/>
                </a:solidFill>
              </a:rPr>
              <a:t>C++</a:t>
            </a:r>
            <a:r>
              <a:rPr lang="ko-KR" altLang="en-US" dirty="0">
                <a:solidFill>
                  <a:schemeClr val="tx2"/>
                </a:solidFill>
              </a:rPr>
              <a:t>로 구현할 경우</a:t>
            </a:r>
            <a:r>
              <a:rPr lang="en-US" altLang="ko-KR" dirty="0">
                <a:solidFill>
                  <a:schemeClr val="tx2"/>
                </a:solidFill>
              </a:rPr>
              <a:t>, </a:t>
            </a:r>
            <a:r>
              <a:rPr lang="ko-KR" altLang="en-US" dirty="0">
                <a:solidFill>
                  <a:schemeClr val="tx2"/>
                </a:solidFill>
              </a:rPr>
              <a:t>알고리즘에서 사용하는 자료구조의 비활성화된 노드의 제거가 제대로 되지 않아 시간이 흐를수록 검색시간이 증가하여 실행시간이 길어질수록 성능이 감소한다</a:t>
            </a:r>
            <a:r>
              <a:rPr lang="en-US" altLang="ko-KR" dirty="0">
                <a:solidFill>
                  <a:schemeClr val="tx2"/>
                </a:solidFill>
              </a:rPr>
              <a:t>.</a:t>
            </a:r>
          </a:p>
          <a:p>
            <a:pPr lvl="1"/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875F3-F22E-4423-B4F2-262BAE70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2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4546A"/>
                </a:solidFill>
              </a:rPr>
              <a:t>FEAST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3200" dirty="0">
                <a:solidFill>
                  <a:srgbClr val="44546A"/>
                </a:solidFill>
              </a:rPr>
              <a:t>Descriptor </a:t>
            </a:r>
            <a:r>
              <a:rPr lang="ko-KR" altLang="en-US" sz="3200" dirty="0">
                <a:solidFill>
                  <a:srgbClr val="44546A"/>
                </a:solidFill>
              </a:rPr>
              <a:t>기반 동기화</a:t>
            </a:r>
            <a:endParaRPr lang="en-US" altLang="ko-KR" sz="3200" dirty="0">
              <a:solidFill>
                <a:srgbClr val="44546A"/>
              </a:solidFill>
            </a:endParaRPr>
          </a:p>
          <a:p>
            <a:pPr lvl="1"/>
            <a:r>
              <a:rPr lang="en-US" altLang="ko-KR" sz="2800" dirty="0">
                <a:solidFill>
                  <a:srgbClr val="44546A"/>
                </a:solidFill>
              </a:rPr>
              <a:t>2</a:t>
            </a:r>
            <a:r>
              <a:rPr lang="ko-KR" altLang="en-US" sz="2800" dirty="0">
                <a:solidFill>
                  <a:srgbClr val="44546A"/>
                </a:solidFill>
              </a:rPr>
              <a:t>개의 </a:t>
            </a:r>
            <a:r>
              <a:rPr lang="en-US" altLang="ko-KR" sz="2800" i="0" dirty="0">
                <a:solidFill>
                  <a:srgbClr val="44546A"/>
                </a:solidFill>
                <a:effectLst/>
              </a:rPr>
              <a:t>descriptor</a:t>
            </a:r>
            <a:r>
              <a:rPr lang="ko-KR" altLang="en-US" sz="2800" i="0" dirty="0">
                <a:solidFill>
                  <a:srgbClr val="44546A"/>
                </a:solidFill>
                <a:effectLst/>
              </a:rPr>
              <a:t>를 이용한 동기화</a:t>
            </a:r>
            <a:r>
              <a:rPr lang="en-US" altLang="ko-KR" sz="2800" i="0" dirty="0">
                <a:solidFill>
                  <a:srgbClr val="44546A"/>
                </a:solidFill>
                <a:effectLst/>
              </a:rPr>
              <a:t> </a:t>
            </a:r>
            <a:r>
              <a:rPr lang="ko-KR" altLang="en-US" sz="2800" i="0" dirty="0">
                <a:solidFill>
                  <a:srgbClr val="44546A"/>
                </a:solidFill>
                <a:effectLst/>
              </a:rPr>
              <a:t>방법 사용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</a:rPr>
              <a:t>지워야 하는 노드가 결정되면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해당 노드의 </a:t>
            </a:r>
            <a:r>
              <a:rPr lang="en-US" altLang="ko-KR" sz="2400" dirty="0">
                <a:solidFill>
                  <a:srgbClr val="44546A"/>
                </a:solidFill>
              </a:rPr>
              <a:t>LSB</a:t>
            </a:r>
            <a:r>
              <a:rPr lang="ko-KR" altLang="en-US" sz="2400" dirty="0">
                <a:solidFill>
                  <a:srgbClr val="44546A"/>
                </a:solidFill>
              </a:rPr>
              <a:t>에 </a:t>
            </a:r>
            <a:r>
              <a:rPr lang="en-US" altLang="ko-KR" sz="2400" dirty="0">
                <a:solidFill>
                  <a:srgbClr val="44546A"/>
                </a:solidFill>
              </a:rPr>
              <a:t>mark</a:t>
            </a:r>
            <a:r>
              <a:rPr lang="ko-KR" altLang="en-US" sz="2400" dirty="0">
                <a:solidFill>
                  <a:srgbClr val="44546A"/>
                </a:solidFill>
              </a:rPr>
              <a:t>표시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형제 노드의 </a:t>
            </a:r>
            <a:r>
              <a:rPr lang="en-US" altLang="ko-KR" sz="2400" dirty="0">
                <a:solidFill>
                  <a:srgbClr val="44546A"/>
                </a:solidFill>
              </a:rPr>
              <a:t>LSB</a:t>
            </a:r>
            <a:r>
              <a:rPr lang="ko-KR" altLang="en-US" sz="2400" dirty="0">
                <a:solidFill>
                  <a:srgbClr val="44546A"/>
                </a:solidFill>
              </a:rPr>
              <a:t>에 </a:t>
            </a:r>
            <a:r>
              <a:rPr lang="en-US" altLang="ko-KR" sz="2400" dirty="0">
                <a:solidFill>
                  <a:srgbClr val="44546A"/>
                </a:solidFill>
              </a:rPr>
              <a:t>flag</a:t>
            </a:r>
            <a:r>
              <a:rPr lang="ko-KR" altLang="en-US" sz="2400" dirty="0">
                <a:solidFill>
                  <a:srgbClr val="44546A"/>
                </a:solidFill>
              </a:rPr>
              <a:t>표시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</a:rPr>
              <a:t>모든 표시가 완료되면 노드 재조정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연속적인 노드에 </a:t>
            </a:r>
            <a:r>
              <a:rPr lang="en-US" altLang="ko-KR" sz="2400" dirty="0">
                <a:solidFill>
                  <a:srgbClr val="44546A"/>
                </a:solidFill>
              </a:rPr>
              <a:t>LSB</a:t>
            </a:r>
            <a:r>
              <a:rPr lang="ko-KR" altLang="en-US" sz="2400" dirty="0">
                <a:solidFill>
                  <a:srgbClr val="44546A"/>
                </a:solidFill>
              </a:rPr>
              <a:t>표시가 되어있으면 한번에 재조정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</a:rPr>
              <a:t>각각의 단계에서 </a:t>
            </a:r>
            <a:r>
              <a:rPr lang="en-US" altLang="ko-KR" sz="2800" dirty="0">
                <a:solidFill>
                  <a:srgbClr val="44546A"/>
                </a:solidFill>
              </a:rPr>
              <a:t>mark</a:t>
            </a:r>
            <a:r>
              <a:rPr lang="ko-KR" altLang="en-US" sz="2800" dirty="0">
                <a:solidFill>
                  <a:srgbClr val="44546A"/>
                </a:solidFill>
              </a:rPr>
              <a:t>표시를 제외한 나머지는 한 번만 시도</a:t>
            </a:r>
            <a:endParaRPr lang="en-US" altLang="ko-KR" sz="2800" dirty="0">
              <a:solidFill>
                <a:srgbClr val="44546A"/>
              </a:solidFill>
            </a:endParaRPr>
          </a:p>
          <a:p>
            <a:pPr lvl="2"/>
            <a:r>
              <a:rPr lang="ko-KR" altLang="en-US" sz="2400" dirty="0">
                <a:solidFill>
                  <a:srgbClr val="44546A"/>
                </a:solidFill>
              </a:rPr>
              <a:t>후처리는 검색도중 발견될 경우에 시도한다</a:t>
            </a:r>
            <a:r>
              <a:rPr lang="en-US" altLang="ko-KR" sz="2400" dirty="0">
                <a:solidFill>
                  <a:srgbClr val="44546A"/>
                </a:solidFill>
              </a:rPr>
              <a:t>.</a:t>
            </a:r>
            <a:endParaRPr lang="ko-KR" altLang="en-US" sz="2400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875F3-F22E-4423-B4F2-262BAE70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163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>
                <a:solidFill>
                  <a:schemeClr val="tx2"/>
                </a:solidFill>
              </a:rPr>
              <a:t>Epoch Based memory Reclamation (EBR)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700"/>
            <a:ext cx="10515600" cy="1959481"/>
          </a:xfrm>
        </p:spPr>
        <p:txBody>
          <a:bodyPr>
            <a:normAutofit lnSpcReduction="10000"/>
          </a:bodyPr>
          <a:lstStyle/>
          <a:p>
            <a:r>
              <a:rPr lang="ko-KR" altLang="en-US" dirty="0">
                <a:solidFill>
                  <a:srgbClr val="44546A"/>
                </a:solidFill>
              </a:rPr>
              <a:t>자료구조에서 노드를 제거할 때 모든 스레드가 제거하는 노드를 참조하지 않을 때까지 유예기간을 두어 노드를 안전하게 제거하도록 도와주는 알고리즘</a:t>
            </a:r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노드를 제거하는 시점에 발생할 수 있는 제거 타이밍 문제</a:t>
            </a:r>
            <a:r>
              <a:rPr lang="en-US" altLang="ko-KR" dirty="0">
                <a:solidFill>
                  <a:srgbClr val="44546A"/>
                </a:solidFill>
              </a:rPr>
              <a:t>, ABA</a:t>
            </a:r>
            <a:r>
              <a:rPr lang="ko-KR" altLang="en-US" dirty="0">
                <a:solidFill>
                  <a:srgbClr val="44546A"/>
                </a:solidFill>
              </a:rPr>
              <a:t> 문제를 방지할 수 있다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0DD66-D6D0-426B-971E-B1E6193C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7CD14F-4C07-40C1-968D-1F91BD514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3559522"/>
            <a:ext cx="755332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40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>
                <a:solidFill>
                  <a:schemeClr val="tx2"/>
                </a:solidFill>
              </a:rPr>
              <a:t>HD-Tree </a:t>
            </a:r>
            <a:r>
              <a:rPr lang="ko-KR" altLang="en-US" dirty="0">
                <a:solidFill>
                  <a:schemeClr val="tx2"/>
                </a:solidFill>
              </a:rPr>
              <a:t>구현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7219BC-72CA-4E76-8DB0-354E8E90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402748-54EA-4F26-B1B4-3D91BEEDC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49" y="1690688"/>
            <a:ext cx="4074880" cy="46656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3FAA394-01A5-4FA6-809D-456F6C83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566" y="1950721"/>
            <a:ext cx="4800395" cy="4172528"/>
          </a:xfrm>
          <a:prstGeom prst="rect">
            <a:avLst/>
          </a:prstGeom>
        </p:spPr>
      </p:pic>
      <p:sp>
        <p:nvSpPr>
          <p:cNvPr id="67" name="내용 개체 틀 2">
            <a:extLst>
              <a:ext uri="{FF2B5EF4-FFF2-40B4-BE49-F238E27FC236}">
                <a16:creationId xmlns:a16="http://schemas.microsoft.com/office/drawing/2014/main" id="{02ADB7AD-AB0A-4097-A98A-25DE1CFF5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2789" y="1253522"/>
            <a:ext cx="3940999" cy="874331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Insert</a:t>
            </a:r>
          </a:p>
          <a:p>
            <a:pPr lvl="1"/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68" name="내용 개체 틀 2">
            <a:extLst>
              <a:ext uri="{FF2B5EF4-FFF2-40B4-BE49-F238E27FC236}">
                <a16:creationId xmlns:a16="http://schemas.microsoft.com/office/drawing/2014/main" id="{B0A61542-F2B0-4912-95CE-40A541362369}"/>
              </a:ext>
            </a:extLst>
          </p:cNvPr>
          <p:cNvSpPr txBox="1">
            <a:spLocks/>
          </p:cNvSpPr>
          <p:nvPr/>
        </p:nvSpPr>
        <p:spPr>
          <a:xfrm>
            <a:off x="1015271" y="1513555"/>
            <a:ext cx="3940999" cy="874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rgbClr val="44546A"/>
                </a:solidFill>
              </a:rPr>
              <a:t>Search</a:t>
            </a:r>
          </a:p>
          <a:p>
            <a:pPr lvl="1"/>
            <a:endParaRPr lang="ko-KR" altLang="en-US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399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>
                <a:solidFill>
                  <a:schemeClr val="tx2"/>
                </a:solidFill>
              </a:rPr>
              <a:t>HD-Tree </a:t>
            </a:r>
            <a:r>
              <a:rPr lang="ko-KR" altLang="en-US" dirty="0">
                <a:solidFill>
                  <a:schemeClr val="tx2"/>
                </a:solidFill>
              </a:rPr>
              <a:t>구현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B7219BC-72CA-4E76-8DB0-354E8E90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235" name="내용 개체 틀 2">
            <a:extLst>
              <a:ext uri="{FF2B5EF4-FFF2-40B4-BE49-F238E27FC236}">
                <a16:creationId xmlns:a16="http://schemas.microsoft.com/office/drawing/2014/main" id="{DC4E756D-7F90-46BC-8E96-8117D5234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713409" cy="913426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44546A"/>
                </a:solidFill>
              </a:rPr>
              <a:t>Remove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55D165-2F52-4940-9A52-8F078F2FCC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828"/>
          <a:stretch/>
        </p:blipFill>
        <p:spPr>
          <a:xfrm>
            <a:off x="944808" y="2638595"/>
            <a:ext cx="5258940" cy="2960709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AFB53839-5622-4D1C-8DD6-54D336D508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727"/>
          <a:stretch/>
        </p:blipFill>
        <p:spPr>
          <a:xfrm>
            <a:off x="6384348" y="1671533"/>
            <a:ext cx="5258940" cy="392777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ADAC88F-1098-4FE9-8154-444FBC21B8D8}"/>
              </a:ext>
            </a:extLst>
          </p:cNvPr>
          <p:cNvSpPr/>
          <p:nvPr/>
        </p:nvSpPr>
        <p:spPr>
          <a:xfrm>
            <a:off x="7799832" y="3849624"/>
            <a:ext cx="2039112" cy="166420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783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>
                <a:solidFill>
                  <a:schemeClr val="tx2"/>
                </a:solidFill>
              </a:rPr>
              <a:t>HD-Tree </a:t>
            </a:r>
            <a:r>
              <a:rPr lang="ko-KR" altLang="en-US" dirty="0">
                <a:solidFill>
                  <a:schemeClr val="tx2"/>
                </a:solidFill>
              </a:rPr>
              <a:t>구현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7235" cy="4103626"/>
          </a:xfrm>
        </p:spPr>
        <p:txBody>
          <a:bodyPr/>
          <a:lstStyle/>
          <a:p>
            <a:r>
              <a:rPr lang="en-US" altLang="ko-KR" dirty="0">
                <a:solidFill>
                  <a:schemeClr val="tx2"/>
                </a:solidFill>
              </a:rPr>
              <a:t>NNS</a:t>
            </a:r>
            <a:r>
              <a:rPr lang="ko-KR" altLang="en-US" dirty="0">
                <a:solidFill>
                  <a:schemeClr val="tx2"/>
                </a:solidFill>
              </a:rPr>
              <a:t> 동기화 방법 개선</a:t>
            </a:r>
            <a:endParaRPr lang="en-US" altLang="ko-KR" dirty="0">
              <a:solidFill>
                <a:schemeClr val="tx2"/>
              </a:solidFill>
            </a:endParaRPr>
          </a:p>
          <a:p>
            <a:pPr lvl="1"/>
            <a:r>
              <a:rPr lang="en-US" altLang="ko-KR" dirty="0">
                <a:solidFill>
                  <a:srgbClr val="44546A"/>
                </a:solidFill>
              </a:rPr>
              <a:t>NNC list =&gt; </a:t>
            </a:r>
            <a:r>
              <a:rPr lang="ko-KR" altLang="en-US" dirty="0">
                <a:solidFill>
                  <a:srgbClr val="44546A"/>
                </a:solidFill>
              </a:rPr>
              <a:t>배열로 변경</a:t>
            </a:r>
            <a:endParaRPr lang="en-US" altLang="ko-KR" dirty="0">
              <a:solidFill>
                <a:srgbClr val="44546A"/>
              </a:solidFill>
            </a:endParaRPr>
          </a:p>
          <a:p>
            <a:pPr lvl="1"/>
            <a:endParaRPr lang="en-US" altLang="ko-KR" dirty="0">
              <a:solidFill>
                <a:srgbClr val="44546A"/>
              </a:solidFill>
            </a:endParaRPr>
          </a:p>
          <a:p>
            <a:pPr lvl="1"/>
            <a:r>
              <a:rPr lang="en-US" altLang="ko-KR" dirty="0">
                <a:solidFill>
                  <a:srgbClr val="44546A"/>
                </a:solidFill>
              </a:rPr>
              <a:t>NNS</a:t>
            </a:r>
            <a:r>
              <a:rPr lang="ko-KR" altLang="en-US" dirty="0">
                <a:solidFill>
                  <a:srgbClr val="44546A"/>
                </a:solidFill>
              </a:rPr>
              <a:t>가 종료되면 사용한 </a:t>
            </a:r>
            <a:r>
              <a:rPr lang="en-US" altLang="ko-KR" dirty="0">
                <a:solidFill>
                  <a:srgbClr val="44546A"/>
                </a:solidFill>
              </a:rPr>
              <a:t>NNC</a:t>
            </a:r>
            <a:r>
              <a:rPr lang="ko-KR" altLang="en-US" dirty="0">
                <a:solidFill>
                  <a:srgbClr val="44546A"/>
                </a:solidFill>
              </a:rPr>
              <a:t>는 비활성화만 함</a:t>
            </a:r>
            <a:endParaRPr lang="en-US" altLang="ko-KR" dirty="0">
              <a:solidFill>
                <a:srgbClr val="44546A"/>
              </a:solidFill>
            </a:endParaRPr>
          </a:p>
          <a:p>
            <a:pPr lvl="1"/>
            <a:endParaRPr lang="en-US" altLang="ko-KR" dirty="0">
              <a:solidFill>
                <a:srgbClr val="44546A"/>
              </a:solidFill>
            </a:endParaRPr>
          </a:p>
          <a:p>
            <a:pPr lvl="1"/>
            <a:r>
              <a:rPr lang="ko-KR" altLang="en-US" dirty="0">
                <a:solidFill>
                  <a:srgbClr val="44546A"/>
                </a:solidFill>
              </a:rPr>
              <a:t>새로운 노드를 배열에 추가하는데 성공할 경우에 비활성화된 이전 </a:t>
            </a:r>
            <a:r>
              <a:rPr lang="en-US" altLang="ko-KR" dirty="0">
                <a:solidFill>
                  <a:srgbClr val="44546A"/>
                </a:solidFill>
              </a:rPr>
              <a:t>NNC </a:t>
            </a:r>
            <a:r>
              <a:rPr lang="ko-KR" altLang="en-US" dirty="0">
                <a:solidFill>
                  <a:srgbClr val="44546A"/>
                </a:solidFill>
              </a:rPr>
              <a:t>노드를 제거</a:t>
            </a:r>
            <a:endParaRPr lang="en-US" altLang="ko-KR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00FD9-581E-42A1-A59C-68F24E4D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DA51A3-4758-4506-8F46-F239BC150EBF}"/>
              </a:ext>
            </a:extLst>
          </p:cNvPr>
          <p:cNvSpPr/>
          <p:nvPr/>
        </p:nvSpPr>
        <p:spPr>
          <a:xfrm>
            <a:off x="5327794" y="1977566"/>
            <a:ext cx="2857500" cy="39516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8D25FF-76F4-4FB4-9769-08BBB200A9B2}"/>
              </a:ext>
            </a:extLst>
          </p:cNvPr>
          <p:cNvSpPr/>
          <p:nvPr/>
        </p:nvSpPr>
        <p:spPr>
          <a:xfrm>
            <a:off x="5537344" y="2306025"/>
            <a:ext cx="2476500" cy="18109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9FD9EF-367F-4BDE-BCDF-33BDE9E623E5}"/>
              </a:ext>
            </a:extLst>
          </p:cNvPr>
          <p:cNvSpPr/>
          <p:nvPr/>
        </p:nvSpPr>
        <p:spPr>
          <a:xfrm>
            <a:off x="5327794" y="1977566"/>
            <a:ext cx="1914525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원본 </a:t>
            </a:r>
            <a:r>
              <a:rPr lang="en-US" altLang="ko-KR" sz="1200" dirty="0"/>
              <a:t>C++</a:t>
            </a:r>
            <a:r>
              <a:rPr lang="ko-KR" altLang="en-US" sz="1200" dirty="0"/>
              <a:t>구현 </a:t>
            </a:r>
            <a:r>
              <a:rPr lang="en-US" altLang="ko-KR" sz="1200" dirty="0"/>
              <a:t>NNS(key)</a:t>
            </a:r>
            <a:endParaRPr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EEA907-4A6F-4775-96BF-CDC7F8DAD259}"/>
              </a:ext>
            </a:extLst>
          </p:cNvPr>
          <p:cNvSpPr/>
          <p:nvPr/>
        </p:nvSpPr>
        <p:spPr>
          <a:xfrm>
            <a:off x="5695950" y="2659730"/>
            <a:ext cx="2225535" cy="4200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Search active and </a:t>
            </a:r>
          </a:p>
          <a:p>
            <a:pPr algn="ctr"/>
            <a:r>
              <a:rPr lang="en-US" altLang="ko-KR" sz="1200" dirty="0"/>
              <a:t>(key == target) NNC</a:t>
            </a:r>
            <a:endParaRPr lang="ko-KR" altLang="en-US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DD1129-8D85-4661-B5F2-73F8E0BD6C3E}"/>
              </a:ext>
            </a:extLst>
          </p:cNvPr>
          <p:cNvSpPr/>
          <p:nvPr/>
        </p:nvSpPr>
        <p:spPr>
          <a:xfrm>
            <a:off x="5537344" y="5253981"/>
            <a:ext cx="2476500" cy="6154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Result = Collect();</a:t>
            </a:r>
          </a:p>
          <a:p>
            <a:r>
              <a:rPr lang="ko-KR" altLang="en-US" sz="1200" dirty="0"/>
              <a:t>사용한 </a:t>
            </a:r>
            <a:r>
              <a:rPr lang="en-US" altLang="ko-KR" sz="1200" dirty="0"/>
              <a:t>NNC active = false;</a:t>
            </a:r>
          </a:p>
          <a:p>
            <a:r>
              <a:rPr lang="ko-KR" altLang="en-US" sz="1200" dirty="0"/>
              <a:t>제거시도 및 </a:t>
            </a:r>
            <a:r>
              <a:rPr lang="en-US" altLang="ko-KR" sz="1200" dirty="0"/>
              <a:t>return Result;</a:t>
            </a:r>
            <a:endParaRPr lang="ko-KR" altLang="en-US" sz="12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7C0A1D-D809-4113-B45E-06009751014B}"/>
              </a:ext>
            </a:extLst>
          </p:cNvPr>
          <p:cNvSpPr/>
          <p:nvPr/>
        </p:nvSpPr>
        <p:spPr>
          <a:xfrm>
            <a:off x="5537344" y="2306025"/>
            <a:ext cx="1571625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For (</a:t>
            </a:r>
            <a:r>
              <a:rPr lang="en-US" altLang="ko-KR" sz="1200" b="1" dirty="0"/>
              <a:t>head to tail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1D5482E1-3613-4367-9437-067AECD8DC06}"/>
              </a:ext>
            </a:extLst>
          </p:cNvPr>
          <p:cNvSpPr/>
          <p:nvPr/>
        </p:nvSpPr>
        <p:spPr>
          <a:xfrm>
            <a:off x="6603929" y="3134663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87FDD9-4A5D-4132-A4A9-7551B5C3C8E9}"/>
              </a:ext>
            </a:extLst>
          </p:cNvPr>
          <p:cNvSpPr/>
          <p:nvPr/>
        </p:nvSpPr>
        <p:spPr>
          <a:xfrm>
            <a:off x="5695951" y="3290453"/>
            <a:ext cx="2225535" cy="749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If not (active NNC) {</a:t>
            </a:r>
          </a:p>
          <a:p>
            <a:r>
              <a:rPr lang="en-US" altLang="ko-KR" sz="1200" dirty="0"/>
              <a:t>  </a:t>
            </a:r>
            <a:r>
              <a:rPr lang="ko-KR" altLang="en-US" sz="1200" dirty="0"/>
              <a:t>리스트에서 </a:t>
            </a:r>
            <a:r>
              <a:rPr lang="en-US" altLang="ko-KR" sz="1200" dirty="0"/>
              <a:t>NNC </a:t>
            </a:r>
            <a:r>
              <a:rPr lang="ko-KR" altLang="en-US" sz="1200" dirty="0"/>
              <a:t>제거시도</a:t>
            </a:r>
            <a:endParaRPr lang="en-US" altLang="ko-KR" sz="1200" dirty="0"/>
          </a:p>
          <a:p>
            <a:r>
              <a:rPr lang="en-US" altLang="ko-KR" sz="1200" dirty="0"/>
              <a:t>  </a:t>
            </a:r>
            <a:r>
              <a:rPr lang="ko-KR" altLang="en-US" sz="1200" dirty="0"/>
              <a:t>성공하면 </a:t>
            </a:r>
            <a:r>
              <a:rPr lang="en-US" altLang="ko-KR" sz="1200" dirty="0"/>
              <a:t>retire(NNC);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74EB8E-5C4A-4576-BA42-555548F9A529}"/>
              </a:ext>
            </a:extLst>
          </p:cNvPr>
          <p:cNvSpPr/>
          <p:nvPr/>
        </p:nvSpPr>
        <p:spPr>
          <a:xfrm>
            <a:off x="5537344" y="4309272"/>
            <a:ext cx="2476500" cy="67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765C14-7420-4B8A-84E0-A7557ADFC5FD}"/>
              </a:ext>
            </a:extLst>
          </p:cNvPr>
          <p:cNvSpPr/>
          <p:nvPr/>
        </p:nvSpPr>
        <p:spPr>
          <a:xfrm>
            <a:off x="5537344" y="4309272"/>
            <a:ext cx="1571625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If not (search NNC)</a:t>
            </a:r>
            <a:endParaRPr lang="ko-KR" alt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6734CD-CE92-4ADF-8A5E-625B2AE34FD2}"/>
              </a:ext>
            </a:extLst>
          </p:cNvPr>
          <p:cNvSpPr/>
          <p:nvPr/>
        </p:nvSpPr>
        <p:spPr>
          <a:xfrm>
            <a:off x="5695951" y="4615628"/>
            <a:ext cx="2225534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New</a:t>
            </a:r>
            <a:r>
              <a:rPr lang="ko-KR" altLang="en-US" sz="1200" dirty="0"/>
              <a:t> </a:t>
            </a:r>
            <a:r>
              <a:rPr lang="en-US" altLang="ko-KR" sz="1200" dirty="0"/>
              <a:t>NNC to list; </a:t>
            </a:r>
            <a:r>
              <a:rPr lang="en-US" altLang="ko-KR" sz="1200" dirty="0" err="1"/>
              <a:t>tgt</a:t>
            </a:r>
            <a:r>
              <a:rPr lang="en-US" altLang="ko-KR" sz="1200" dirty="0"/>
              <a:t> = key;</a:t>
            </a:r>
            <a:endParaRPr lang="ko-KR" altLang="en-US" sz="1200" dirty="0"/>
          </a:p>
        </p:txBody>
      </p: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7B31AE2E-87D7-49DD-A823-48E3F9A7049B}"/>
              </a:ext>
            </a:extLst>
          </p:cNvPr>
          <p:cNvSpPr/>
          <p:nvPr/>
        </p:nvSpPr>
        <p:spPr>
          <a:xfrm>
            <a:off x="6603928" y="4143436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E126386D-8B70-4D6D-B781-93F1FE52DF12}"/>
              </a:ext>
            </a:extLst>
          </p:cNvPr>
          <p:cNvSpPr/>
          <p:nvPr/>
        </p:nvSpPr>
        <p:spPr>
          <a:xfrm>
            <a:off x="6603927" y="5053848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76E6663-CC5E-4FDD-B3CE-3F7001DA59A8}"/>
              </a:ext>
            </a:extLst>
          </p:cNvPr>
          <p:cNvSpPr/>
          <p:nvPr/>
        </p:nvSpPr>
        <p:spPr>
          <a:xfrm>
            <a:off x="8490093" y="1977566"/>
            <a:ext cx="2743200" cy="39516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9BBA247-37C8-4BCE-8525-B0C409546116}"/>
              </a:ext>
            </a:extLst>
          </p:cNvPr>
          <p:cNvSpPr/>
          <p:nvPr/>
        </p:nvSpPr>
        <p:spPr>
          <a:xfrm>
            <a:off x="8699643" y="2306026"/>
            <a:ext cx="2466975" cy="8335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E8C7CC-ECAB-4608-B071-7659B4FE8023}"/>
              </a:ext>
            </a:extLst>
          </p:cNvPr>
          <p:cNvSpPr/>
          <p:nvPr/>
        </p:nvSpPr>
        <p:spPr>
          <a:xfrm>
            <a:off x="8490093" y="1977567"/>
            <a:ext cx="1304925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수정본 </a:t>
            </a:r>
            <a:r>
              <a:rPr lang="en-US" altLang="ko-KR" sz="1200" dirty="0"/>
              <a:t>NNS(key)</a:t>
            </a:r>
            <a:endParaRPr lang="ko-KR" altLang="en-US" sz="12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C72CCB8-99D6-4993-8AB7-FCA537397CF8}"/>
              </a:ext>
            </a:extLst>
          </p:cNvPr>
          <p:cNvSpPr/>
          <p:nvPr/>
        </p:nvSpPr>
        <p:spPr>
          <a:xfrm>
            <a:off x="8858249" y="2659731"/>
            <a:ext cx="2225535" cy="4200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Search active and </a:t>
            </a:r>
          </a:p>
          <a:p>
            <a:pPr algn="ctr"/>
            <a:r>
              <a:rPr lang="en-US" altLang="ko-KR" sz="1200" dirty="0"/>
              <a:t>(key == target) NNC</a:t>
            </a:r>
            <a:endParaRPr lang="ko-KR" altLang="en-US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7986C71-6083-4CBF-B096-3D90B0B3121D}"/>
              </a:ext>
            </a:extLst>
          </p:cNvPr>
          <p:cNvSpPr/>
          <p:nvPr/>
        </p:nvSpPr>
        <p:spPr>
          <a:xfrm>
            <a:off x="8699643" y="5253981"/>
            <a:ext cx="2466975" cy="5851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dirty="0"/>
              <a:t>Result = Collect();</a:t>
            </a:r>
          </a:p>
          <a:p>
            <a:r>
              <a:rPr lang="ko-KR" altLang="en-US" sz="1200" dirty="0"/>
              <a:t>사용한 </a:t>
            </a:r>
            <a:r>
              <a:rPr lang="en-US" altLang="ko-KR" sz="1200" dirty="0"/>
              <a:t>NNC active = false;</a:t>
            </a:r>
          </a:p>
          <a:p>
            <a:r>
              <a:rPr lang="en-US" altLang="ko-KR" sz="1200" dirty="0"/>
              <a:t>return Result;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0061AA7-89FF-4FC0-9DE5-CE0EF7070669}"/>
              </a:ext>
            </a:extLst>
          </p:cNvPr>
          <p:cNvSpPr/>
          <p:nvPr/>
        </p:nvSpPr>
        <p:spPr>
          <a:xfrm>
            <a:off x="8699643" y="2306026"/>
            <a:ext cx="2225535" cy="268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For (</a:t>
            </a:r>
            <a:r>
              <a:rPr lang="en-US" altLang="ko-KR" sz="1200" b="1" dirty="0"/>
              <a:t>NNCs[MAX_THREAD]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EC7A418-D713-4B19-B64D-5CF64B4CFF59}"/>
              </a:ext>
            </a:extLst>
          </p:cNvPr>
          <p:cNvSpPr/>
          <p:nvPr/>
        </p:nvSpPr>
        <p:spPr>
          <a:xfrm>
            <a:off x="8699643" y="3399459"/>
            <a:ext cx="2466975" cy="15853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D778747-B334-40AA-BCFE-772C640673EE}"/>
              </a:ext>
            </a:extLst>
          </p:cNvPr>
          <p:cNvSpPr/>
          <p:nvPr/>
        </p:nvSpPr>
        <p:spPr>
          <a:xfrm>
            <a:off x="8699643" y="3396808"/>
            <a:ext cx="1571625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If not (search NNC)</a:t>
            </a:r>
            <a:endParaRPr lang="ko-KR" altLang="en-US" sz="12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E6E3A20-1298-4930-8F7C-892D15AFF48B}"/>
              </a:ext>
            </a:extLst>
          </p:cNvPr>
          <p:cNvSpPr/>
          <p:nvPr/>
        </p:nvSpPr>
        <p:spPr>
          <a:xfrm>
            <a:off x="8858250" y="3722293"/>
            <a:ext cx="2225534" cy="2689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New</a:t>
            </a:r>
            <a:r>
              <a:rPr lang="ko-KR" altLang="en-US" sz="1200" dirty="0"/>
              <a:t> </a:t>
            </a:r>
            <a:r>
              <a:rPr lang="en-US" altLang="ko-KR" sz="1200" dirty="0"/>
              <a:t>NNC to list; </a:t>
            </a:r>
            <a:r>
              <a:rPr lang="en-US" altLang="ko-KR" sz="1200" dirty="0" err="1"/>
              <a:t>tgt</a:t>
            </a:r>
            <a:r>
              <a:rPr lang="en-US" altLang="ko-KR" sz="1200" dirty="0"/>
              <a:t> = key;</a:t>
            </a:r>
            <a:endParaRPr lang="ko-KR" altLang="en-US" sz="1200" dirty="0"/>
          </a:p>
        </p:txBody>
      </p:sp>
      <p:sp>
        <p:nvSpPr>
          <p:cNvPr id="54" name="화살표: 아래쪽 53">
            <a:extLst>
              <a:ext uri="{FF2B5EF4-FFF2-40B4-BE49-F238E27FC236}">
                <a16:creationId xmlns:a16="http://schemas.microsoft.com/office/drawing/2014/main" id="{9ED2FDC9-E0D8-4D79-8A00-2F24EEAD6818}"/>
              </a:ext>
            </a:extLst>
          </p:cNvPr>
          <p:cNvSpPr/>
          <p:nvPr/>
        </p:nvSpPr>
        <p:spPr>
          <a:xfrm>
            <a:off x="9728342" y="3208545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7D7DE439-EE40-48F3-97B8-86A1634375EB}"/>
              </a:ext>
            </a:extLst>
          </p:cNvPr>
          <p:cNvSpPr/>
          <p:nvPr/>
        </p:nvSpPr>
        <p:spPr>
          <a:xfrm>
            <a:off x="9766226" y="5053849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CC267E1-4F07-4306-87EE-99B0CCEDE192}"/>
              </a:ext>
            </a:extLst>
          </p:cNvPr>
          <p:cNvSpPr/>
          <p:nvPr/>
        </p:nvSpPr>
        <p:spPr>
          <a:xfrm>
            <a:off x="8858250" y="4190822"/>
            <a:ext cx="2225534" cy="268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CAS New</a:t>
            </a:r>
            <a:r>
              <a:rPr lang="ko-KR" altLang="en-US" sz="1200" dirty="0"/>
              <a:t> </a:t>
            </a:r>
            <a:r>
              <a:rPr lang="en-US" altLang="ko-KR" sz="1200" dirty="0"/>
              <a:t>NNC to NNCs[</a:t>
            </a:r>
            <a:r>
              <a:rPr lang="en-US" altLang="ko-KR" sz="1200" dirty="0" err="1"/>
              <a:t>tid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C843EB6-89F6-4FD7-AB18-779F3EAA7E5F}"/>
              </a:ext>
            </a:extLst>
          </p:cNvPr>
          <p:cNvSpPr/>
          <p:nvPr/>
        </p:nvSpPr>
        <p:spPr>
          <a:xfrm>
            <a:off x="8858250" y="4669133"/>
            <a:ext cx="1413018" cy="268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retire(old</a:t>
            </a:r>
            <a:r>
              <a:rPr lang="ko-KR" altLang="en-US" sz="1200" dirty="0"/>
              <a:t> </a:t>
            </a:r>
            <a:r>
              <a:rPr lang="en-US" altLang="ko-KR" sz="1200" dirty="0"/>
              <a:t>NNC);</a:t>
            </a:r>
            <a:endParaRPr lang="ko-KR" altLang="en-US" sz="1200" dirty="0"/>
          </a:p>
        </p:txBody>
      </p:sp>
      <p:sp>
        <p:nvSpPr>
          <p:cNvPr id="62" name="화살표: 아래쪽 61">
            <a:extLst>
              <a:ext uri="{FF2B5EF4-FFF2-40B4-BE49-F238E27FC236}">
                <a16:creationId xmlns:a16="http://schemas.microsoft.com/office/drawing/2014/main" id="{3ED042C9-3453-496B-B117-1FC27FFB7C3F}"/>
              </a:ext>
            </a:extLst>
          </p:cNvPr>
          <p:cNvSpPr/>
          <p:nvPr/>
        </p:nvSpPr>
        <p:spPr>
          <a:xfrm>
            <a:off x="9728341" y="4034360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화살표: 아래쪽 63">
            <a:extLst>
              <a:ext uri="{FF2B5EF4-FFF2-40B4-BE49-F238E27FC236}">
                <a16:creationId xmlns:a16="http://schemas.microsoft.com/office/drawing/2014/main" id="{5F5241F4-5565-4D15-8CDC-D9BF57C58434}"/>
              </a:ext>
            </a:extLst>
          </p:cNvPr>
          <p:cNvSpPr/>
          <p:nvPr/>
        </p:nvSpPr>
        <p:spPr>
          <a:xfrm>
            <a:off x="9728340" y="4503507"/>
            <a:ext cx="409575" cy="131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46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2"/>
                </a:solidFill>
              </a:rPr>
              <a:t>결과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2800" dirty="0">
                <a:solidFill>
                  <a:srgbClr val="44546A"/>
                </a:solidFill>
              </a:rPr>
              <a:t>AMD Ryzen 7 2700X 3.7GHz, 8 core,</a:t>
            </a:r>
            <a:r>
              <a:rPr lang="en-US" altLang="ko-KR" dirty="0">
                <a:solidFill>
                  <a:srgbClr val="44546A"/>
                </a:solidFill>
              </a:rPr>
              <a:t> 16 thread, 16G RAM </a:t>
            </a:r>
          </a:p>
          <a:p>
            <a:endParaRPr lang="en-US" altLang="ko-KR" sz="2400" dirty="0">
              <a:solidFill>
                <a:srgbClr val="44546A"/>
              </a:solidFill>
            </a:endParaRPr>
          </a:p>
          <a:p>
            <a:r>
              <a:rPr lang="en-US" altLang="ko-KR" sz="2400" dirty="0">
                <a:solidFill>
                  <a:srgbClr val="44546A"/>
                </a:solidFill>
              </a:rPr>
              <a:t>JAVA, C++, HD-Tree </a:t>
            </a:r>
            <a:r>
              <a:rPr lang="ko-KR" altLang="en-US" sz="2400" dirty="0">
                <a:solidFill>
                  <a:srgbClr val="44546A"/>
                </a:solidFill>
              </a:rPr>
              <a:t>비교</a:t>
            </a:r>
            <a:endParaRPr lang="en-US" altLang="ko-KR" sz="2400" dirty="0">
              <a:solidFill>
                <a:srgbClr val="44546A"/>
              </a:solidFill>
            </a:endParaRPr>
          </a:p>
          <a:p>
            <a:endParaRPr lang="en-US" altLang="ko-KR" sz="2400" dirty="0">
              <a:solidFill>
                <a:srgbClr val="44546A"/>
              </a:solidFill>
            </a:endParaRPr>
          </a:p>
          <a:p>
            <a:r>
              <a:rPr lang="en-US" altLang="ko-KR" sz="2400" dirty="0">
                <a:solidFill>
                  <a:srgbClr val="44546A"/>
                </a:solidFill>
              </a:rPr>
              <a:t>Search(NNS), Insert, Remove </a:t>
            </a:r>
            <a:r>
              <a:rPr lang="ko-KR" altLang="en-US" sz="2400" dirty="0">
                <a:solidFill>
                  <a:srgbClr val="44546A"/>
                </a:solidFill>
              </a:rPr>
              <a:t>비율조정 </a:t>
            </a:r>
            <a:endParaRPr lang="en-US" altLang="ko-KR" sz="2400" dirty="0">
              <a:solidFill>
                <a:srgbClr val="44546A"/>
              </a:solidFill>
            </a:endParaRPr>
          </a:p>
          <a:p>
            <a:pPr lvl="1"/>
            <a:r>
              <a:rPr lang="en-US" altLang="ko-KR" sz="2000" dirty="0">
                <a:solidFill>
                  <a:srgbClr val="44546A"/>
                </a:solidFill>
              </a:rPr>
              <a:t>Read Domain: 80%, 10%, 10%</a:t>
            </a:r>
          </a:p>
          <a:p>
            <a:pPr lvl="1"/>
            <a:r>
              <a:rPr lang="en-US" altLang="ko-KR" sz="2000" dirty="0">
                <a:solidFill>
                  <a:srgbClr val="44546A"/>
                </a:solidFill>
              </a:rPr>
              <a:t>Balanced Domain: 50%, 25%, 25%</a:t>
            </a:r>
          </a:p>
          <a:p>
            <a:pPr lvl="1"/>
            <a:r>
              <a:rPr lang="en-US" altLang="ko-KR" sz="2000" dirty="0">
                <a:solidFill>
                  <a:srgbClr val="44546A"/>
                </a:solidFill>
              </a:rPr>
              <a:t>Write Domain: 0%, 50%, 50%</a:t>
            </a:r>
          </a:p>
          <a:p>
            <a:endParaRPr lang="en-US" altLang="ko-KR" sz="2400" dirty="0">
              <a:solidFill>
                <a:srgbClr val="44546A"/>
              </a:solidFill>
            </a:endParaRPr>
          </a:p>
          <a:p>
            <a:r>
              <a:rPr lang="en-US" altLang="ko-KR" sz="2400" dirty="0">
                <a:solidFill>
                  <a:srgbClr val="44546A"/>
                </a:solidFill>
              </a:rPr>
              <a:t>key space</a:t>
            </a:r>
          </a:p>
          <a:p>
            <a:pPr lvl="1"/>
            <a:r>
              <a:rPr lang="en-US" altLang="ko-KR" sz="2000" dirty="0">
                <a:solidFill>
                  <a:srgbClr val="44546A"/>
                </a:solidFill>
              </a:rPr>
              <a:t>100 * 100 / 1K * 1K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587F0C-F678-4E8C-B439-2CACD962E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28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2"/>
                </a:solidFill>
              </a:rPr>
              <a:t>결과 </a:t>
            </a:r>
            <a:r>
              <a:rPr lang="en-US" altLang="ko-KR" dirty="0">
                <a:solidFill>
                  <a:schemeClr val="tx2"/>
                </a:solidFill>
              </a:rPr>
              <a:t>(Operation Per Second)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47CFC5-EAE9-484C-BAB4-5DC8E4D3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E4DA3C5-56A0-4A5A-A014-00AE3FBF1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7019" y="1520824"/>
            <a:ext cx="10477961" cy="4524375"/>
          </a:xfrm>
        </p:spPr>
      </p:pic>
    </p:spTree>
    <p:extLst>
      <p:ext uri="{BB962C8B-B14F-4D97-AF65-F5344CB8AC3E}">
        <p14:creationId xmlns:p14="http://schemas.microsoft.com/office/powerpoint/2010/main" val="3587271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solidFill>
                  <a:srgbClr val="44546A"/>
                </a:solidFill>
              </a:rPr>
              <a:t>기존 알고리즘에 </a:t>
            </a:r>
            <a:r>
              <a:rPr lang="en-US" altLang="ko-KR" dirty="0">
                <a:solidFill>
                  <a:srgbClr val="44546A"/>
                </a:solidFill>
              </a:rPr>
              <a:t>EBR</a:t>
            </a:r>
            <a:r>
              <a:rPr lang="ko-KR" altLang="en-US" dirty="0">
                <a:solidFill>
                  <a:srgbClr val="44546A"/>
                </a:solidFill>
              </a:rPr>
              <a:t>을 추가 적용하여 </a:t>
            </a:r>
            <a:r>
              <a:rPr lang="en-US" altLang="ko-KR" dirty="0">
                <a:solidFill>
                  <a:srgbClr val="44546A"/>
                </a:solidFill>
              </a:rPr>
              <a:t>C++</a:t>
            </a:r>
            <a:r>
              <a:rPr lang="ko-KR" altLang="en-US" dirty="0">
                <a:solidFill>
                  <a:srgbClr val="44546A"/>
                </a:solidFill>
              </a:rPr>
              <a:t>로 변환한 결과 성능이 </a:t>
            </a:r>
            <a:r>
              <a:rPr lang="en-US" altLang="ko-KR" dirty="0">
                <a:solidFill>
                  <a:srgbClr val="44546A"/>
                </a:solidFill>
              </a:rPr>
              <a:t>Insert/Remove</a:t>
            </a:r>
            <a:r>
              <a:rPr lang="ko-KR" altLang="en-US" dirty="0">
                <a:solidFill>
                  <a:srgbClr val="44546A"/>
                </a:solidFill>
              </a:rPr>
              <a:t>는 최대 </a:t>
            </a:r>
            <a:r>
              <a:rPr lang="en-US" altLang="ko-KR" dirty="0">
                <a:solidFill>
                  <a:srgbClr val="44546A"/>
                </a:solidFill>
              </a:rPr>
              <a:t>252%</a:t>
            </a:r>
            <a:r>
              <a:rPr lang="ko-KR" altLang="en-US" dirty="0">
                <a:solidFill>
                  <a:srgbClr val="44546A"/>
                </a:solidFill>
              </a:rPr>
              <a:t>만큼 좋아졌고</a:t>
            </a:r>
            <a:r>
              <a:rPr lang="en-US" altLang="ko-KR" dirty="0">
                <a:solidFill>
                  <a:srgbClr val="44546A"/>
                </a:solidFill>
              </a:rPr>
              <a:t>, NNS</a:t>
            </a:r>
            <a:r>
              <a:rPr lang="ko-KR" altLang="en-US" dirty="0">
                <a:solidFill>
                  <a:srgbClr val="44546A"/>
                </a:solidFill>
              </a:rPr>
              <a:t>는 성능이 최대 </a:t>
            </a:r>
            <a:r>
              <a:rPr lang="en-US" altLang="ko-KR" dirty="0">
                <a:solidFill>
                  <a:srgbClr val="44546A"/>
                </a:solidFill>
              </a:rPr>
              <a:t>79%</a:t>
            </a:r>
            <a:r>
              <a:rPr lang="ko-KR" altLang="en-US" dirty="0">
                <a:solidFill>
                  <a:srgbClr val="44546A"/>
                </a:solidFill>
              </a:rPr>
              <a:t>만큼 좋아졌다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ko-KR" altLang="en-US" dirty="0">
                <a:solidFill>
                  <a:srgbClr val="44546A"/>
                </a:solidFill>
              </a:rPr>
              <a:t>개선된 </a:t>
            </a:r>
            <a:r>
              <a:rPr lang="en-US" altLang="ko-KR" dirty="0">
                <a:solidFill>
                  <a:srgbClr val="44546A"/>
                </a:solidFill>
              </a:rPr>
              <a:t>Descriptor</a:t>
            </a:r>
            <a:r>
              <a:rPr lang="ko-KR" altLang="en-US" dirty="0">
                <a:solidFill>
                  <a:srgbClr val="44546A"/>
                </a:solidFill>
              </a:rPr>
              <a:t>기반 동기화 방법을 적용한 결과</a:t>
            </a:r>
            <a:r>
              <a:rPr lang="en-US" altLang="ko-KR" dirty="0">
                <a:solidFill>
                  <a:srgbClr val="44546A"/>
                </a:solidFill>
              </a:rPr>
              <a:t>, Insert/ Remove</a:t>
            </a:r>
            <a:r>
              <a:rPr lang="ko-KR" altLang="en-US" dirty="0">
                <a:solidFill>
                  <a:srgbClr val="44546A"/>
                </a:solidFill>
              </a:rPr>
              <a:t>성능이 </a:t>
            </a:r>
            <a:r>
              <a:rPr lang="en-US" altLang="ko-KR" dirty="0">
                <a:solidFill>
                  <a:srgbClr val="44546A"/>
                </a:solidFill>
              </a:rPr>
              <a:t>oversubscription</a:t>
            </a:r>
            <a:r>
              <a:rPr lang="ko-KR" altLang="en-US" dirty="0">
                <a:solidFill>
                  <a:srgbClr val="44546A"/>
                </a:solidFill>
              </a:rPr>
              <a:t>상황에서 최대 </a:t>
            </a:r>
            <a:r>
              <a:rPr lang="en-US" altLang="ko-KR" dirty="0">
                <a:solidFill>
                  <a:srgbClr val="44546A"/>
                </a:solidFill>
              </a:rPr>
              <a:t>15% </a:t>
            </a:r>
            <a:r>
              <a:rPr lang="ko-KR" altLang="en-US" dirty="0">
                <a:solidFill>
                  <a:srgbClr val="44546A"/>
                </a:solidFill>
              </a:rPr>
              <a:t>만큼 좋아졌다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</a:p>
          <a:p>
            <a:endParaRPr lang="en-US" altLang="ko-KR" dirty="0">
              <a:solidFill>
                <a:srgbClr val="44546A"/>
              </a:solidFill>
            </a:endParaRPr>
          </a:p>
          <a:p>
            <a:r>
              <a:rPr lang="en-US" altLang="ko-KR" dirty="0">
                <a:solidFill>
                  <a:srgbClr val="44546A"/>
                </a:solidFill>
              </a:rPr>
              <a:t>Lock-Free NNS</a:t>
            </a:r>
            <a:r>
              <a:rPr lang="ko-KR" altLang="en-US" dirty="0">
                <a:solidFill>
                  <a:srgbClr val="44546A"/>
                </a:solidFill>
              </a:rPr>
              <a:t>의 동기화 방법을 개선한 결과 </a:t>
            </a:r>
            <a:r>
              <a:rPr lang="en-US" altLang="ko-KR" dirty="0">
                <a:solidFill>
                  <a:srgbClr val="44546A"/>
                </a:solidFill>
              </a:rPr>
              <a:t>C++ </a:t>
            </a:r>
            <a:r>
              <a:rPr lang="ko-KR" altLang="en-US" dirty="0">
                <a:solidFill>
                  <a:srgbClr val="44546A"/>
                </a:solidFill>
              </a:rPr>
              <a:t>구현보다 성능이 최대 </a:t>
            </a:r>
            <a:r>
              <a:rPr lang="en-US" altLang="ko-KR" dirty="0">
                <a:solidFill>
                  <a:srgbClr val="44546A"/>
                </a:solidFill>
              </a:rPr>
              <a:t>95%</a:t>
            </a:r>
            <a:r>
              <a:rPr lang="ko-KR" altLang="en-US" dirty="0">
                <a:solidFill>
                  <a:srgbClr val="44546A"/>
                </a:solidFill>
              </a:rPr>
              <a:t>만큼 좋아졌다</a:t>
            </a:r>
            <a:r>
              <a:rPr lang="en-US" altLang="ko-KR" dirty="0">
                <a:solidFill>
                  <a:srgbClr val="44546A"/>
                </a:solidFill>
              </a:rPr>
              <a:t>.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61F0-3B79-467A-955D-9398A663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675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향후 연구과제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00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게임 개발에 유용한 기능을 추가</a:t>
            </a:r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ex) 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목표지점에서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일정 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거리 미만의 노드들을 수집하여 </a:t>
            </a:r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물리처리 지원</a:t>
            </a:r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rgbClr val="44546A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ko-KR" altLang="en-US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개선한 </a:t>
            </a:r>
            <a:r>
              <a:rPr lang="ko-KR" altLang="ko-KR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동기화 방법 최적화</a:t>
            </a:r>
            <a:endParaRPr lang="en-US" altLang="ko-KR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rgbClr val="44546A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61F0-3B79-467A-955D-9398A663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36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44546A"/>
                </a:solidFill>
              </a:rPr>
              <a:t>PUBLICATION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063732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한국게임학회 </a:t>
            </a:r>
            <a:r>
              <a:rPr lang="ko-KR" altLang="en-US" sz="3200" dirty="0" err="1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논문지</a:t>
            </a:r>
            <a:r>
              <a:rPr lang="ko-KR" altLang="en-US" sz="3200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 등재</a:t>
            </a:r>
            <a:endParaRPr lang="en-US" altLang="ko-KR" sz="3200" dirty="0">
              <a:solidFill>
                <a:srgbClr val="44546A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sz="2800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sz="2800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20</a:t>
            </a:r>
            <a:r>
              <a:rPr lang="ko-KR" altLang="en-US" sz="2800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권 </a:t>
            </a:r>
            <a:r>
              <a:rPr lang="en-US" altLang="ko-KR" sz="2800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5</a:t>
            </a:r>
            <a:r>
              <a:rPr lang="ko-KR" altLang="en-US" sz="2800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호 </a:t>
            </a:r>
            <a:r>
              <a:rPr lang="en-US" altLang="ko-KR" sz="2800" dirty="0">
                <a:solidFill>
                  <a:srgbClr val="44546A"/>
                </a:solidFill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53-63p</a:t>
            </a:r>
            <a:endParaRPr lang="en-US" altLang="ko-KR" sz="2800" dirty="0">
              <a:solidFill>
                <a:srgbClr val="44546A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endParaRPr lang="en-US" altLang="ko-KR" sz="2800" dirty="0">
              <a:solidFill>
                <a:srgbClr val="44546A"/>
              </a:solidFill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2800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게재일자</a:t>
            </a:r>
            <a:r>
              <a:rPr lang="en-US" altLang="ko-KR" sz="2800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: 2020.10.20</a:t>
            </a:r>
          </a:p>
          <a:p>
            <a:pPr lvl="1"/>
            <a:endParaRPr lang="en-US" altLang="ko-KR" sz="2800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sz="2800" dirty="0">
                <a:solidFill>
                  <a:srgbClr val="44546A"/>
                </a:solidFill>
                <a:ea typeface="맑은 고딕" panose="020B0503020000020004" pitchFamily="50" charset="-127"/>
                <a:cs typeface="Times New Roman" panose="02020603050405020304" pitchFamily="18" charset="0"/>
              </a:rPr>
              <a:t>ISSN: 1598-4540</a:t>
            </a:r>
            <a:endParaRPr lang="en-US" altLang="ko-KR" sz="2800" dirty="0">
              <a:solidFill>
                <a:srgbClr val="44546A"/>
              </a:solidFill>
              <a:effectLst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61F0-3B79-467A-955D-9398A663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659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참고문헌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[1] B. Chatterjee, I.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Walulya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and P.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Tsigas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“Concurrent linearizable nearest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neighbour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search in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lockfree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kd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-tree”. ICDCN '18: Proceedings of the 19th International Conference on Distributed Computing and Networking, 2018.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[2] A. Natarajan, A. Ramachandran and N. Mittal. “FEAST: A Lightweight Lock-free Concurrent Binary Search Tree”. ACM Transactions on Parallel Computing. 2020.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[3] H. Wen, J.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Izraelevitz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W. Cai, H. A. Beadle and M. L. Scott. “Interval-based memory reclamation”. ACM SIGPLAN Notices. 2018.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[4] Steam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Hardware&amp;Software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Survey: July 2020. https://store.steampowered.com/hwsurvey/cpus/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[5] M. Herlihy and N.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Shavit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“The Art of Multiprocessor Programming Revised Reprint”. Morgan Kaufmann, 2012.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[6] J. L. Bentley. “Multidimensional binary search trees used for associative searching”. CACM, vol. 18, no. 9, pp. 509-517, 1975.</a:t>
            </a:r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61F0-3B79-467A-955D-9398A663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675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833B7-5C17-4917-8116-DFD78F744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44546A"/>
                </a:solidFill>
              </a:rPr>
              <a:t>참고문헌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9703D-04E9-4C75-8BF7-4667757F8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[7] M. Herlihy. “Wait-Free Synchronization”. ACM Transactions on Programming Languages and Systems (TOPLAS), 13 (1): 124-149, Jan. 1991.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[8] D.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Dechev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P.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Pirkelbauer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and B.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Stroustrup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“Understanding and Effectively Preventing the ABA Problem in Descriptor-based Lock-free Designs”. 13th IEEE International Symposium on Object/Component/Service-Oriented Real-Time Distributed Computing, 2010.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[9] M. Michael, “Hazard pointers: Safe memory reclamation for lock-free objects”, IEEE Transactions on Parallel and Distributed Systems, 15 (6): 491–504. 2004.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[10] F. Ellen, P.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Fatourou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E. Ruppert, and F. van </a:t>
            </a:r>
            <a:r>
              <a:rPr lang="en-US" altLang="ko-KR" sz="1800" kern="100" dirty="0" err="1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Breugel</a:t>
            </a: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“Non-blocking binary search trees”. In Proceedings of the 29th ACM Symposium on Principles of Distributed Computing (PODC’10). ACM, New York, NY, 131–140. 2010.</a:t>
            </a:r>
          </a:p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100" dirty="0">
                <a:solidFill>
                  <a:srgbClr val="44546A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[11] T. Brown, F. Ellen, and E. Ruppert. “A general technique for non-blocking trees”. In Proceedings of the 19th ACM Symposium on Principles and Practice of Parallel Programming (PPoPP’14). ACM, New York, NY, 329–342. 2014.</a:t>
            </a:r>
            <a:endParaRPr lang="ko-KR" altLang="ko-KR" sz="1800" kern="100" dirty="0">
              <a:solidFill>
                <a:srgbClr val="44546A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endParaRPr lang="ko-KR" altLang="en-US" dirty="0">
              <a:solidFill>
                <a:srgbClr val="44546A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FA61F0-3B79-467A-955D-9398A663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669BE-68BC-48AB-9EB7-9CE94E4B6EE9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22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4546</TotalTime>
  <Words>3227</Words>
  <Application>Microsoft Office PowerPoint</Application>
  <PresentationFormat>와이드스크린</PresentationFormat>
  <Paragraphs>446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한양신명조</vt:lpstr>
      <vt:lpstr>Arial</vt:lpstr>
      <vt:lpstr>Office 테마</vt:lpstr>
      <vt:lpstr>HD-Tree: 고성능 Lock-Free NNS KD-Tree</vt:lpstr>
      <vt:lpstr>차례</vt:lpstr>
      <vt:lpstr>연구배경</vt:lpstr>
      <vt:lpstr>연구배경: KD-Tree</vt:lpstr>
      <vt:lpstr>연구배경: External Tree</vt:lpstr>
      <vt:lpstr>연구배경: Nearest Neighbor Search (NNS)</vt:lpstr>
      <vt:lpstr>연구배경: Descriptor 기반 동기화</vt:lpstr>
      <vt:lpstr>연구배경: Descriptor 기반 동기화</vt:lpstr>
      <vt:lpstr>연구목적</vt:lpstr>
      <vt:lpstr>관련연구</vt:lpstr>
      <vt:lpstr>LF NNS KD-Tree</vt:lpstr>
      <vt:lpstr>LF NNS KD-Tree</vt:lpstr>
      <vt:lpstr>LF NNS KD-Tree</vt:lpstr>
      <vt:lpstr>FEAST</vt:lpstr>
      <vt:lpstr>Epoch Based memory Reclamation (EBR)</vt:lpstr>
      <vt:lpstr>HD-Tree 구현</vt:lpstr>
      <vt:lpstr>HD-Tree 구현</vt:lpstr>
      <vt:lpstr>HD-Tree 구현</vt:lpstr>
      <vt:lpstr>결과</vt:lpstr>
      <vt:lpstr>결과 (Operation Per Second)</vt:lpstr>
      <vt:lpstr>결론</vt:lpstr>
      <vt:lpstr>향후 연구과제</vt:lpstr>
      <vt:lpstr>PUBLICATION</vt:lpstr>
      <vt:lpstr>참고문헌</vt:lpstr>
      <vt:lpstr>참고문헌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동시 KD 트리 구현과 하드웨어 트랜잭션 메모리</dc:title>
  <dc:creator>이상기</dc:creator>
  <cp:lastModifiedBy>Nai Hoon Jung</cp:lastModifiedBy>
  <cp:revision>438</cp:revision>
  <dcterms:created xsi:type="dcterms:W3CDTF">2020-08-16T13:10:39Z</dcterms:created>
  <dcterms:modified xsi:type="dcterms:W3CDTF">2025-07-07T06:32:11Z</dcterms:modified>
</cp:coreProperties>
</file>